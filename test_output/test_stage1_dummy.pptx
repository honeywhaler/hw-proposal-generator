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5143500" cx="9144000"/>
  <p:notesSz cx="5143500" cy="9144000"/>
  <p:embeddedFontLst>
    <p:embeddedFont>
      <p:font typeface="Inter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3" roundtripDataSignature="AMtx7mhTSLT17nPqdd87mmsDg4mJbidq6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font" Target="fonts/Inter-regular.fntdata"/><Relationship Id="rId20" Type="http://schemas.openxmlformats.org/officeDocument/2006/relationships/font" Target="fonts/Inter-bold.fntdata"/><Relationship Id="rId21" Type="http://schemas.openxmlformats.org/officeDocument/2006/relationships/font" Target="fonts/Inter-italic.fntdata"/><Relationship Id="rId22" Type="http://schemas.openxmlformats.org/officeDocument/2006/relationships/font" Target="fonts/Inter-boldItalic.fntdata"/><Relationship Id="rId23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" name="Google Shape;4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4" name="Google Shape;244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" name="Google Shape;272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7D046"/>
          </a:solidFill>
          <a:ln cap="flat" cmpd="sng" w="12700">
            <a:solidFill>
              <a:srgbClr val="F7D0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502920" y="502920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D046"/>
              </a:buClr>
              <a:buSzPts val="1000"/>
              <a:buFont typeface="Inter"/>
              <a:buNone/>
            </a:pPr>
            <a:r>
              <a:rPr b="1" lang="en-US" sz="1000">
                <a:solidFill>
                  <a:srgbClr val="F7D046"/>
                </a:solidFill>
                <a:latin typeface="Inter"/>
                <a:ea typeface="Inter"/>
                <a:cs typeface="Inter"/>
                <a:sym typeface="Inter"/>
              </a:rPr>
              <a:t>CUSTOM </a:t>
            </a:r>
            <a:r>
              <a:rPr b="1" i="0" lang="en-US" sz="1000" u="none" cap="none" strike="noStrike">
                <a:solidFill>
                  <a:srgbClr val="F7D046"/>
                </a:solidFill>
                <a:latin typeface="Inter"/>
                <a:ea typeface="Inter"/>
                <a:cs typeface="Inter"/>
                <a:sym typeface="Inter"/>
              </a:rPr>
              <a:t>PROPOSAL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502925" y="3031075"/>
            <a:ext cx="8741400" cy="9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0"/>
              </a:buClr>
              <a:buSzPts val="5400"/>
              <a:buFont typeface="Inter"/>
              <a:buNone/>
            </a:pPr>
            <a:r>
              <a:rPr b="1" lang="en-US" sz="4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Cape Coast Coffee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502925" y="4060575"/>
            <a:ext cx="4095900" cy="15600"/>
          </a:xfrm>
          <a:prstGeom prst="rect">
            <a:avLst/>
          </a:prstGeom>
          <a:solidFill>
            <a:srgbClr val="F7D046"/>
          </a:solidFill>
          <a:ln cap="flat" cmpd="sng" w="12700">
            <a:solidFill>
              <a:srgbClr val="2A2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1633520" y="4545268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8F9A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8A8F9A"/>
                </a:solidFill>
                <a:latin typeface="Inter"/>
                <a:ea typeface="Inter"/>
                <a:cs typeface="Inter"/>
                <a:sym typeface="Inter"/>
              </a:rPr>
              <a:t>Prepared by </a:t>
            </a:r>
            <a:r>
              <a:rPr lang="en-US" sz="1000">
                <a:solidFill>
                  <a:srgbClr val="8A8F9A"/>
                </a:solidFill>
                <a:latin typeface="Inter"/>
                <a:ea typeface="Inter"/>
                <a:cs typeface="Inter"/>
                <a:sym typeface="Inter"/>
              </a:rPr>
              <a:t>Brad</a:t>
            </a:r>
            <a:r>
              <a:rPr b="0" i="0" lang="en-US" sz="1000" u="none" cap="none" strike="noStrike">
                <a:solidFill>
                  <a:srgbClr val="8A8F9A"/>
                </a:solidFill>
                <a:latin typeface="Inter"/>
                <a:ea typeface="Inter"/>
                <a:cs typeface="Inter"/>
                <a:sym typeface="Inter"/>
              </a:rPr>
              <a:t> ·  info@honeywhale.co.za  ·  MAY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" name="Google Shape;21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925" y="4457279"/>
            <a:ext cx="1782975" cy="45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115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"/>
          <p:cNvSpPr/>
          <p:nvPr/>
        </p:nvSpPr>
        <p:spPr>
          <a:xfrm>
            <a:off x="548640" y="292608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D046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F7D046"/>
                </a:solidFill>
                <a:latin typeface="Inter"/>
                <a:ea typeface="Inter"/>
                <a:cs typeface="Inter"/>
                <a:sym typeface="Inter"/>
              </a:rPr>
              <a:t>ENGAGEMENT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548640" y="566928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0"/>
              </a:buClr>
              <a:buSzPts val="3200"/>
              <a:buFont typeface="Inter"/>
              <a:buNone/>
            </a:pPr>
            <a:r>
              <a:rPr b="1" i="0" lang="en-US" sz="3200" u="none" cap="none" strike="noStrike">
                <a:solidFill>
                  <a:srgbClr val="EDEEF0"/>
                </a:solidFill>
                <a:latin typeface="Inter"/>
                <a:ea typeface="Inter"/>
                <a:cs typeface="Inter"/>
                <a:sym typeface="Inter"/>
              </a:rPr>
              <a:t>Proposal at a glance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F9A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8A8F9A"/>
                </a:solidFill>
                <a:latin typeface="Inter"/>
                <a:ea typeface="Inter"/>
                <a:cs typeface="Inter"/>
                <a:sym typeface="Inter"/>
              </a:rPr>
              <a:t>Who, when, and what's being agreed.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457200" y="1691640"/>
            <a:ext cx="3977640" cy="1371600"/>
          </a:xfrm>
          <a:prstGeom prst="rect">
            <a:avLst/>
          </a:prstGeom>
          <a:solidFill>
            <a:srgbClr val="1A1D23"/>
          </a:solidFill>
          <a:ln cap="flat" cmpd="sng" w="12700">
            <a:solidFill>
              <a:srgbClr val="1A1D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"/>
          <p:cNvSpPr/>
          <p:nvPr/>
        </p:nvSpPr>
        <p:spPr>
          <a:xfrm>
            <a:off x="685800" y="1874520"/>
            <a:ext cx="3474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D046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F7D046"/>
                </a:solidFill>
                <a:latin typeface="Inter"/>
                <a:ea typeface="Inter"/>
                <a:cs typeface="Inter"/>
                <a:sym typeface="Inter"/>
              </a:rPr>
              <a:t>CLIENT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4754880" y="1691640"/>
            <a:ext cx="3977640" cy="1371600"/>
          </a:xfrm>
          <a:prstGeom prst="rect">
            <a:avLst/>
          </a:prstGeom>
          <a:solidFill>
            <a:srgbClr val="1A1D23"/>
          </a:solidFill>
          <a:ln cap="flat" cmpd="sng" w="12700">
            <a:solidFill>
              <a:srgbClr val="1A1D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"/>
          <p:cNvSpPr/>
          <p:nvPr/>
        </p:nvSpPr>
        <p:spPr>
          <a:xfrm>
            <a:off x="4983480" y="1874520"/>
            <a:ext cx="3474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D046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F7D046"/>
                </a:solidFill>
                <a:latin typeface="Inter"/>
                <a:ea typeface="Inter"/>
                <a:cs typeface="Inter"/>
                <a:sym typeface="Inter"/>
              </a:rPr>
              <a:t>CONTACT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4983480" y="2194560"/>
            <a:ext cx="3474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0"/>
              </a:buClr>
              <a:buSzPts val="1500"/>
              <a:buFont typeface="Inter"/>
              <a:buNone/>
            </a:pPr>
            <a:r>
              <a:rPr lang="en-US" sz="1500">
                <a:solidFill>
                  <a:srgbClr val="EDEEF0"/>
                </a:solidFill>
                <a:latin typeface="Inter"/>
                <a:ea typeface="Inter"/>
                <a:cs typeface="Inter"/>
                <a:sym typeface="Inter"/>
              </a:rPr>
              <a:t>Sarah</a:t>
            </a:r>
            <a:endParaRPr sz="1500">
              <a:solidFill>
                <a:srgbClr val="EDEEF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457200" y="3246120"/>
            <a:ext cx="3977640" cy="1371600"/>
          </a:xfrm>
          <a:prstGeom prst="rect">
            <a:avLst/>
          </a:prstGeom>
          <a:solidFill>
            <a:srgbClr val="1A1D23"/>
          </a:solidFill>
          <a:ln cap="flat" cmpd="sng" w="12700">
            <a:solidFill>
              <a:srgbClr val="1A1D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"/>
          <p:cNvSpPr/>
          <p:nvPr/>
        </p:nvSpPr>
        <p:spPr>
          <a:xfrm>
            <a:off x="685800" y="3429000"/>
            <a:ext cx="3474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D046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F7D046"/>
                </a:solidFill>
                <a:latin typeface="Inter"/>
                <a:ea typeface="Inter"/>
                <a:cs typeface="Inter"/>
                <a:sym typeface="Inter"/>
              </a:rPr>
              <a:t>START DATE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685800" y="3749040"/>
            <a:ext cx="3474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0"/>
              </a:buClr>
              <a:buSzPts val="1500"/>
              <a:buFont typeface="Inter"/>
              <a:buNone/>
            </a:pPr>
            <a:r>
              <a:rPr lang="en-US" sz="1500">
                <a:solidFill>
                  <a:srgbClr val="EDEEF0"/>
                </a:solidFill>
                <a:latin typeface="Inter"/>
                <a:ea typeface="Inter"/>
                <a:cs typeface="Inter"/>
                <a:sym typeface="Inter"/>
              </a:rPr>
              <a:t>JULY 2026</a:t>
            </a:r>
            <a:endParaRPr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4754880" y="3246120"/>
            <a:ext cx="3977640" cy="1371600"/>
          </a:xfrm>
          <a:prstGeom prst="rect">
            <a:avLst/>
          </a:prstGeom>
          <a:solidFill>
            <a:srgbClr val="1A1D23"/>
          </a:solidFill>
          <a:ln cap="flat" cmpd="sng" w="12700">
            <a:solidFill>
              <a:srgbClr val="1A1D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4983480" y="3429000"/>
            <a:ext cx="3474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D046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F7D046"/>
                </a:solidFill>
                <a:latin typeface="Inter"/>
                <a:ea typeface="Inter"/>
                <a:cs typeface="Inter"/>
                <a:sym typeface="Inter"/>
              </a:rPr>
              <a:t>PREPARED BY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4937675" y="3749100"/>
            <a:ext cx="34746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EDEEF0"/>
                </a:solidFill>
                <a:latin typeface="Inter"/>
                <a:ea typeface="Inter"/>
                <a:cs typeface="Inter"/>
                <a:sym typeface="Inter"/>
              </a:rPr>
              <a:t>Brad</a:t>
            </a:r>
            <a:br>
              <a:rPr lang="en-US" sz="1500">
                <a:solidFill>
                  <a:srgbClr val="EDEEF0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500">
                <a:solidFill>
                  <a:srgbClr val="EDEEF0"/>
                </a:solidFill>
                <a:latin typeface="Inter"/>
                <a:ea typeface="Inter"/>
                <a:cs typeface="Inter"/>
                <a:sym typeface="Inter"/>
              </a:rPr>
              <a:t>brad@honeywhale.co.za</a:t>
            </a:r>
            <a:endParaRPr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8412480" y="482803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8F9A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8A8F9A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" name="Google Shape;42;p2"/>
          <p:cNvPicPr preferRelativeResize="0"/>
          <p:nvPr/>
        </p:nvPicPr>
        <p:blipFill rotWithShape="1">
          <a:blip r:embed="rId3">
            <a:alphaModFix/>
          </a:blip>
          <a:srcRect b="0" l="0" r="69966" t="0"/>
          <a:stretch/>
        </p:blipFill>
        <p:spPr>
          <a:xfrm>
            <a:off x="8091325" y="292600"/>
            <a:ext cx="641212" cy="539088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2"/>
          <p:cNvSpPr/>
          <p:nvPr/>
        </p:nvSpPr>
        <p:spPr>
          <a:xfrm>
            <a:off x="685867" y="2295223"/>
            <a:ext cx="34746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0"/>
              </a:buClr>
              <a:buSzPts val="1500"/>
              <a:buFont typeface="Inter"/>
              <a:buNone/>
            </a:pPr>
            <a:r>
              <a:rPr lang="en-US" sz="1500">
                <a:solidFill>
                  <a:srgbClr val="EDEEF0"/>
                </a:solidFill>
                <a:latin typeface="Inter"/>
                <a:ea typeface="Inter"/>
                <a:cs typeface="Inter"/>
                <a:sym typeface="Inter"/>
              </a:rPr>
              <a:t>Cape Coast Coffee</a:t>
            </a:r>
            <a:endParaRPr sz="1500">
              <a:solidFill>
                <a:srgbClr val="EDEEF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115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"/>
          <p:cNvSpPr/>
          <p:nvPr/>
        </p:nvSpPr>
        <p:spPr>
          <a:xfrm>
            <a:off x="548640" y="292608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D046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F7D046"/>
                </a:solidFill>
                <a:latin typeface="Inter"/>
                <a:ea typeface="Inter"/>
                <a:cs typeface="Inter"/>
                <a:sym typeface="Inter"/>
              </a:rPr>
              <a:t>CHAPTER 01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548640" y="685800"/>
            <a:ext cx="82296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0"/>
              </a:buClr>
              <a:buSzPts val="5200"/>
              <a:buFont typeface="Inter"/>
              <a:buNone/>
            </a:pPr>
            <a:r>
              <a:rPr b="1" i="0" lang="en-US" sz="5200" u="none" cap="none" strike="noStrike">
                <a:solidFill>
                  <a:srgbClr val="EDEEF0"/>
                </a:solidFill>
                <a:latin typeface="Inter"/>
                <a:ea typeface="Inter"/>
                <a:cs typeface="Inter"/>
                <a:sym typeface="Inter"/>
              </a:rPr>
              <a:t>Where You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0"/>
              </a:buClr>
              <a:buSzPts val="5200"/>
              <a:buFont typeface="Inter"/>
              <a:buNone/>
            </a:pPr>
            <a:r>
              <a:rPr b="1" i="0" lang="en-US" sz="5200" u="none" cap="none" strike="noStrike">
                <a:solidFill>
                  <a:srgbClr val="EDEEF0"/>
                </a:solidFill>
                <a:latin typeface="Inter"/>
                <a:ea typeface="Inter"/>
                <a:cs typeface="Inter"/>
                <a:sym typeface="Inter"/>
              </a:rPr>
              <a:t>Are Now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548650" y="2697475"/>
            <a:ext cx="5643300" cy="12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F9A"/>
              </a:buClr>
              <a:buSzPts val="1400"/>
              <a:buFont typeface="Inter"/>
              <a:buNone/>
            </a:pPr>
            <a:r>
              <a:rPr lang="en-US">
                <a:solidFill>
                  <a:srgbClr val="8A8F9A"/>
                </a:solidFill>
                <a:latin typeface="Inter"/>
                <a:ea typeface="Inter"/>
                <a:cs typeface="Inter"/>
                <a:sym typeface="Inter"/>
              </a:rPr>
              <a:t>Cape Coast Coffee is a premium single-origin coffee brand selling direct-to-consumer in South Africa. The brand has a loyal following but is being held back by a slow, hard-to-manage WooCommerce store that undermines the premium positioning at every touchpoint.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8412480" y="482803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8F9A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8A8F9A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3" name="Google Shape;53;p3"/>
          <p:cNvPicPr preferRelativeResize="0"/>
          <p:nvPr/>
        </p:nvPicPr>
        <p:blipFill rotWithShape="1">
          <a:blip r:embed="rId3">
            <a:alphaModFix/>
          </a:blip>
          <a:srcRect b="0" l="0" r="69966" t="0"/>
          <a:stretch/>
        </p:blipFill>
        <p:spPr>
          <a:xfrm>
            <a:off x="8091325" y="292600"/>
            <a:ext cx="641212" cy="5390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115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"/>
          <p:cNvSpPr/>
          <p:nvPr/>
        </p:nvSpPr>
        <p:spPr>
          <a:xfrm>
            <a:off x="548640" y="292608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D046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F7D046"/>
                </a:solidFill>
                <a:latin typeface="Inter"/>
                <a:ea typeface="Inter"/>
                <a:cs typeface="Inter"/>
                <a:sym typeface="Inter"/>
              </a:rPr>
              <a:t>CHAPTER 01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548640" y="502920"/>
            <a:ext cx="77724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0"/>
              </a:buClr>
              <a:buSzPts val="2400"/>
              <a:buFont typeface="Inter"/>
              <a:buNone/>
            </a:pPr>
            <a:r>
              <a:rPr b="1" i="0" lang="en-US" sz="2400" u="none" cap="none" strike="noStrike">
                <a:solidFill>
                  <a:srgbClr val="EDEEF0"/>
                </a:solidFill>
                <a:latin typeface="Inter"/>
                <a:ea typeface="Inter"/>
                <a:cs typeface="Inter"/>
                <a:sym typeface="Inter"/>
              </a:rPr>
              <a:t>Three realities that shape the build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548640" y="1024128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F9A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8A8F9A"/>
                </a:solidFill>
                <a:latin typeface="Inter"/>
                <a:ea typeface="Inter"/>
                <a:cs typeface="Inter"/>
                <a:sym typeface="Inter"/>
              </a:rPr>
              <a:t>Every decision in this project flows from these three starting points.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365760" y="1417320"/>
            <a:ext cx="2743200" cy="3429000"/>
          </a:xfrm>
          <a:prstGeom prst="rect">
            <a:avLst/>
          </a:prstGeom>
          <a:solidFill>
            <a:srgbClr val="1A1D23"/>
          </a:solidFill>
          <a:ln cap="flat" cmpd="sng" w="12700">
            <a:solidFill>
              <a:srgbClr val="1A1D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4"/>
          <p:cNvSpPr/>
          <p:nvPr/>
        </p:nvSpPr>
        <p:spPr>
          <a:xfrm>
            <a:off x="365760" y="1417320"/>
            <a:ext cx="2743200" cy="45720"/>
          </a:xfrm>
          <a:prstGeom prst="rect">
            <a:avLst/>
          </a:prstGeom>
          <a:solidFill>
            <a:srgbClr val="F7D046"/>
          </a:solidFill>
          <a:ln cap="flat" cmpd="sng" w="12700">
            <a:solidFill>
              <a:srgbClr val="F7D0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4"/>
          <p:cNvSpPr/>
          <p:nvPr/>
        </p:nvSpPr>
        <p:spPr>
          <a:xfrm>
            <a:off x="548640" y="1572768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D046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F7D046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548640" y="1920240"/>
            <a:ext cx="2377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0"/>
              </a:buClr>
              <a:buSzPts val="1500"/>
              <a:buFont typeface="Inter"/>
              <a:buNone/>
            </a:pPr>
            <a:r>
              <a:rPr b="1" lang="en-US" sz="1500">
                <a:solidFill>
                  <a:srgbClr val="EDEEF0"/>
                </a:solidFill>
                <a:latin typeface="Inter"/>
                <a:ea typeface="Inter"/>
                <a:cs typeface="Inter"/>
                <a:sym typeface="Inter"/>
              </a:rPr>
              <a:t>The Platform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548640" y="2423160"/>
            <a:ext cx="237744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F9A"/>
              </a:buClr>
              <a:buSzPts val="1050"/>
              <a:buFont typeface="Inter"/>
              <a:buNone/>
            </a:pPr>
            <a:r>
              <a:rPr lang="en-US" sz="1050">
                <a:solidFill>
                  <a:srgbClr val="8A8F9A"/>
                </a:solidFill>
                <a:latin typeface="Inter"/>
                <a:ea typeface="Inter"/>
                <a:cs typeface="Inter"/>
                <a:sym typeface="Inter"/>
              </a:rPr>
              <a:t>WooCommerce requires ongoing technical maintenance that pulls focus away from the business. Slow load times and a clunky checkout are costing conversions every day.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3246120" y="1417320"/>
            <a:ext cx="2743200" cy="3429000"/>
          </a:xfrm>
          <a:prstGeom prst="rect">
            <a:avLst/>
          </a:prstGeom>
          <a:solidFill>
            <a:srgbClr val="1A1D23"/>
          </a:solidFill>
          <a:ln cap="flat" cmpd="sng" w="12700">
            <a:solidFill>
              <a:srgbClr val="1A1D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4"/>
          <p:cNvSpPr/>
          <p:nvPr/>
        </p:nvSpPr>
        <p:spPr>
          <a:xfrm>
            <a:off x="3246120" y="1417320"/>
            <a:ext cx="2743200" cy="45720"/>
          </a:xfrm>
          <a:prstGeom prst="rect">
            <a:avLst/>
          </a:prstGeom>
          <a:solidFill>
            <a:srgbClr val="F7D046"/>
          </a:solidFill>
          <a:ln cap="flat" cmpd="sng" w="12700">
            <a:solidFill>
              <a:srgbClr val="F7D0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4"/>
          <p:cNvSpPr/>
          <p:nvPr/>
        </p:nvSpPr>
        <p:spPr>
          <a:xfrm>
            <a:off x="3429000" y="1572768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D046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F7D046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3429000" y="1920240"/>
            <a:ext cx="2377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0"/>
              </a:buClr>
              <a:buSzPts val="1500"/>
              <a:buFont typeface="Inter"/>
              <a:buNone/>
            </a:pPr>
            <a:r>
              <a:rPr b="1" lang="en-US" sz="1500">
                <a:solidFill>
                  <a:srgbClr val="EDEEF0"/>
                </a:solidFill>
                <a:latin typeface="Inter"/>
                <a:ea typeface="Inter"/>
                <a:cs typeface="Inter"/>
                <a:sym typeface="Inter"/>
              </a:rPr>
              <a:t>The Opportunity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3429000" y="2423160"/>
            <a:ext cx="237744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F9A"/>
              </a:buClr>
              <a:buSzPts val="1050"/>
              <a:buFont typeface="Inter"/>
              <a:buNone/>
            </a:pPr>
            <a:r>
              <a:rPr lang="en-US" sz="1050">
                <a:solidFill>
                  <a:srgbClr val="8A8F9A"/>
                </a:solidFill>
                <a:latin typeface="Inter"/>
                <a:ea typeface="Inter"/>
                <a:cs typeface="Inter"/>
                <a:sym typeface="Inter"/>
              </a:rPr>
              <a:t>Specialty coffee is a high-intent, high-loyalty category. Shoppers who find the right brand stick with it. A fast, well-designed store with strong SEO will compound over time.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6126480" y="1417320"/>
            <a:ext cx="2743200" cy="3429000"/>
          </a:xfrm>
          <a:prstGeom prst="rect">
            <a:avLst/>
          </a:prstGeom>
          <a:solidFill>
            <a:srgbClr val="1A1D23"/>
          </a:solidFill>
          <a:ln cap="flat" cmpd="sng" w="12700">
            <a:solidFill>
              <a:srgbClr val="1A1D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4"/>
          <p:cNvSpPr/>
          <p:nvPr/>
        </p:nvSpPr>
        <p:spPr>
          <a:xfrm>
            <a:off x="6126480" y="1417320"/>
            <a:ext cx="2743200" cy="45720"/>
          </a:xfrm>
          <a:prstGeom prst="rect">
            <a:avLst/>
          </a:prstGeom>
          <a:solidFill>
            <a:srgbClr val="F7D046"/>
          </a:solidFill>
          <a:ln cap="flat" cmpd="sng" w="12700">
            <a:solidFill>
              <a:srgbClr val="F7D0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4"/>
          <p:cNvSpPr/>
          <p:nvPr/>
        </p:nvSpPr>
        <p:spPr>
          <a:xfrm>
            <a:off x="6309360" y="1572768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D046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F7D046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6309360" y="1920240"/>
            <a:ext cx="2377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0"/>
              </a:buClr>
              <a:buSzPts val="1500"/>
              <a:buFont typeface="Inter"/>
              <a:buNone/>
            </a:pPr>
            <a:r>
              <a:rPr b="1" lang="en-US" sz="1500">
                <a:solidFill>
                  <a:srgbClr val="EDEEF0"/>
                </a:solidFill>
                <a:latin typeface="Inter"/>
                <a:ea typeface="Inter"/>
                <a:cs typeface="Inter"/>
                <a:sym typeface="Inter"/>
              </a:rPr>
              <a:t>The Gap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6309385" y="2468885"/>
            <a:ext cx="2377500" cy="219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F9A"/>
              </a:buClr>
              <a:buSzPts val="1050"/>
              <a:buFont typeface="Inter"/>
              <a:buNone/>
            </a:pPr>
            <a:r>
              <a:rPr lang="en-US" sz="1050">
                <a:solidFill>
                  <a:srgbClr val="8A8F9A"/>
                </a:solidFill>
                <a:latin typeface="Inter"/>
                <a:ea typeface="Inter"/>
                <a:cs typeface="Inter"/>
                <a:sym typeface="Inter"/>
              </a:rPr>
              <a:t>There is no clear organic search presence for Cape Coast Coffee. No product schema, no collection SEO, no blog content targeting buyers at the top of the funnel.</a:t>
            </a:r>
            <a:endParaRPr sz="1050">
              <a:solidFill>
                <a:srgbClr val="8A8F9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8412480" y="482803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8F9A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8A8F9A"/>
                </a:solidFill>
                <a:latin typeface="Inter"/>
                <a:ea typeface="Inter"/>
                <a:cs typeface="Inter"/>
                <a:sym typeface="Inter"/>
              </a:rPr>
              <a:t>04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115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6"/>
          <p:cNvSpPr/>
          <p:nvPr/>
        </p:nvSpPr>
        <p:spPr>
          <a:xfrm>
            <a:off x="548640" y="292608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D046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F7D046"/>
                </a:solidFill>
                <a:latin typeface="Inter"/>
                <a:ea typeface="Inter"/>
                <a:cs typeface="Inter"/>
                <a:sym typeface="Inter"/>
              </a:rPr>
              <a:t>CHAPTER 02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6"/>
          <p:cNvSpPr/>
          <p:nvPr/>
        </p:nvSpPr>
        <p:spPr>
          <a:xfrm>
            <a:off x="548640" y="502920"/>
            <a:ext cx="73152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0"/>
              </a:buClr>
              <a:buSzPts val="2400"/>
              <a:buFont typeface="Inter"/>
              <a:buNone/>
            </a:pPr>
            <a:r>
              <a:rPr b="1" lang="en-US" sz="2400">
                <a:solidFill>
                  <a:srgbClr val="EDEEF0"/>
                </a:solidFill>
                <a:latin typeface="Inter"/>
                <a:ea typeface="Inter"/>
                <a:cs typeface="Inter"/>
                <a:sym typeface="Inter"/>
              </a:rPr>
              <a:t>THE PLAN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365760" y="1188720"/>
            <a:ext cx="1609200" cy="3612000"/>
          </a:xfrm>
          <a:prstGeom prst="rect">
            <a:avLst/>
          </a:prstGeom>
          <a:solidFill>
            <a:srgbClr val="1A1D23"/>
          </a:solidFill>
          <a:ln cap="flat" cmpd="sng" w="12700">
            <a:solidFill>
              <a:srgbClr val="1A1D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6"/>
          <p:cNvSpPr/>
          <p:nvPr/>
        </p:nvSpPr>
        <p:spPr>
          <a:xfrm>
            <a:off x="365760" y="1188720"/>
            <a:ext cx="1609344" cy="45720"/>
          </a:xfrm>
          <a:prstGeom prst="rect">
            <a:avLst/>
          </a:prstGeom>
          <a:solidFill>
            <a:srgbClr val="F7D046"/>
          </a:solidFill>
          <a:ln cap="flat" cmpd="sng" w="12700">
            <a:solidFill>
              <a:srgbClr val="F7D0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6"/>
          <p:cNvSpPr/>
          <p:nvPr/>
        </p:nvSpPr>
        <p:spPr>
          <a:xfrm>
            <a:off x="502920" y="1325880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D046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F7D046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502920" y="1664208"/>
            <a:ext cx="142646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0"/>
              </a:buClr>
              <a:buSzPts val="1300"/>
              <a:buFont typeface="Inter"/>
              <a:buNone/>
            </a:pPr>
            <a:r>
              <a:rPr b="1" lang="en-US" sz="1300">
                <a:solidFill>
                  <a:srgbClr val="EDEEF0"/>
                </a:solidFill>
                <a:latin typeface="Inter"/>
                <a:ea typeface="Inter"/>
                <a:cs typeface="Inter"/>
                <a:sym typeface="Inter"/>
              </a:rPr>
              <a:t>Migration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502920" y="2194560"/>
            <a:ext cx="142646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F9A"/>
              </a:buClr>
              <a:buSzPts val="950"/>
              <a:buFont typeface="Inter"/>
              <a:buNone/>
            </a:pPr>
            <a:r>
              <a:rPr lang="en-US" sz="950">
                <a:solidFill>
                  <a:srgbClr val="8A8F9A"/>
                </a:solidFill>
                <a:latin typeface="Inter"/>
                <a:ea typeface="Inter"/>
                <a:cs typeface="Inter"/>
                <a:sym typeface="Inter"/>
              </a:rPr>
              <a:t>- WooCommerce audit &amp; data export
- 301 redirect mapping
- Product &amp; content migration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2066544" y="1188720"/>
            <a:ext cx="1609344" cy="3611880"/>
          </a:xfrm>
          <a:prstGeom prst="rect">
            <a:avLst/>
          </a:prstGeom>
          <a:solidFill>
            <a:srgbClr val="1A1D23"/>
          </a:solidFill>
          <a:ln cap="flat" cmpd="sng" w="12700">
            <a:solidFill>
              <a:srgbClr val="1A1D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6"/>
          <p:cNvSpPr/>
          <p:nvPr/>
        </p:nvSpPr>
        <p:spPr>
          <a:xfrm>
            <a:off x="2066544" y="1188720"/>
            <a:ext cx="1609344" cy="45720"/>
          </a:xfrm>
          <a:prstGeom prst="rect">
            <a:avLst/>
          </a:prstGeom>
          <a:solidFill>
            <a:srgbClr val="2A2F3A"/>
          </a:solidFill>
          <a:ln cap="flat" cmpd="sng" w="12700">
            <a:solidFill>
              <a:srgbClr val="2A2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6"/>
          <p:cNvSpPr/>
          <p:nvPr/>
        </p:nvSpPr>
        <p:spPr>
          <a:xfrm>
            <a:off x="2203704" y="1325880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D046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F7D046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2203704" y="1664208"/>
            <a:ext cx="142646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EDEEF0"/>
              </a:buClr>
              <a:buSzPts val="1300"/>
              <a:buFont typeface="Inter"/>
              <a:buNone/>
            </a:pPr>
            <a:r>
              <a:rPr b="1" lang="en-US" sz="1300">
                <a:solidFill>
                  <a:srgbClr val="EDEEF0"/>
                </a:solidFill>
                <a:latin typeface="Inter"/>
                <a:ea typeface="Inter"/>
                <a:cs typeface="Inter"/>
                <a:sym typeface="Inter"/>
              </a:rPr>
              <a:t>Store Build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0"/>
              </a:buClr>
              <a:buSzPts val="1300"/>
              <a:buFont typeface="Inter"/>
              <a:buNone/>
            </a:pPr>
            <a:r>
              <a:t/>
            </a:r>
            <a:endParaRPr b="1" sz="1300">
              <a:solidFill>
                <a:srgbClr val="EDEEF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2203704" y="2194560"/>
            <a:ext cx="142646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F9A"/>
              </a:buClr>
              <a:buSzPts val="950"/>
              <a:buFont typeface="Inter"/>
              <a:buNone/>
            </a:pPr>
            <a:r>
              <a:rPr lang="en-US" sz="950">
                <a:solidFill>
                  <a:srgbClr val="8A8F9A"/>
                </a:solidFill>
                <a:latin typeface="Inter"/>
                <a:ea typeface="Inter"/>
                <a:cs typeface="Inter"/>
                <a:sym typeface="Inter"/>
              </a:rPr>
              <a:t>- Theme setup &amp; brand config
- Mobile-first responsive build
- Payment gateway &amp; shipping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3767328" y="1188720"/>
            <a:ext cx="1609344" cy="3611880"/>
          </a:xfrm>
          <a:prstGeom prst="rect">
            <a:avLst/>
          </a:prstGeom>
          <a:solidFill>
            <a:srgbClr val="1A1D23"/>
          </a:solidFill>
          <a:ln cap="flat" cmpd="sng" w="12700">
            <a:solidFill>
              <a:srgbClr val="1A1D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6"/>
          <p:cNvSpPr/>
          <p:nvPr/>
        </p:nvSpPr>
        <p:spPr>
          <a:xfrm>
            <a:off x="3767328" y="1188720"/>
            <a:ext cx="1609344" cy="45720"/>
          </a:xfrm>
          <a:prstGeom prst="rect">
            <a:avLst/>
          </a:prstGeom>
          <a:solidFill>
            <a:srgbClr val="2A2F3A"/>
          </a:solidFill>
          <a:ln cap="flat" cmpd="sng" w="12700">
            <a:solidFill>
              <a:srgbClr val="2A2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6"/>
          <p:cNvSpPr/>
          <p:nvPr/>
        </p:nvSpPr>
        <p:spPr>
          <a:xfrm>
            <a:off x="3904488" y="1325880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D046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F7D046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3904488" y="1664208"/>
            <a:ext cx="142646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EDEEF0"/>
              </a:buClr>
              <a:buSzPts val="1300"/>
              <a:buFont typeface="Inter"/>
              <a:buNone/>
            </a:pPr>
            <a:r>
              <a:rPr b="1" lang="en-US" sz="1300">
                <a:solidFill>
                  <a:srgbClr val="EDEEF0"/>
                </a:solidFill>
                <a:latin typeface="Inter"/>
                <a:ea typeface="Inter"/>
                <a:cs typeface="Inter"/>
                <a:sym typeface="Inter"/>
              </a:rPr>
              <a:t>SEO Foundation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0"/>
              </a:buClr>
              <a:buSzPts val="1300"/>
              <a:buFont typeface="Inter"/>
              <a:buNone/>
            </a:pPr>
            <a:r>
              <a:t/>
            </a:r>
            <a:endParaRPr b="1" sz="1300">
              <a:solidFill>
                <a:srgbClr val="EDEEF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3904488" y="2194560"/>
            <a:ext cx="142646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F9A"/>
              </a:buClr>
              <a:buSzPts val="950"/>
              <a:buFont typeface="Inter"/>
              <a:buNone/>
            </a:pPr>
            <a:r>
              <a:rPr lang="en-US" sz="950">
                <a:solidFill>
                  <a:srgbClr val="8A8F9A"/>
                </a:solidFill>
                <a:latin typeface="Inter"/>
                <a:ea typeface="Inter"/>
                <a:cs typeface="Inter"/>
                <a:sym typeface="Inter"/>
              </a:rPr>
              <a:t>- Keyword research (20 targets)
- Product title &amp; meta optimisation
- Collection page SEO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5468112" y="1188720"/>
            <a:ext cx="1609344" cy="3611880"/>
          </a:xfrm>
          <a:prstGeom prst="rect">
            <a:avLst/>
          </a:prstGeom>
          <a:solidFill>
            <a:srgbClr val="1A1D23"/>
          </a:solidFill>
          <a:ln cap="flat" cmpd="sng" w="12700">
            <a:solidFill>
              <a:srgbClr val="1A1D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6"/>
          <p:cNvSpPr/>
          <p:nvPr/>
        </p:nvSpPr>
        <p:spPr>
          <a:xfrm>
            <a:off x="5468112" y="1188720"/>
            <a:ext cx="1609344" cy="45720"/>
          </a:xfrm>
          <a:prstGeom prst="rect">
            <a:avLst/>
          </a:prstGeom>
          <a:solidFill>
            <a:srgbClr val="2A2F3A"/>
          </a:solidFill>
          <a:ln cap="flat" cmpd="sng" w="12700">
            <a:solidFill>
              <a:srgbClr val="2A2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6"/>
          <p:cNvSpPr/>
          <p:nvPr/>
        </p:nvSpPr>
        <p:spPr>
          <a:xfrm>
            <a:off x="5605272" y="1325880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D046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F7D046"/>
                </a:solidFill>
                <a:latin typeface="Inter"/>
                <a:ea typeface="Inter"/>
                <a:cs typeface="Inter"/>
                <a:sym typeface="Inter"/>
              </a:rPr>
              <a:t>04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5605272" y="1664208"/>
            <a:ext cx="142646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EDEEF0"/>
              </a:buClr>
              <a:buSzPts val="1300"/>
              <a:buFont typeface="Inter"/>
              <a:buNone/>
            </a:pPr>
            <a:r>
              <a:rPr b="1" lang="en-US" sz="1300">
                <a:solidFill>
                  <a:srgbClr val="EDEEF0"/>
                </a:solidFill>
                <a:latin typeface="Inter"/>
                <a:ea typeface="Inter"/>
                <a:cs typeface="Inter"/>
                <a:sym typeface="Inter"/>
              </a:rPr>
              <a:t>Content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0"/>
              </a:buClr>
              <a:buSzPts val="1300"/>
              <a:buFont typeface="Inter"/>
              <a:buNone/>
            </a:pPr>
            <a:r>
              <a:t/>
            </a:r>
            <a:endParaRPr b="1" sz="1300">
              <a:solidFill>
                <a:srgbClr val="EDEEF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5605272" y="2194560"/>
            <a:ext cx="142646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F9A"/>
              </a:buClr>
              <a:buSzPts val="950"/>
              <a:buFont typeface="Inter"/>
              <a:buNone/>
            </a:pPr>
            <a:r>
              <a:rPr lang="en-US" sz="950">
                <a:solidFill>
                  <a:srgbClr val="8A8F9A"/>
                </a:solidFill>
                <a:latin typeface="Inter"/>
                <a:ea typeface="Inter"/>
                <a:cs typeface="Inter"/>
                <a:sym typeface="Inter"/>
              </a:rPr>
              <a:t>- 2 blog posts/month
- AI-friendly product descriptions
- Schema markup (product + FAQ)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7168896" y="1188720"/>
            <a:ext cx="1609344" cy="3611880"/>
          </a:xfrm>
          <a:prstGeom prst="rect">
            <a:avLst/>
          </a:prstGeom>
          <a:solidFill>
            <a:srgbClr val="1A1D23"/>
          </a:solidFill>
          <a:ln cap="flat" cmpd="sng" w="12700">
            <a:solidFill>
              <a:srgbClr val="1A1D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6"/>
          <p:cNvSpPr/>
          <p:nvPr/>
        </p:nvSpPr>
        <p:spPr>
          <a:xfrm>
            <a:off x="7168896" y="1188720"/>
            <a:ext cx="1609344" cy="45720"/>
          </a:xfrm>
          <a:prstGeom prst="rect">
            <a:avLst/>
          </a:prstGeom>
          <a:solidFill>
            <a:srgbClr val="2A2F3A"/>
          </a:solidFill>
          <a:ln cap="flat" cmpd="sng" w="12700">
            <a:solidFill>
              <a:srgbClr val="2A2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"/>
          <p:cNvSpPr/>
          <p:nvPr/>
        </p:nvSpPr>
        <p:spPr>
          <a:xfrm>
            <a:off x="7306056" y="1325880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D046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F7D046"/>
                </a:solidFill>
                <a:latin typeface="Inter"/>
                <a:ea typeface="Inter"/>
                <a:cs typeface="Inter"/>
                <a:sym typeface="Inter"/>
              </a:rPr>
              <a:t>05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7306056" y="1664208"/>
            <a:ext cx="142646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EDEEF0"/>
              </a:buClr>
              <a:buSzPts val="1300"/>
              <a:buFont typeface="Inter"/>
              <a:buNone/>
            </a:pPr>
            <a:r>
              <a:rPr b="1" lang="en-US" sz="1300">
                <a:solidFill>
                  <a:srgbClr val="EDEEF0"/>
                </a:solidFill>
                <a:latin typeface="Inter"/>
                <a:ea typeface="Inter"/>
                <a:cs typeface="Inter"/>
                <a:sym typeface="Inter"/>
              </a:rPr>
              <a:t>Launch &amp; Handover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0"/>
              </a:buClr>
              <a:buSzPts val="1300"/>
              <a:buFont typeface="Inter"/>
              <a:buNone/>
            </a:pPr>
            <a:r>
              <a:t/>
            </a:r>
            <a:endParaRPr b="1" sz="1300">
              <a:solidFill>
                <a:srgbClr val="EDEEF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7306056" y="2194560"/>
            <a:ext cx="142646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F9A"/>
              </a:buClr>
              <a:buSzPts val="950"/>
              <a:buFont typeface="Inter"/>
              <a:buNone/>
            </a:pPr>
            <a:r>
              <a:rPr lang="en-US" sz="950">
                <a:solidFill>
                  <a:srgbClr val="8A8F9A"/>
                </a:solidFill>
                <a:latin typeface="Inter"/>
                <a:ea typeface="Inter"/>
                <a:cs typeface="Inter"/>
                <a:sym typeface="Inter"/>
              </a:rPr>
              <a:t>- Pre-launch QA
- 2-hour CMS training
- 30-day post-launch support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8412480" y="482803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8F9A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8A8F9A"/>
                </a:solidFill>
                <a:latin typeface="Inter"/>
                <a:ea typeface="Inter"/>
                <a:cs typeface="Inter"/>
                <a:sym typeface="Inter"/>
              </a:rPr>
              <a:t>06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1" name="Google Shape;111;p6"/>
          <p:cNvPicPr preferRelativeResize="0"/>
          <p:nvPr/>
        </p:nvPicPr>
        <p:blipFill rotWithShape="1">
          <a:blip r:embed="rId3">
            <a:alphaModFix/>
          </a:blip>
          <a:srcRect b="0" l="0" r="69966" t="0"/>
          <a:stretch/>
        </p:blipFill>
        <p:spPr>
          <a:xfrm>
            <a:off x="8091325" y="292600"/>
            <a:ext cx="641212" cy="5390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115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"/>
          <p:cNvSpPr/>
          <p:nvPr/>
        </p:nvSpPr>
        <p:spPr>
          <a:xfrm>
            <a:off x="548640" y="292608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D046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F7D046"/>
                </a:solidFill>
                <a:latin typeface="Inter"/>
                <a:ea typeface="Inter"/>
                <a:cs typeface="Inter"/>
                <a:sym typeface="Inter"/>
              </a:rPr>
              <a:t>CHAPTER 02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548640" y="502920"/>
            <a:ext cx="82296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0"/>
              </a:buClr>
              <a:buSzPts val="2400"/>
              <a:buFont typeface="Inter"/>
              <a:buNone/>
            </a:pPr>
            <a:r>
              <a:rPr b="1" i="0" lang="en-US" sz="2400" u="none" cap="none" strike="noStrike">
                <a:solidFill>
                  <a:srgbClr val="EDEEF0"/>
                </a:solidFill>
                <a:latin typeface="Inter"/>
                <a:ea typeface="Inter"/>
                <a:cs typeface="Inter"/>
                <a:sym typeface="Inter"/>
              </a:rPr>
              <a:t>Why Shopify. Why Honey Whale.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365760" y="1188720"/>
            <a:ext cx="4114800" cy="3657600"/>
          </a:xfrm>
          <a:prstGeom prst="rect">
            <a:avLst/>
          </a:prstGeom>
          <a:solidFill>
            <a:srgbClr val="1A1D23"/>
          </a:solidFill>
          <a:ln cap="flat" cmpd="sng" w="12700">
            <a:solidFill>
              <a:srgbClr val="1A1D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7"/>
          <p:cNvSpPr/>
          <p:nvPr/>
        </p:nvSpPr>
        <p:spPr>
          <a:xfrm>
            <a:off x="594360" y="1371600"/>
            <a:ext cx="3657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0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EDEEF0"/>
                </a:solidFill>
                <a:latin typeface="Inter"/>
                <a:ea typeface="Inter"/>
                <a:cs typeface="Inter"/>
                <a:sym typeface="Inter"/>
              </a:rPr>
              <a:t>Why Shopify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594360" y="1874520"/>
            <a:ext cx="36576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D046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F7D046"/>
                </a:solidFill>
                <a:latin typeface="Inter"/>
                <a:ea typeface="Inter"/>
                <a:cs typeface="Inter"/>
                <a:sym typeface="Inter"/>
              </a:rPr>
              <a:t>→  </a:t>
            </a:r>
            <a:r>
              <a:rPr b="0" i="0" lang="en-US" sz="1000" u="none" cap="none" strike="noStrike">
                <a:solidFill>
                  <a:srgbClr val="8A8F9A"/>
                </a:solidFill>
                <a:latin typeface="Inter"/>
                <a:ea typeface="Inter"/>
                <a:cs typeface="Inter"/>
                <a:sym typeface="Inter"/>
              </a:rPr>
              <a:t>Purpose-built for e-commerce. Payments, shipping, and inventory management are native </a:t>
            </a:r>
            <a:r>
              <a:rPr lang="en-US" sz="1000">
                <a:solidFill>
                  <a:srgbClr val="8A8F9A"/>
                </a:solidFill>
                <a:latin typeface="Inter"/>
                <a:ea typeface="Inter"/>
                <a:cs typeface="Inter"/>
                <a:sym typeface="Inter"/>
              </a:rPr>
              <a:t>-</a:t>
            </a:r>
            <a:r>
              <a:rPr b="0" i="0" lang="en-US" sz="1000" u="none" cap="none" strike="noStrike">
                <a:solidFill>
                  <a:srgbClr val="8A8F9A"/>
                </a:solidFill>
                <a:latin typeface="Inter"/>
                <a:ea typeface="Inter"/>
                <a:cs typeface="Inter"/>
                <a:sym typeface="Inter"/>
              </a:rPr>
              <a:t> not bolted on.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594360" y="2578608"/>
            <a:ext cx="36576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D046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F7D046"/>
                </a:solidFill>
                <a:latin typeface="Inter"/>
                <a:ea typeface="Inter"/>
                <a:cs typeface="Inter"/>
                <a:sym typeface="Inter"/>
              </a:rPr>
              <a:t>→  </a:t>
            </a:r>
            <a:r>
              <a:rPr b="0" i="0" lang="en-US" sz="1000" u="none" cap="none" strike="noStrike">
                <a:solidFill>
                  <a:srgbClr val="8A8F9A"/>
                </a:solidFill>
                <a:latin typeface="Inter"/>
                <a:ea typeface="Inter"/>
                <a:cs typeface="Inter"/>
                <a:sym typeface="Inter"/>
              </a:rPr>
              <a:t>Strong local payment support. PayFast, Peach Payments, and Yoco all integrate cleanly out of the box.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594360" y="3282696"/>
            <a:ext cx="36576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D046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F7D046"/>
                </a:solidFill>
                <a:latin typeface="Inter"/>
                <a:ea typeface="Inter"/>
                <a:cs typeface="Inter"/>
                <a:sym typeface="Inter"/>
              </a:rPr>
              <a:t>→  </a:t>
            </a:r>
            <a:r>
              <a:rPr b="0" i="0" lang="en-US" sz="1000" u="none" cap="none" strike="noStrike">
                <a:solidFill>
                  <a:srgbClr val="8A8F9A"/>
                </a:solidFill>
                <a:latin typeface="Inter"/>
                <a:ea typeface="Inter"/>
                <a:cs typeface="Inter"/>
                <a:sym typeface="Inter"/>
              </a:rPr>
              <a:t>BobGo and SA logistics apps connect directly via the Shopify App Store with no custom work needed.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594360" y="3986784"/>
            <a:ext cx="3657600" cy="6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D046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F7D046"/>
                </a:solidFill>
                <a:latin typeface="Inter"/>
                <a:ea typeface="Inter"/>
                <a:cs typeface="Inter"/>
                <a:sym typeface="Inter"/>
              </a:rPr>
              <a:t>→  </a:t>
            </a:r>
            <a:r>
              <a:rPr lang="en-US" sz="1000">
                <a:solidFill>
                  <a:srgbClr val="8A8F9A"/>
                </a:solidFill>
                <a:latin typeface="Inter"/>
                <a:ea typeface="Inter"/>
                <a:cs typeface="Inter"/>
                <a:sym typeface="Inter"/>
              </a:rPr>
              <a:t>Consistent platform across markets - reduces onboarding friction and long-term admin overhead.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4663440" y="1188720"/>
            <a:ext cx="4114800" cy="3657600"/>
          </a:xfrm>
          <a:prstGeom prst="rect">
            <a:avLst/>
          </a:prstGeom>
          <a:solidFill>
            <a:srgbClr val="1A1D23"/>
          </a:solidFill>
          <a:ln cap="flat" cmpd="sng" w="12700">
            <a:solidFill>
              <a:srgbClr val="1A1D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7"/>
          <p:cNvSpPr/>
          <p:nvPr/>
        </p:nvSpPr>
        <p:spPr>
          <a:xfrm>
            <a:off x="4892040" y="1371600"/>
            <a:ext cx="3657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0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EDEEF0"/>
                </a:solidFill>
                <a:latin typeface="Inter"/>
                <a:ea typeface="Inter"/>
                <a:cs typeface="Inter"/>
                <a:sym typeface="Inter"/>
              </a:rPr>
              <a:t>Why Honey Whale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4892040" y="1874520"/>
            <a:ext cx="36576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D046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F7D046"/>
                </a:solidFill>
                <a:latin typeface="Inter"/>
                <a:ea typeface="Inter"/>
                <a:cs typeface="Inter"/>
                <a:sym typeface="Inter"/>
              </a:rPr>
              <a:t>→  </a:t>
            </a:r>
            <a:r>
              <a:rPr b="0" i="0" lang="en-US" sz="1000" u="none" cap="none" strike="noStrike">
                <a:solidFill>
                  <a:srgbClr val="8A8F9A"/>
                </a:solidFill>
                <a:latin typeface="Inter"/>
                <a:ea typeface="Inter"/>
                <a:cs typeface="Inter"/>
                <a:sym typeface="Inter"/>
              </a:rPr>
              <a:t>Shopify-only. We don't split focus across platforms </a:t>
            </a:r>
            <a:r>
              <a:rPr lang="en-US" sz="1000">
                <a:solidFill>
                  <a:srgbClr val="8A8F9A"/>
                </a:solidFill>
                <a:latin typeface="Inter"/>
                <a:ea typeface="Inter"/>
                <a:cs typeface="Inter"/>
                <a:sym typeface="Inter"/>
              </a:rPr>
              <a:t>-</a:t>
            </a:r>
            <a:r>
              <a:rPr b="0" i="0" lang="en-US" sz="1000" u="none" cap="none" strike="noStrike">
                <a:solidFill>
                  <a:srgbClr val="8A8F9A"/>
                </a:solidFill>
                <a:latin typeface="Inter"/>
                <a:ea typeface="Inter"/>
                <a:cs typeface="Inter"/>
                <a:sym typeface="Inter"/>
              </a:rPr>
              <a:t> every build is grounded in Shopify 2.0 best practice.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4892040" y="2578608"/>
            <a:ext cx="36576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D046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F7D046"/>
                </a:solidFill>
                <a:latin typeface="Inter"/>
                <a:ea typeface="Inter"/>
                <a:cs typeface="Inter"/>
                <a:sym typeface="Inter"/>
              </a:rPr>
              <a:t>→  </a:t>
            </a:r>
            <a:r>
              <a:rPr b="0" i="0" lang="en-US" sz="1000" u="none" cap="none" strike="noStrike">
                <a:solidFill>
                  <a:srgbClr val="8A8F9A"/>
                </a:solidFill>
                <a:latin typeface="Inter"/>
                <a:ea typeface="Inter"/>
                <a:cs typeface="Inter"/>
                <a:sym typeface="Inter"/>
              </a:rPr>
              <a:t>South African team. We understand local payment behaviour, logistics constraints, and what makes SA shoppers convert.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4892040" y="3282696"/>
            <a:ext cx="36576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D046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F7D046"/>
                </a:solidFill>
                <a:latin typeface="Inter"/>
                <a:ea typeface="Inter"/>
                <a:cs typeface="Inter"/>
                <a:sym typeface="Inter"/>
              </a:rPr>
              <a:t>→  </a:t>
            </a:r>
            <a:r>
              <a:rPr b="0" i="0" lang="en-US" sz="1000" u="none" cap="none" strike="noStrike">
                <a:solidFill>
                  <a:srgbClr val="8A8F9A"/>
                </a:solidFill>
                <a:latin typeface="Inter"/>
                <a:ea typeface="Inter"/>
                <a:cs typeface="Inter"/>
                <a:sym typeface="Inter"/>
              </a:rPr>
              <a:t>Clean handovers. We build for your team, not for ourselves </a:t>
            </a:r>
            <a:r>
              <a:rPr lang="en-US" sz="1000">
                <a:solidFill>
                  <a:srgbClr val="8A8F9A"/>
                </a:solidFill>
                <a:latin typeface="Inter"/>
                <a:ea typeface="Inter"/>
                <a:cs typeface="Inter"/>
                <a:sym typeface="Inter"/>
              </a:rPr>
              <a:t>-</a:t>
            </a:r>
            <a:r>
              <a:rPr b="0" i="0" lang="en-US" sz="1000" u="none" cap="none" strike="noStrike">
                <a:solidFill>
                  <a:srgbClr val="8A8F9A"/>
                </a:solidFill>
                <a:latin typeface="Inter"/>
                <a:ea typeface="Inter"/>
                <a:cs typeface="Inter"/>
                <a:sym typeface="Inter"/>
              </a:rPr>
              <a:t> the CMS is set up so non-technical staff can manage products and content.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4892040" y="3986784"/>
            <a:ext cx="36576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D046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F7D046"/>
                </a:solidFill>
                <a:latin typeface="Inter"/>
                <a:ea typeface="Inter"/>
                <a:cs typeface="Inter"/>
                <a:sym typeface="Inter"/>
              </a:rPr>
              <a:t>→  </a:t>
            </a:r>
            <a:r>
              <a:rPr b="0" i="0" lang="en-US" sz="1000" u="none" cap="none" strike="noStrike">
                <a:solidFill>
                  <a:srgbClr val="8A8F9A"/>
                </a:solidFill>
                <a:latin typeface="Inter"/>
                <a:ea typeface="Inter"/>
                <a:cs typeface="Inter"/>
                <a:sym typeface="Inter"/>
              </a:rPr>
              <a:t>Post-launch support built in. You don't go dark after go-live.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8412480" y="482803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8F9A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8A8F9A"/>
                </a:solidFill>
                <a:latin typeface="Inter"/>
                <a:ea typeface="Inter"/>
                <a:cs typeface="Inter"/>
                <a:sym typeface="Inter"/>
              </a:rPr>
              <a:t>07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2" name="Google Shape;132;p7"/>
          <p:cNvPicPr preferRelativeResize="0"/>
          <p:nvPr/>
        </p:nvPicPr>
        <p:blipFill rotWithShape="1">
          <a:blip r:embed="rId3">
            <a:alphaModFix/>
          </a:blip>
          <a:srcRect b="0" l="0" r="69966" t="0"/>
          <a:stretch/>
        </p:blipFill>
        <p:spPr>
          <a:xfrm>
            <a:off x="8091325" y="292600"/>
            <a:ext cx="641212" cy="5390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115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"/>
          <p:cNvSpPr/>
          <p:nvPr/>
        </p:nvSpPr>
        <p:spPr>
          <a:xfrm>
            <a:off x="548640" y="292608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D046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F7D046"/>
                </a:solidFill>
                <a:latin typeface="Inter"/>
                <a:ea typeface="Inter"/>
                <a:cs typeface="Inter"/>
                <a:sym typeface="Inter"/>
              </a:rPr>
              <a:t>CHAPTER 03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8"/>
          <p:cNvSpPr/>
          <p:nvPr/>
        </p:nvSpPr>
        <p:spPr>
          <a:xfrm>
            <a:off x="548640" y="685800"/>
            <a:ext cx="82296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0"/>
              </a:buClr>
              <a:buSzPts val="5200"/>
              <a:buFont typeface="Inter"/>
              <a:buNone/>
            </a:pPr>
            <a:r>
              <a:rPr b="1" i="0" lang="en-US" sz="5200" u="none" cap="none" strike="noStrike">
                <a:solidFill>
                  <a:srgbClr val="EDEEF0"/>
                </a:solidFill>
                <a:latin typeface="Inter"/>
                <a:ea typeface="Inter"/>
                <a:cs typeface="Inter"/>
                <a:sym typeface="Inter"/>
              </a:rPr>
              <a:t>What It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0"/>
              </a:buClr>
              <a:buSzPts val="5200"/>
              <a:buFont typeface="Inter"/>
              <a:buNone/>
            </a:pPr>
            <a:r>
              <a:rPr b="1" i="0" lang="en-US" sz="5200" u="none" cap="none" strike="noStrike">
                <a:solidFill>
                  <a:srgbClr val="EDEEF0"/>
                </a:solidFill>
                <a:latin typeface="Inter"/>
                <a:ea typeface="Inter"/>
                <a:cs typeface="Inter"/>
                <a:sym typeface="Inter"/>
              </a:rPr>
              <a:t>Costs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8"/>
          <p:cNvSpPr/>
          <p:nvPr/>
        </p:nvSpPr>
        <p:spPr>
          <a:xfrm>
            <a:off x="548640" y="2697480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F9A"/>
              </a:buClr>
              <a:buSzPts val="1400"/>
              <a:buFont typeface="Inter"/>
              <a:buNone/>
            </a:pPr>
            <a:r>
              <a:rPr b="0" i="0" lang="en-US" sz="1400" u="none" cap="none" strike="noStrike">
                <a:solidFill>
                  <a:srgbClr val="8A8F9A"/>
                </a:solidFill>
                <a:latin typeface="Inter"/>
                <a:ea typeface="Inter"/>
                <a:cs typeface="Inter"/>
                <a:sym typeface="Inter"/>
              </a:rPr>
              <a:t>Transparent pricing. Real services. No surprises.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8"/>
          <p:cNvSpPr/>
          <p:nvPr/>
        </p:nvSpPr>
        <p:spPr>
          <a:xfrm>
            <a:off x="8412480" y="482803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8F9A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8A8F9A"/>
                </a:solidFill>
                <a:latin typeface="Inter"/>
                <a:ea typeface="Inter"/>
                <a:cs typeface="Inter"/>
                <a:sym typeface="Inter"/>
              </a:rPr>
              <a:t>08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2" name="Google Shape;142;p8"/>
          <p:cNvPicPr preferRelativeResize="0"/>
          <p:nvPr/>
        </p:nvPicPr>
        <p:blipFill rotWithShape="1">
          <a:blip r:embed="rId3">
            <a:alphaModFix/>
          </a:blip>
          <a:srcRect b="0" l="0" r="69966" t="0"/>
          <a:stretch/>
        </p:blipFill>
        <p:spPr>
          <a:xfrm>
            <a:off x="8091325" y="292600"/>
            <a:ext cx="641212" cy="5390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115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9"/>
          <p:cNvSpPr/>
          <p:nvPr/>
        </p:nvSpPr>
        <p:spPr>
          <a:xfrm>
            <a:off x="548640" y="292608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D046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F7D046"/>
                </a:solidFill>
                <a:latin typeface="Inter"/>
                <a:ea typeface="Inter"/>
                <a:cs typeface="Inter"/>
                <a:sym typeface="Inter"/>
              </a:rPr>
              <a:t>CHAPTER 03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9"/>
          <p:cNvSpPr/>
          <p:nvPr/>
        </p:nvSpPr>
        <p:spPr>
          <a:xfrm>
            <a:off x="548640" y="502920"/>
            <a:ext cx="73152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0"/>
              </a:buClr>
              <a:buSzPts val="2400"/>
              <a:buFont typeface="Inter"/>
              <a:buNone/>
            </a:pPr>
            <a:r>
              <a:rPr b="1" i="0" lang="en-US" sz="2400" u="none" cap="none" strike="noStrike">
                <a:solidFill>
                  <a:srgbClr val="EDEEF0"/>
                </a:solidFill>
                <a:latin typeface="Inter"/>
                <a:ea typeface="Inter"/>
                <a:cs typeface="Inter"/>
                <a:sym typeface="Inter"/>
              </a:rPr>
              <a:t>Your investment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9"/>
          <p:cNvSpPr/>
          <p:nvPr/>
        </p:nvSpPr>
        <p:spPr>
          <a:xfrm>
            <a:off x="548640" y="100584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F9A"/>
              </a:buClr>
              <a:buSzPts val="950"/>
              <a:buFont typeface="Inter"/>
              <a:buNone/>
            </a:pPr>
            <a:r>
              <a:rPr b="0" i="0" lang="en-US" sz="950" u="none" cap="none" strike="noStrike">
                <a:solidFill>
                  <a:srgbClr val="8A8F9A"/>
                </a:solidFill>
                <a:latin typeface="Inter"/>
                <a:ea typeface="Inter"/>
                <a:cs typeface="Inter"/>
                <a:sym typeface="Inter"/>
              </a:rPr>
              <a:t>All prices exclude VAT (15%).  Payment terms: 50% upfront  ·  30% at milestone  ·  20% on completion.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9"/>
          <p:cNvSpPr/>
          <p:nvPr/>
        </p:nvSpPr>
        <p:spPr>
          <a:xfrm>
            <a:off x="365760" y="1694688"/>
            <a:ext cx="8412600" cy="777300"/>
          </a:xfrm>
          <a:prstGeom prst="rect">
            <a:avLst/>
          </a:prstGeom>
          <a:solidFill>
            <a:srgbClr val="21262F"/>
          </a:solidFill>
          <a:ln cap="flat" cmpd="sng" w="12700">
            <a:solidFill>
              <a:srgbClr val="2126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9"/>
          <p:cNvSpPr/>
          <p:nvPr/>
        </p:nvSpPr>
        <p:spPr>
          <a:xfrm>
            <a:off x="365760" y="1694688"/>
            <a:ext cx="45600" cy="777300"/>
          </a:xfrm>
          <a:prstGeom prst="rect">
            <a:avLst/>
          </a:prstGeom>
          <a:solidFill>
            <a:srgbClr val="F7D046"/>
          </a:solidFill>
          <a:ln cap="flat" cmpd="sng" w="12700">
            <a:solidFill>
              <a:srgbClr val="F7D0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9"/>
          <p:cNvSpPr/>
          <p:nvPr/>
        </p:nvSpPr>
        <p:spPr>
          <a:xfrm>
            <a:off x="594360" y="1786128"/>
            <a:ext cx="5760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0"/>
              </a:buClr>
              <a:buSzPts val="1300"/>
              <a:buFont typeface="Inter"/>
              <a:buNone/>
            </a:pPr>
            <a:r>
              <a:rPr b="1" lang="en-US" sz="1300">
                <a:solidFill>
                  <a:srgbClr val="EDEEF0"/>
                </a:solidFill>
                <a:latin typeface="Inter"/>
                <a:ea typeface="Inter"/>
                <a:cs typeface="Inter"/>
                <a:sym typeface="Inter"/>
              </a:rPr>
              <a:t>Shopify Theme Build (Standard) + E-Commerce SEO (Lite)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9"/>
          <p:cNvSpPr/>
          <p:nvPr/>
        </p:nvSpPr>
        <p:spPr>
          <a:xfrm>
            <a:off x="594360" y="2133600"/>
            <a:ext cx="5760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F9A"/>
              </a:buClr>
              <a:buSzPts val="850"/>
              <a:buFont typeface="Inter"/>
              <a:buNone/>
            </a:pPr>
            <a:r>
              <a:rPr lang="en-US" sz="850">
                <a:solidFill>
                  <a:srgbClr val="8A8F9A"/>
                </a:solidFill>
                <a:latin typeface="Inter"/>
                <a:ea typeface="Inter"/>
                <a:cs typeface="Inter"/>
                <a:sym typeface="Inter"/>
              </a:rPr>
              <a:t>Theme build · product &amp; page setup · payment gateway · shipping · QA &amp; launch · 20 keywords · product SEO · 2 blogs/mo · schema markup · backlinks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9"/>
          <p:cNvSpPr/>
          <p:nvPr/>
        </p:nvSpPr>
        <p:spPr>
          <a:xfrm>
            <a:off x="6209274" y="1850125"/>
            <a:ext cx="2386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7D046"/>
              </a:buClr>
              <a:buSzPts val="1500"/>
              <a:buFont typeface="Inter"/>
              <a:buNone/>
            </a:pPr>
            <a:r>
              <a:rPr b="1" lang="en-US" sz="1500">
                <a:solidFill>
                  <a:srgbClr val="F7D046"/>
                </a:solidFill>
                <a:latin typeface="Inter"/>
                <a:ea typeface="Inter"/>
                <a:cs typeface="Inter"/>
                <a:sym typeface="Inter"/>
              </a:rPr>
              <a:t>R57,000 once-off + R12,500/mo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9"/>
          <p:cNvSpPr/>
          <p:nvPr/>
        </p:nvSpPr>
        <p:spPr>
          <a:xfrm>
            <a:off x="365760" y="2572512"/>
            <a:ext cx="8412600" cy="658500"/>
          </a:xfrm>
          <a:prstGeom prst="rect">
            <a:avLst/>
          </a:prstGeom>
          <a:solidFill>
            <a:srgbClr val="F7D046"/>
          </a:solidFill>
          <a:ln cap="flat" cmpd="sng" w="12700">
            <a:solidFill>
              <a:srgbClr val="F7D0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9"/>
          <p:cNvSpPr/>
          <p:nvPr/>
        </p:nvSpPr>
        <p:spPr>
          <a:xfrm>
            <a:off x="594360" y="2636520"/>
            <a:ext cx="5029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0F1115"/>
                </a:solidFill>
                <a:latin typeface="Inter"/>
                <a:ea typeface="Inter"/>
                <a:cs typeface="Inter"/>
                <a:sym typeface="Inter"/>
              </a:rPr>
              <a:t>Total Investment (excl. VAT &amp; theme)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9"/>
          <p:cNvSpPr/>
          <p:nvPr/>
        </p:nvSpPr>
        <p:spPr>
          <a:xfrm>
            <a:off x="5669280" y="2636520"/>
            <a:ext cx="2926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700"/>
              <a:buFont typeface="Inter"/>
              <a:buNone/>
            </a:pPr>
            <a:r>
              <a:rPr b="1" lang="en-US" sz="1700">
                <a:solidFill>
                  <a:srgbClr val="0F1115"/>
                </a:solidFill>
                <a:latin typeface="Inter"/>
                <a:ea typeface="Inter"/>
                <a:cs typeface="Inter"/>
                <a:sym typeface="Inter"/>
              </a:rPr>
              <a:t>R57,000 once-off + R12,500/month (3-month SEO minimum)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9" name="Google Shape;159;p9"/>
          <p:cNvPicPr preferRelativeResize="0"/>
          <p:nvPr/>
        </p:nvPicPr>
        <p:blipFill rotWithShape="1">
          <a:blip r:embed="rId3">
            <a:alphaModFix/>
          </a:blip>
          <a:srcRect b="0" l="0" r="69966" t="0"/>
          <a:stretch/>
        </p:blipFill>
        <p:spPr>
          <a:xfrm>
            <a:off x="8091325" y="292600"/>
            <a:ext cx="641212" cy="5390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115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0"/>
          <p:cNvSpPr/>
          <p:nvPr/>
        </p:nvSpPr>
        <p:spPr>
          <a:xfrm>
            <a:off x="548640" y="292608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D046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F7D046"/>
                </a:solidFill>
                <a:latin typeface="Inter"/>
                <a:ea typeface="Inter"/>
                <a:cs typeface="Inter"/>
                <a:sym typeface="Inter"/>
              </a:rPr>
              <a:t>CHAPTER 04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0"/>
          <p:cNvSpPr/>
          <p:nvPr/>
        </p:nvSpPr>
        <p:spPr>
          <a:xfrm>
            <a:off x="548640" y="685800"/>
            <a:ext cx="82296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0"/>
              </a:buClr>
              <a:buSzPts val="5200"/>
              <a:buFont typeface="Inter"/>
              <a:buNone/>
            </a:pPr>
            <a:r>
              <a:rPr b="1" i="0" lang="en-US" sz="5200" u="none" cap="none" strike="noStrike">
                <a:solidFill>
                  <a:srgbClr val="EDEEF0"/>
                </a:solidFill>
                <a:latin typeface="Inter"/>
                <a:ea typeface="Inter"/>
                <a:cs typeface="Inter"/>
                <a:sym typeface="Inter"/>
              </a:rPr>
              <a:t>What You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0"/>
              </a:buClr>
              <a:buSzPts val="5200"/>
              <a:buFont typeface="Inter"/>
              <a:buNone/>
            </a:pPr>
            <a:r>
              <a:rPr b="1" i="0" lang="en-US" sz="5200" u="none" cap="none" strike="noStrike">
                <a:solidFill>
                  <a:srgbClr val="EDEEF0"/>
                </a:solidFill>
                <a:latin typeface="Inter"/>
                <a:ea typeface="Inter"/>
                <a:cs typeface="Inter"/>
                <a:sym typeface="Inter"/>
              </a:rPr>
              <a:t>Get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0"/>
          <p:cNvSpPr/>
          <p:nvPr/>
        </p:nvSpPr>
        <p:spPr>
          <a:xfrm>
            <a:off x="548640" y="2697480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F9A"/>
              </a:buClr>
              <a:buSzPts val="1400"/>
              <a:buFont typeface="Inter"/>
              <a:buNone/>
            </a:pPr>
            <a:r>
              <a:rPr b="0" i="0" lang="en-US" sz="1400" u="none" cap="none" strike="noStrike">
                <a:solidFill>
                  <a:srgbClr val="8A8F9A"/>
                </a:solidFill>
                <a:latin typeface="Inter"/>
                <a:ea typeface="Inter"/>
                <a:cs typeface="Inter"/>
                <a:sym typeface="Inter"/>
              </a:rPr>
              <a:t>Named work. Defined deliverables. No vague promises.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0"/>
          <p:cNvSpPr/>
          <p:nvPr/>
        </p:nvSpPr>
        <p:spPr>
          <a:xfrm>
            <a:off x="8412480" y="482803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8F9A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8A8F9A"/>
                </a:solidFill>
                <a:latin typeface="Inter"/>
                <a:ea typeface="Inter"/>
                <a:cs typeface="Inter"/>
                <a:sym typeface="Inter"/>
              </a:rPr>
              <a:t>10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9" name="Google Shape;169;p10"/>
          <p:cNvPicPr preferRelativeResize="0"/>
          <p:nvPr/>
        </p:nvPicPr>
        <p:blipFill rotWithShape="1">
          <a:blip r:embed="rId3">
            <a:alphaModFix/>
          </a:blip>
          <a:srcRect b="0" l="0" r="69966" t="0"/>
          <a:stretch/>
        </p:blipFill>
        <p:spPr>
          <a:xfrm>
            <a:off x="8091325" y="292600"/>
            <a:ext cx="641212" cy="5390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115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1"/>
          <p:cNvSpPr/>
          <p:nvPr/>
        </p:nvSpPr>
        <p:spPr>
          <a:xfrm>
            <a:off x="548640" y="292608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D046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F7D046"/>
                </a:solidFill>
                <a:latin typeface="Inter"/>
                <a:ea typeface="Inter"/>
                <a:cs typeface="Inter"/>
                <a:sym typeface="Inter"/>
              </a:rPr>
              <a:t>CHAPTER 04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1"/>
          <p:cNvSpPr/>
          <p:nvPr/>
        </p:nvSpPr>
        <p:spPr>
          <a:xfrm>
            <a:off x="548640" y="502920"/>
            <a:ext cx="73152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0"/>
              </a:buClr>
              <a:buSzPts val="2400"/>
              <a:buFont typeface="Inter"/>
              <a:buNone/>
            </a:pPr>
            <a:r>
              <a:rPr b="1" i="0" lang="en-US" sz="2400" u="none" cap="none" strike="noStrike">
                <a:solidFill>
                  <a:srgbClr val="EDEEF0"/>
                </a:solidFill>
                <a:latin typeface="Inter"/>
                <a:ea typeface="Inter"/>
                <a:cs typeface="Inter"/>
                <a:sym typeface="Inter"/>
              </a:rPr>
              <a:t>Full deliverables list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1"/>
          <p:cNvSpPr/>
          <p:nvPr/>
        </p:nvSpPr>
        <p:spPr>
          <a:xfrm>
            <a:off x="457200" y="114300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D046"/>
              </a:buClr>
              <a:buSzPts val="1100"/>
              <a:buFont typeface="Inter"/>
              <a:buNone/>
            </a:pPr>
            <a:r>
              <a:rPr b="1" lang="en-US" sz="1100">
                <a:solidFill>
                  <a:srgbClr val="F7D046"/>
                </a:solidFill>
                <a:latin typeface="Inter"/>
                <a:ea typeface="Inter"/>
                <a:cs typeface="Inter"/>
                <a:sym typeface="Inter"/>
              </a:rPr>
              <a:t>Store &amp; Theme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1"/>
          <p:cNvSpPr/>
          <p:nvPr/>
        </p:nvSpPr>
        <p:spPr>
          <a:xfrm>
            <a:off x="457200" y="1453896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0"/>
              </a:buClr>
              <a:buSzPts val="1000"/>
              <a:buFont typeface="Inter"/>
              <a:buNone/>
            </a:pPr>
            <a:r>
              <a:rPr lang="en-US" sz="1000">
                <a:solidFill>
                  <a:srgbClr val="EDEEF0"/>
                </a:solidFill>
                <a:latin typeface="Inter"/>
                <a:ea typeface="Inter"/>
                <a:cs typeface="Inter"/>
                <a:sym typeface="Inter"/>
              </a:rPr>
              <a:t>- Shopify store on Standard theme
- Brand colours, typography &amp; logo
- All core pages built &amp; populated
- Mobile-first responsive build
- PayFast / Peach Payments setup
- Shipping &amp; logistics config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1"/>
          <p:cNvSpPr/>
          <p:nvPr/>
        </p:nvSpPr>
        <p:spPr>
          <a:xfrm>
            <a:off x="457200" y="2752344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D046"/>
              </a:buClr>
              <a:buSzPts val="1100"/>
              <a:buFont typeface="Inter"/>
              <a:buNone/>
            </a:pPr>
            <a:r>
              <a:rPr b="1" lang="en-US" sz="1100">
                <a:solidFill>
                  <a:srgbClr val="F7D046"/>
                </a:solidFill>
                <a:latin typeface="Inter"/>
                <a:ea typeface="Inter"/>
                <a:cs typeface="Inter"/>
                <a:sym typeface="Inter"/>
              </a:rPr>
              <a:t>SEO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1"/>
          <p:cNvSpPr/>
          <p:nvPr/>
        </p:nvSpPr>
        <p:spPr>
          <a:xfrm>
            <a:off x="457200" y="3063240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0"/>
              </a:buClr>
              <a:buSzPts val="1000"/>
              <a:buFont typeface="Inter"/>
              <a:buNone/>
            </a:pPr>
            <a:r>
              <a:rPr lang="en-US" sz="1000">
                <a:solidFill>
                  <a:srgbClr val="EDEEF0"/>
                </a:solidFill>
                <a:latin typeface="Inter"/>
                <a:ea typeface="Inter"/>
                <a:cs typeface="Inter"/>
                <a:sym typeface="Inter"/>
              </a:rPr>
              <a:t>- 20 target keywords researched
- Product title &amp; meta optimisation (10/mo)
- Collection page SEO (2/mo)
- Image &amp; alt-text optimisation (30/mo)
- 2 blog posts/month (800–1,200 words)
- 5–10 quality backlinks/month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1"/>
          <p:cNvSpPr/>
          <p:nvPr/>
        </p:nvSpPr>
        <p:spPr>
          <a:xfrm>
            <a:off x="4754880" y="114300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D046"/>
              </a:buClr>
              <a:buSzPts val="1100"/>
              <a:buFont typeface="Inter"/>
              <a:buNone/>
            </a:pPr>
            <a:r>
              <a:rPr b="1" lang="en-US" sz="1100">
                <a:solidFill>
                  <a:srgbClr val="F7D046"/>
                </a:solidFill>
                <a:latin typeface="Inter"/>
                <a:ea typeface="Inter"/>
                <a:cs typeface="Inter"/>
                <a:sym typeface="Inter"/>
              </a:rPr>
              <a:t>Commerce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1"/>
          <p:cNvSpPr/>
          <p:nvPr/>
        </p:nvSpPr>
        <p:spPr>
          <a:xfrm>
            <a:off x="4754880" y="1453896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0"/>
              </a:buClr>
              <a:buSzPts val="1000"/>
              <a:buFont typeface="Inter"/>
              <a:buNone/>
            </a:pPr>
            <a:r>
              <a:rPr lang="en-US" sz="1000">
                <a:solidFill>
                  <a:srgbClr val="EDEEF0"/>
                </a:solidFill>
                <a:latin typeface="Inter"/>
                <a:ea typeface="Inter"/>
                <a:cs typeface="Inter"/>
                <a:sym typeface="Inter"/>
              </a:rPr>
              <a:t>- All products migrated with variants
- Collections &amp; menu structure
- Cart &amp; checkout optimisation
- Newsletter popup + Omnisend
- Branded email notifications
- Legal policy pages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1"/>
          <p:cNvSpPr/>
          <p:nvPr/>
        </p:nvSpPr>
        <p:spPr>
          <a:xfrm>
            <a:off x="4754880" y="2752344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D046"/>
              </a:buClr>
              <a:buSzPts val="1100"/>
              <a:buFont typeface="Inter"/>
              <a:buNone/>
            </a:pPr>
            <a:r>
              <a:rPr b="1" lang="en-US" sz="1100">
                <a:solidFill>
                  <a:srgbClr val="F7D046"/>
                </a:solidFill>
                <a:latin typeface="Inter"/>
                <a:ea typeface="Inter"/>
                <a:cs typeface="Inter"/>
                <a:sym typeface="Inter"/>
              </a:rPr>
              <a:t>Technical &amp; Launch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1"/>
          <p:cNvSpPr/>
          <p:nvPr/>
        </p:nvSpPr>
        <p:spPr>
          <a:xfrm>
            <a:off x="4754880" y="3063240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0"/>
              </a:buClr>
              <a:buSzPts val="1000"/>
              <a:buFont typeface="Inter"/>
              <a:buNone/>
            </a:pPr>
            <a:r>
              <a:rPr lang="en-US" sz="1000">
                <a:solidFill>
                  <a:srgbClr val="EDEEF0"/>
                </a:solidFill>
                <a:latin typeface="Inter"/>
                <a:ea typeface="Inter"/>
                <a:cs typeface="Inter"/>
                <a:sym typeface="Inter"/>
              </a:rPr>
              <a:t>- 301 redirects from WooCommerce URLs
- Product schema markup (10/mo)
- Page speed optimisation (&gt;80 PSI)
- Cross-browser &amp; device QA
- 2-hour CMS training session
- 30-day post-launch support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1"/>
          <p:cNvSpPr/>
          <p:nvPr/>
        </p:nvSpPr>
        <p:spPr>
          <a:xfrm>
            <a:off x="8412480" y="482803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8F9A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8A8F9A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6" name="Google Shape;186;p11"/>
          <p:cNvPicPr preferRelativeResize="0"/>
          <p:nvPr/>
        </p:nvPicPr>
        <p:blipFill rotWithShape="1">
          <a:blip r:embed="rId3">
            <a:alphaModFix/>
          </a:blip>
          <a:srcRect b="0" l="0" r="69966" t="0"/>
          <a:stretch/>
        </p:blipFill>
        <p:spPr>
          <a:xfrm>
            <a:off x="8091325" y="292600"/>
            <a:ext cx="641212" cy="5390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115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2"/>
          <p:cNvSpPr/>
          <p:nvPr/>
        </p:nvSpPr>
        <p:spPr>
          <a:xfrm>
            <a:off x="548640" y="292608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D046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F7D046"/>
                </a:solidFill>
                <a:latin typeface="Inter"/>
                <a:ea typeface="Inter"/>
                <a:cs typeface="Inter"/>
                <a:sym typeface="Inter"/>
              </a:rPr>
              <a:t>CHAPTER 05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2"/>
          <p:cNvSpPr/>
          <p:nvPr/>
        </p:nvSpPr>
        <p:spPr>
          <a:xfrm>
            <a:off x="548640" y="502920"/>
            <a:ext cx="73152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0"/>
              </a:buClr>
              <a:buSzPts val="2400"/>
              <a:buFont typeface="Inter"/>
              <a:buNone/>
            </a:pPr>
            <a:r>
              <a:rPr b="1" i="0" lang="en-US" sz="2400" u="none" cap="none" strike="noStrike">
                <a:solidFill>
                  <a:srgbClr val="EDEEF0"/>
                </a:solidFill>
                <a:latin typeface="Inter"/>
                <a:ea typeface="Inter"/>
                <a:cs typeface="Inter"/>
                <a:sym typeface="Inter"/>
              </a:rPr>
              <a:t>How We Work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2"/>
          <p:cNvSpPr/>
          <p:nvPr/>
        </p:nvSpPr>
        <p:spPr>
          <a:xfrm>
            <a:off x="365760" y="1188720"/>
            <a:ext cx="4023360" cy="1463040"/>
          </a:xfrm>
          <a:prstGeom prst="rect">
            <a:avLst/>
          </a:prstGeom>
          <a:solidFill>
            <a:srgbClr val="1A1D23"/>
          </a:solidFill>
          <a:ln cap="flat" cmpd="sng" w="12700">
            <a:solidFill>
              <a:srgbClr val="1A1D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2"/>
          <p:cNvSpPr/>
          <p:nvPr/>
        </p:nvSpPr>
        <p:spPr>
          <a:xfrm>
            <a:off x="594360" y="1325880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0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EDEEF0"/>
                </a:solidFill>
                <a:latin typeface="Inter"/>
                <a:ea typeface="Inter"/>
                <a:cs typeface="Inter"/>
                <a:sym typeface="Inter"/>
              </a:rPr>
              <a:t>Timeline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2"/>
          <p:cNvSpPr/>
          <p:nvPr/>
        </p:nvSpPr>
        <p:spPr>
          <a:xfrm>
            <a:off x="594360" y="1691640"/>
            <a:ext cx="3566160" cy="8503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F9A"/>
              </a:buClr>
              <a:buSzPts val="1000"/>
              <a:buFont typeface="Inter"/>
              <a:buNone/>
            </a:pPr>
            <a:r>
              <a:rPr lang="en-US" sz="1000">
                <a:solidFill>
                  <a:srgbClr val="8A8F9A"/>
                </a:solidFill>
                <a:latin typeface="Inter"/>
                <a:ea typeface="Inter"/>
                <a:cs typeface="Inter"/>
                <a:sym typeface="Inter"/>
              </a:rPr>
              <a:t>4–6 weeks for store build, running concurrently with SEO setup. SEO results typically visible from month 2 onwards.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2"/>
          <p:cNvSpPr/>
          <p:nvPr/>
        </p:nvSpPr>
        <p:spPr>
          <a:xfrm>
            <a:off x="4663440" y="1188720"/>
            <a:ext cx="4023360" cy="1463040"/>
          </a:xfrm>
          <a:prstGeom prst="rect">
            <a:avLst/>
          </a:prstGeom>
          <a:solidFill>
            <a:srgbClr val="1A1D23"/>
          </a:solidFill>
          <a:ln cap="flat" cmpd="sng" w="12700">
            <a:solidFill>
              <a:srgbClr val="1A1D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2"/>
          <p:cNvSpPr/>
          <p:nvPr/>
        </p:nvSpPr>
        <p:spPr>
          <a:xfrm>
            <a:off x="4892040" y="1325880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0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EDEEF0"/>
                </a:solidFill>
                <a:latin typeface="Inter"/>
                <a:ea typeface="Inter"/>
                <a:cs typeface="Inter"/>
                <a:sym typeface="Inter"/>
              </a:rPr>
              <a:t>Payment Terms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2"/>
          <p:cNvSpPr/>
          <p:nvPr/>
        </p:nvSpPr>
        <p:spPr>
          <a:xfrm>
            <a:off x="4892040" y="1691640"/>
            <a:ext cx="3566160" cy="8503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F9A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8A8F9A"/>
                </a:solidFill>
                <a:latin typeface="Inter"/>
                <a:ea typeface="Inter"/>
                <a:cs typeface="Inter"/>
                <a:sym typeface="Inter"/>
              </a:rPr>
              <a:t>50% upfront on project confirmation.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F9A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8A8F9A"/>
                </a:solidFill>
                <a:latin typeface="Inter"/>
                <a:ea typeface="Inter"/>
                <a:cs typeface="Inter"/>
                <a:sym typeface="Inter"/>
              </a:rPr>
              <a:t>30% at design sign-off / mid-build milestone.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F9A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8A8F9A"/>
                </a:solidFill>
                <a:latin typeface="Inter"/>
                <a:ea typeface="Inter"/>
                <a:cs typeface="Inter"/>
                <a:sym typeface="Inter"/>
              </a:rPr>
              <a:t>20% on go-live and handover.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2"/>
          <p:cNvSpPr/>
          <p:nvPr/>
        </p:nvSpPr>
        <p:spPr>
          <a:xfrm>
            <a:off x="365760" y="2880360"/>
            <a:ext cx="4023360" cy="1463040"/>
          </a:xfrm>
          <a:prstGeom prst="rect">
            <a:avLst/>
          </a:prstGeom>
          <a:solidFill>
            <a:srgbClr val="1A1D23"/>
          </a:solidFill>
          <a:ln cap="flat" cmpd="sng" w="12700">
            <a:solidFill>
              <a:srgbClr val="1A1D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2"/>
          <p:cNvSpPr/>
          <p:nvPr/>
        </p:nvSpPr>
        <p:spPr>
          <a:xfrm>
            <a:off x="594360" y="3017520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0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EDEEF0"/>
                </a:solidFill>
                <a:latin typeface="Inter"/>
                <a:ea typeface="Inter"/>
                <a:cs typeface="Inter"/>
                <a:sym typeface="Inter"/>
              </a:rPr>
              <a:t>Post-Launch SLA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2"/>
          <p:cNvSpPr/>
          <p:nvPr/>
        </p:nvSpPr>
        <p:spPr>
          <a:xfrm>
            <a:off x="594360" y="3383280"/>
            <a:ext cx="3566160" cy="8503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F9A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8A8F9A"/>
                </a:solidFill>
                <a:latin typeface="Inter"/>
                <a:ea typeface="Inter"/>
                <a:cs typeface="Inter"/>
                <a:sym typeface="Inter"/>
              </a:rPr>
              <a:t>30-day Support Essential package</a:t>
            </a:r>
            <a:r>
              <a:rPr lang="en-US" sz="1000">
                <a:solidFill>
                  <a:srgbClr val="8A8F9A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1000" u="none" cap="none" strike="noStrike">
                <a:solidFill>
                  <a:srgbClr val="8A8F9A"/>
                </a:solidFill>
                <a:latin typeface="Inter"/>
                <a:ea typeface="Inter"/>
                <a:cs typeface="Inter"/>
                <a:sym typeface="Inter"/>
              </a:rPr>
              <a:t>included at an extra cost of R9,000. 6 hrs accessible by phone and email. Response within 1 business day during the support window.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2"/>
          <p:cNvSpPr/>
          <p:nvPr/>
        </p:nvSpPr>
        <p:spPr>
          <a:xfrm>
            <a:off x="4663440" y="2880360"/>
            <a:ext cx="4023360" cy="1463040"/>
          </a:xfrm>
          <a:prstGeom prst="rect">
            <a:avLst/>
          </a:prstGeom>
          <a:solidFill>
            <a:srgbClr val="1A1D23"/>
          </a:solidFill>
          <a:ln cap="flat" cmpd="sng" w="12700">
            <a:solidFill>
              <a:srgbClr val="1A1D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2"/>
          <p:cNvSpPr/>
          <p:nvPr/>
        </p:nvSpPr>
        <p:spPr>
          <a:xfrm>
            <a:off x="4892040" y="3017520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0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EDEEF0"/>
                </a:solidFill>
                <a:latin typeface="Inter"/>
                <a:ea typeface="Inter"/>
                <a:cs typeface="Inter"/>
                <a:sym typeface="Inter"/>
              </a:rPr>
              <a:t>Out of Scope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2"/>
          <p:cNvSpPr/>
          <p:nvPr/>
        </p:nvSpPr>
        <p:spPr>
          <a:xfrm>
            <a:off x="4892040" y="3383280"/>
            <a:ext cx="3566160" cy="8503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F9A"/>
              </a:buClr>
              <a:buSzPts val="1000"/>
              <a:buFont typeface="Inter"/>
              <a:buNone/>
            </a:pPr>
            <a:r>
              <a:rPr lang="en-US" sz="1000">
                <a:solidFill>
                  <a:srgbClr val="8A8F9A"/>
                </a:solidFill>
                <a:latin typeface="Inter"/>
                <a:ea typeface="Inter"/>
                <a:cs typeface="Inter"/>
                <a:sym typeface="Inter"/>
              </a:rPr>
              <a:t>Copywriting, product photography, logo or brand design, paid advertising, inventory system development.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2"/>
          <p:cNvSpPr/>
          <p:nvPr/>
        </p:nvSpPr>
        <p:spPr>
          <a:xfrm>
            <a:off x="8412480" y="482803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8F9A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8A8F9A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7" name="Google Shape;207;p12"/>
          <p:cNvPicPr preferRelativeResize="0"/>
          <p:nvPr/>
        </p:nvPicPr>
        <p:blipFill rotWithShape="1">
          <a:blip r:embed="rId3">
            <a:alphaModFix/>
          </a:blip>
          <a:srcRect b="0" l="0" r="69966" t="0"/>
          <a:stretch/>
        </p:blipFill>
        <p:spPr>
          <a:xfrm>
            <a:off x="8091325" y="292600"/>
            <a:ext cx="641212" cy="5390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115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3"/>
          <p:cNvSpPr/>
          <p:nvPr/>
        </p:nvSpPr>
        <p:spPr>
          <a:xfrm>
            <a:off x="548640" y="292608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D046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F7D046"/>
                </a:solidFill>
                <a:latin typeface="Inter"/>
                <a:ea typeface="Inter"/>
                <a:cs typeface="Inter"/>
                <a:sym typeface="Inter"/>
              </a:rPr>
              <a:t>CHAPTER 06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3"/>
          <p:cNvSpPr/>
          <p:nvPr/>
        </p:nvSpPr>
        <p:spPr>
          <a:xfrm>
            <a:off x="548640" y="502920"/>
            <a:ext cx="73152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0"/>
              </a:buClr>
              <a:buSzPts val="2400"/>
              <a:buFont typeface="Inter"/>
              <a:buNone/>
            </a:pPr>
            <a:r>
              <a:rPr b="1" i="0" lang="en-US" sz="2400" u="none" cap="none" strike="noStrike">
                <a:solidFill>
                  <a:srgbClr val="EDEEF0"/>
                </a:solidFill>
                <a:latin typeface="Inter"/>
                <a:ea typeface="Inter"/>
                <a:cs typeface="Inter"/>
                <a:sym typeface="Inter"/>
              </a:rPr>
              <a:t>To Get Started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3"/>
          <p:cNvSpPr/>
          <p:nvPr/>
        </p:nvSpPr>
        <p:spPr>
          <a:xfrm>
            <a:off x="548640" y="1005840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F9A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8A8F9A"/>
                </a:solidFill>
                <a:latin typeface="Inter"/>
                <a:ea typeface="Inter"/>
                <a:cs typeface="Inter"/>
                <a:sym typeface="Inter"/>
              </a:rPr>
              <a:t>What Honey Whale needs from you on Day 1.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3"/>
          <p:cNvSpPr/>
          <p:nvPr/>
        </p:nvSpPr>
        <p:spPr>
          <a:xfrm>
            <a:off x="365760" y="1389888"/>
            <a:ext cx="4069080" cy="960120"/>
          </a:xfrm>
          <a:prstGeom prst="rect">
            <a:avLst/>
          </a:prstGeom>
          <a:solidFill>
            <a:srgbClr val="1A1D23"/>
          </a:solidFill>
          <a:ln cap="flat" cmpd="sng" w="12700">
            <a:solidFill>
              <a:srgbClr val="1A1D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3"/>
          <p:cNvSpPr/>
          <p:nvPr/>
        </p:nvSpPr>
        <p:spPr>
          <a:xfrm>
            <a:off x="548640" y="1499616"/>
            <a:ext cx="3657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D046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F7D046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3"/>
          <p:cNvSpPr/>
          <p:nvPr/>
        </p:nvSpPr>
        <p:spPr>
          <a:xfrm>
            <a:off x="960120" y="1481328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0"/>
              </a:buClr>
              <a:buSzPts val="1200"/>
              <a:buFont typeface="Inter"/>
              <a:buNone/>
            </a:pPr>
            <a:r>
              <a:rPr b="1" lang="en-US" sz="1200">
                <a:solidFill>
                  <a:srgbClr val="EDEEF0"/>
                </a:solidFill>
                <a:latin typeface="Inter"/>
                <a:ea typeface="Inter"/>
                <a:cs typeface="Inter"/>
                <a:sym typeface="Inter"/>
              </a:rPr>
              <a:t>Brand Assets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3"/>
          <p:cNvSpPr/>
          <p:nvPr/>
        </p:nvSpPr>
        <p:spPr>
          <a:xfrm>
            <a:off x="960120" y="1819656"/>
            <a:ext cx="32918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F9A"/>
              </a:buClr>
              <a:buSzPts val="950"/>
              <a:buFont typeface="Inter"/>
              <a:buNone/>
            </a:pPr>
            <a:r>
              <a:rPr lang="en-US" sz="950">
                <a:solidFill>
                  <a:srgbClr val="8A8F9A"/>
                </a:solidFill>
                <a:latin typeface="Inter"/>
                <a:ea typeface="Inter"/>
                <a:cs typeface="Inter"/>
                <a:sym typeface="Inter"/>
              </a:rPr>
              <a:t>Logo files (SVG/PNG), brand guidelines, approved colour palette and typography.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3"/>
          <p:cNvSpPr/>
          <p:nvPr/>
        </p:nvSpPr>
        <p:spPr>
          <a:xfrm>
            <a:off x="365760" y="2505456"/>
            <a:ext cx="4069080" cy="960120"/>
          </a:xfrm>
          <a:prstGeom prst="rect">
            <a:avLst/>
          </a:prstGeom>
          <a:solidFill>
            <a:srgbClr val="1A1D23"/>
          </a:solidFill>
          <a:ln cap="flat" cmpd="sng" w="12700">
            <a:solidFill>
              <a:srgbClr val="1A1D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3"/>
          <p:cNvSpPr/>
          <p:nvPr/>
        </p:nvSpPr>
        <p:spPr>
          <a:xfrm>
            <a:off x="548640" y="2615184"/>
            <a:ext cx="3657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D046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F7D046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3"/>
          <p:cNvSpPr/>
          <p:nvPr/>
        </p:nvSpPr>
        <p:spPr>
          <a:xfrm>
            <a:off x="960120" y="2596896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0"/>
              </a:buClr>
              <a:buSzPts val="1200"/>
              <a:buFont typeface="Inter"/>
              <a:buNone/>
            </a:pPr>
            <a:r>
              <a:rPr b="1" lang="en-US" sz="1200">
                <a:solidFill>
                  <a:srgbClr val="EDEEF0"/>
                </a:solidFill>
                <a:latin typeface="Inter"/>
                <a:ea typeface="Inter"/>
                <a:cs typeface="Inter"/>
                <a:sym typeface="Inter"/>
              </a:rPr>
              <a:t>Product Data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3"/>
          <p:cNvSpPr/>
          <p:nvPr/>
        </p:nvSpPr>
        <p:spPr>
          <a:xfrm>
            <a:off x="960120" y="2935224"/>
            <a:ext cx="32918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F9A"/>
              </a:buClr>
              <a:buSzPts val="950"/>
              <a:buFont typeface="Inter"/>
              <a:buNone/>
            </a:pPr>
            <a:r>
              <a:rPr lang="en-US" sz="950">
                <a:solidFill>
                  <a:srgbClr val="8A8F9A"/>
                </a:solidFill>
                <a:latin typeface="Inter"/>
                <a:ea typeface="Inter"/>
                <a:cs typeface="Inter"/>
                <a:sym typeface="Inter"/>
              </a:rPr>
              <a:t>Full product list with descriptions, ZAR pricing, high-res imagery, and any variant data.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3"/>
          <p:cNvSpPr/>
          <p:nvPr/>
        </p:nvSpPr>
        <p:spPr>
          <a:xfrm>
            <a:off x="365760" y="3621024"/>
            <a:ext cx="4069080" cy="960120"/>
          </a:xfrm>
          <a:prstGeom prst="rect">
            <a:avLst/>
          </a:prstGeom>
          <a:solidFill>
            <a:srgbClr val="1A1D23"/>
          </a:solidFill>
          <a:ln cap="flat" cmpd="sng" w="12700">
            <a:solidFill>
              <a:srgbClr val="1A1D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3"/>
          <p:cNvSpPr/>
          <p:nvPr/>
        </p:nvSpPr>
        <p:spPr>
          <a:xfrm>
            <a:off x="548640" y="3730752"/>
            <a:ext cx="3657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D046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F7D046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3"/>
          <p:cNvSpPr/>
          <p:nvPr/>
        </p:nvSpPr>
        <p:spPr>
          <a:xfrm>
            <a:off x="960120" y="3712464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0"/>
              </a:buClr>
              <a:buSzPts val="1200"/>
              <a:buFont typeface="Inter"/>
              <a:buNone/>
            </a:pPr>
            <a:r>
              <a:rPr b="1" lang="en-US" sz="1200">
                <a:solidFill>
                  <a:srgbClr val="EDEEF0"/>
                </a:solidFill>
                <a:latin typeface="Inter"/>
                <a:ea typeface="Inter"/>
                <a:cs typeface="Inter"/>
                <a:sym typeface="Inter"/>
              </a:rPr>
              <a:t>WooCommerce Access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3"/>
          <p:cNvSpPr/>
          <p:nvPr/>
        </p:nvSpPr>
        <p:spPr>
          <a:xfrm>
            <a:off x="960120" y="4050792"/>
            <a:ext cx="32918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F9A"/>
              </a:buClr>
              <a:buSzPts val="950"/>
              <a:buFont typeface="Inter"/>
              <a:buNone/>
            </a:pPr>
            <a:r>
              <a:rPr lang="en-US" sz="950">
                <a:solidFill>
                  <a:srgbClr val="8A8F9A"/>
                </a:solidFill>
                <a:latin typeface="Inter"/>
                <a:ea typeface="Inter"/>
                <a:cs typeface="Inter"/>
                <a:sym typeface="Inter"/>
              </a:rPr>
              <a:t>Admin login to your existing WooCommerce store for the pre-migration audit.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3"/>
          <p:cNvSpPr/>
          <p:nvPr/>
        </p:nvSpPr>
        <p:spPr>
          <a:xfrm>
            <a:off x="4663440" y="1389888"/>
            <a:ext cx="4069080" cy="960120"/>
          </a:xfrm>
          <a:prstGeom prst="rect">
            <a:avLst/>
          </a:prstGeom>
          <a:solidFill>
            <a:srgbClr val="1A1D23"/>
          </a:solidFill>
          <a:ln cap="flat" cmpd="sng" w="12700">
            <a:solidFill>
              <a:srgbClr val="1A1D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3"/>
          <p:cNvSpPr/>
          <p:nvPr/>
        </p:nvSpPr>
        <p:spPr>
          <a:xfrm>
            <a:off x="4846320" y="1499616"/>
            <a:ext cx="3657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D046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F7D046"/>
                </a:solidFill>
                <a:latin typeface="Inter"/>
                <a:ea typeface="Inter"/>
                <a:cs typeface="Inter"/>
                <a:sym typeface="Inter"/>
              </a:rPr>
              <a:t>04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3"/>
          <p:cNvSpPr/>
          <p:nvPr/>
        </p:nvSpPr>
        <p:spPr>
          <a:xfrm>
            <a:off x="5257800" y="1481328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0"/>
              </a:buClr>
              <a:buSzPts val="1200"/>
              <a:buFont typeface="Inter"/>
              <a:buNone/>
            </a:pPr>
            <a:r>
              <a:rPr b="1" lang="en-US" sz="1200">
                <a:solidFill>
                  <a:srgbClr val="EDEEF0"/>
                </a:solidFill>
                <a:latin typeface="Inter"/>
                <a:ea typeface="Inter"/>
                <a:cs typeface="Inter"/>
                <a:sym typeface="Inter"/>
              </a:rPr>
              <a:t>Payment Gateway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3"/>
          <p:cNvSpPr/>
          <p:nvPr/>
        </p:nvSpPr>
        <p:spPr>
          <a:xfrm>
            <a:off x="5257800" y="1819656"/>
            <a:ext cx="32918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F9A"/>
              </a:buClr>
              <a:buSzPts val="950"/>
              <a:buFont typeface="Inter"/>
              <a:buNone/>
            </a:pPr>
            <a:r>
              <a:rPr lang="en-US" sz="950">
                <a:solidFill>
                  <a:srgbClr val="8A8F9A"/>
                </a:solidFill>
                <a:latin typeface="Inter"/>
                <a:ea typeface="Inter"/>
                <a:cs typeface="Inter"/>
                <a:sym typeface="Inter"/>
              </a:rPr>
              <a:t>Confirmed SA payment gateway (PayFast, Peach Payments, or Yoco) with account access or setup in progress.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3"/>
          <p:cNvSpPr/>
          <p:nvPr/>
        </p:nvSpPr>
        <p:spPr>
          <a:xfrm>
            <a:off x="4663440" y="2505456"/>
            <a:ext cx="4069080" cy="960120"/>
          </a:xfrm>
          <a:prstGeom prst="rect">
            <a:avLst/>
          </a:prstGeom>
          <a:solidFill>
            <a:srgbClr val="1A1D23"/>
          </a:solidFill>
          <a:ln cap="flat" cmpd="sng" w="12700">
            <a:solidFill>
              <a:srgbClr val="1A1D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3"/>
          <p:cNvSpPr/>
          <p:nvPr/>
        </p:nvSpPr>
        <p:spPr>
          <a:xfrm>
            <a:off x="4846320" y="2615184"/>
            <a:ext cx="3657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D046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F7D046"/>
                </a:solidFill>
                <a:latin typeface="Inter"/>
                <a:ea typeface="Inter"/>
                <a:cs typeface="Inter"/>
                <a:sym typeface="Inter"/>
              </a:rPr>
              <a:t>05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3"/>
          <p:cNvSpPr/>
          <p:nvPr/>
        </p:nvSpPr>
        <p:spPr>
          <a:xfrm>
            <a:off x="5257800" y="2596896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0"/>
              </a:buClr>
              <a:buSzPts val="1200"/>
              <a:buFont typeface="Inter"/>
              <a:buNone/>
            </a:pPr>
            <a:r>
              <a:rPr b="1" lang="en-US" sz="1200">
                <a:solidFill>
                  <a:srgbClr val="EDEEF0"/>
                </a:solidFill>
                <a:latin typeface="Inter"/>
                <a:ea typeface="Inter"/>
                <a:cs typeface="Inter"/>
                <a:sym typeface="Inter"/>
              </a:rPr>
              <a:t>Domain Access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3"/>
          <p:cNvSpPr/>
          <p:nvPr/>
        </p:nvSpPr>
        <p:spPr>
          <a:xfrm>
            <a:off x="5257800" y="2935224"/>
            <a:ext cx="32918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F9A"/>
              </a:buClr>
              <a:buSzPts val="950"/>
              <a:buFont typeface="Inter"/>
              <a:buNone/>
            </a:pPr>
            <a:r>
              <a:rPr lang="en-US" sz="950">
                <a:solidFill>
                  <a:srgbClr val="8A8F9A"/>
                </a:solidFill>
                <a:latin typeface="Inter"/>
                <a:ea typeface="Inter"/>
                <a:cs typeface="Inter"/>
                <a:sym typeface="Inter"/>
              </a:rPr>
              <a:t>DNS login credentials for domain pointing on go-live day.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3"/>
          <p:cNvSpPr/>
          <p:nvPr/>
        </p:nvSpPr>
        <p:spPr>
          <a:xfrm>
            <a:off x="4663440" y="3621024"/>
            <a:ext cx="4069080" cy="960120"/>
          </a:xfrm>
          <a:prstGeom prst="rect">
            <a:avLst/>
          </a:prstGeom>
          <a:solidFill>
            <a:srgbClr val="1A1D23"/>
          </a:solidFill>
          <a:ln cap="flat" cmpd="sng" w="12700">
            <a:solidFill>
              <a:srgbClr val="1A1D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3"/>
          <p:cNvSpPr/>
          <p:nvPr/>
        </p:nvSpPr>
        <p:spPr>
          <a:xfrm>
            <a:off x="4846320" y="3730752"/>
            <a:ext cx="3657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D046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F7D046"/>
                </a:solidFill>
                <a:latin typeface="Inter"/>
                <a:ea typeface="Inter"/>
                <a:cs typeface="Inter"/>
                <a:sym typeface="Inter"/>
              </a:rPr>
              <a:t>06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3"/>
          <p:cNvSpPr/>
          <p:nvPr/>
        </p:nvSpPr>
        <p:spPr>
          <a:xfrm>
            <a:off x="5257800" y="3712464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0"/>
              </a:buClr>
              <a:buSzPts val="1200"/>
              <a:buFont typeface="Inter"/>
              <a:buNone/>
            </a:pPr>
            <a:r>
              <a:rPr b="1" lang="en-US" sz="1200">
                <a:solidFill>
                  <a:srgbClr val="EDEEF0"/>
                </a:solidFill>
                <a:latin typeface="Inter"/>
                <a:ea typeface="Inter"/>
                <a:cs typeface="Inter"/>
                <a:sym typeface="Inter"/>
              </a:rPr>
              <a:t>Signed Acceptance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3"/>
          <p:cNvSpPr/>
          <p:nvPr/>
        </p:nvSpPr>
        <p:spPr>
          <a:xfrm>
            <a:off x="5257800" y="4050792"/>
            <a:ext cx="32918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F9A"/>
              </a:buClr>
              <a:buSzPts val="950"/>
              <a:buFont typeface="Inter"/>
              <a:buNone/>
            </a:pPr>
            <a:r>
              <a:rPr lang="en-US" sz="950">
                <a:solidFill>
                  <a:srgbClr val="8A8F9A"/>
                </a:solidFill>
                <a:latin typeface="Inter"/>
                <a:ea typeface="Inter"/>
                <a:cs typeface="Inter"/>
                <a:sym typeface="Inter"/>
              </a:rPr>
              <a:t>Signed proposal and 50% upfront deposit to confirm your project start date.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3"/>
          <p:cNvSpPr/>
          <p:nvPr/>
        </p:nvSpPr>
        <p:spPr>
          <a:xfrm>
            <a:off x="8412480" y="482803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8F9A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8A8F9A"/>
                </a:solidFill>
                <a:latin typeface="Inter"/>
                <a:ea typeface="Inter"/>
                <a:cs typeface="Inter"/>
                <a:sym typeface="Inter"/>
              </a:rPr>
              <a:t>13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1" name="Google Shape;241;p13"/>
          <p:cNvPicPr preferRelativeResize="0"/>
          <p:nvPr/>
        </p:nvPicPr>
        <p:blipFill rotWithShape="1">
          <a:blip r:embed="rId3">
            <a:alphaModFix/>
          </a:blip>
          <a:srcRect b="0" l="0" r="69966" t="0"/>
          <a:stretch/>
        </p:blipFill>
        <p:spPr>
          <a:xfrm>
            <a:off x="8091325" y="292600"/>
            <a:ext cx="641212" cy="5390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115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4"/>
          <p:cNvSpPr/>
          <p:nvPr/>
        </p:nvSpPr>
        <p:spPr>
          <a:xfrm>
            <a:off x="548640" y="292608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D046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F7D046"/>
                </a:solidFill>
                <a:latin typeface="Inter"/>
                <a:ea typeface="Inter"/>
                <a:cs typeface="Inter"/>
                <a:sym typeface="Inter"/>
              </a:rPr>
              <a:t>CHAPTER 07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4"/>
          <p:cNvSpPr/>
          <p:nvPr/>
        </p:nvSpPr>
        <p:spPr>
          <a:xfrm>
            <a:off x="548640" y="502920"/>
            <a:ext cx="73152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0"/>
              </a:buClr>
              <a:buSzPts val="2400"/>
              <a:buFont typeface="Inter"/>
              <a:buNone/>
            </a:pPr>
            <a:r>
              <a:rPr b="1" i="0" lang="en-US" sz="2400" u="none" cap="none" strike="noStrike">
                <a:solidFill>
                  <a:srgbClr val="EDEEF0"/>
                </a:solidFill>
                <a:latin typeface="Inter"/>
                <a:ea typeface="Inter"/>
                <a:cs typeface="Inter"/>
                <a:sym typeface="Inter"/>
              </a:rPr>
              <a:t>About Honey Whale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4"/>
          <p:cNvSpPr/>
          <p:nvPr/>
        </p:nvSpPr>
        <p:spPr>
          <a:xfrm>
            <a:off x="548640" y="1005840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F9A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8A8F9A"/>
                </a:solidFill>
                <a:latin typeface="Inter"/>
                <a:ea typeface="Inter"/>
                <a:cs typeface="Inter"/>
                <a:sym typeface="Inter"/>
              </a:rPr>
              <a:t>Shopify-only.  Senior.  South African.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4"/>
          <p:cNvSpPr/>
          <p:nvPr/>
        </p:nvSpPr>
        <p:spPr>
          <a:xfrm>
            <a:off x="365760" y="1417320"/>
            <a:ext cx="4846320" cy="3429000"/>
          </a:xfrm>
          <a:prstGeom prst="rect">
            <a:avLst/>
          </a:prstGeom>
          <a:solidFill>
            <a:srgbClr val="1A1D23"/>
          </a:solidFill>
          <a:ln cap="flat" cmpd="sng" w="12700">
            <a:solidFill>
              <a:srgbClr val="1A1D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4"/>
          <p:cNvSpPr/>
          <p:nvPr/>
        </p:nvSpPr>
        <p:spPr>
          <a:xfrm>
            <a:off x="594360" y="1600200"/>
            <a:ext cx="4389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0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EDEEF0"/>
                </a:solidFill>
                <a:latin typeface="Inter"/>
                <a:ea typeface="Inter"/>
                <a:cs typeface="Inter"/>
                <a:sym typeface="Inter"/>
              </a:rPr>
              <a:t>We are a Shopify-focused growth agency built in South Africa.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4"/>
          <p:cNvSpPr/>
          <p:nvPr/>
        </p:nvSpPr>
        <p:spPr>
          <a:xfrm>
            <a:off x="594360" y="2176272"/>
            <a:ext cx="43891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D046"/>
              </a:buClr>
              <a:buSzPts val="1000"/>
              <a:buFont typeface="Inter"/>
              <a:buNone/>
            </a:pPr>
            <a:r>
              <a:rPr lang="en-US" sz="1000">
                <a:solidFill>
                  <a:srgbClr val="F7D046"/>
                </a:solidFill>
                <a:latin typeface="Inter"/>
                <a:ea typeface="Inter"/>
                <a:cs typeface="Inter"/>
                <a:sym typeface="Inter"/>
              </a:rPr>
              <a:t>-</a:t>
            </a:r>
            <a:r>
              <a:rPr b="0" i="0" lang="en-US" sz="1000" u="none" cap="none" strike="noStrike">
                <a:solidFill>
                  <a:srgbClr val="F7D046"/>
                </a:solidFill>
                <a:latin typeface="Inter"/>
                <a:ea typeface="Inter"/>
                <a:cs typeface="Inter"/>
                <a:sym typeface="Inter"/>
              </a:rPr>
              <a:t>  </a:t>
            </a:r>
            <a:r>
              <a:rPr b="0" i="0" lang="en-US" sz="1000" u="none" cap="none" strike="noStrike">
                <a:solidFill>
                  <a:srgbClr val="8A8F9A"/>
                </a:solidFill>
                <a:latin typeface="Inter"/>
                <a:ea typeface="Inter"/>
                <a:cs typeface="Inter"/>
                <a:sym typeface="Inter"/>
              </a:rPr>
              <a:t>Shopify-only. We don't split focus across platforms </a:t>
            </a:r>
            <a:r>
              <a:rPr lang="en-US" sz="1000">
                <a:solidFill>
                  <a:srgbClr val="8A8F9A"/>
                </a:solidFill>
                <a:latin typeface="Inter"/>
                <a:ea typeface="Inter"/>
                <a:cs typeface="Inter"/>
                <a:sym typeface="Inter"/>
              </a:rPr>
              <a:t>-</a:t>
            </a:r>
            <a:r>
              <a:rPr b="0" i="0" lang="en-US" sz="1000" u="none" cap="none" strike="noStrike">
                <a:solidFill>
                  <a:srgbClr val="8A8F9A"/>
                </a:solidFill>
                <a:latin typeface="Inter"/>
                <a:ea typeface="Inter"/>
                <a:cs typeface="Inter"/>
                <a:sym typeface="Inter"/>
              </a:rPr>
              <a:t> every project benefits from deep, focused experience.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4"/>
          <p:cNvSpPr/>
          <p:nvPr/>
        </p:nvSpPr>
        <p:spPr>
          <a:xfrm>
            <a:off x="594360" y="2816352"/>
            <a:ext cx="43891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D046"/>
              </a:buClr>
              <a:buSzPts val="1000"/>
              <a:buFont typeface="Inter"/>
              <a:buNone/>
            </a:pPr>
            <a:r>
              <a:rPr lang="en-US" sz="1000">
                <a:solidFill>
                  <a:srgbClr val="F7D046"/>
                </a:solidFill>
                <a:latin typeface="Inter"/>
                <a:ea typeface="Inter"/>
                <a:cs typeface="Inter"/>
                <a:sym typeface="Inter"/>
              </a:rPr>
              <a:t>-</a:t>
            </a:r>
            <a:r>
              <a:rPr b="0" i="0" lang="en-US" sz="1000" u="none" cap="none" strike="noStrike">
                <a:solidFill>
                  <a:srgbClr val="F7D046"/>
                </a:solidFill>
                <a:latin typeface="Inter"/>
                <a:ea typeface="Inter"/>
                <a:cs typeface="Inter"/>
                <a:sym typeface="Inter"/>
              </a:rPr>
              <a:t>  </a:t>
            </a:r>
            <a:r>
              <a:rPr b="0" i="0" lang="en-US" sz="1000" u="none" cap="none" strike="noStrike">
                <a:solidFill>
                  <a:srgbClr val="8A8F9A"/>
                </a:solidFill>
                <a:latin typeface="Inter"/>
                <a:ea typeface="Inter"/>
                <a:cs typeface="Inter"/>
                <a:sym typeface="Inter"/>
              </a:rPr>
              <a:t>Senior and small by design. Every project has an experienced lead on it. No juniors handed the work after scoping.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4"/>
          <p:cNvSpPr/>
          <p:nvPr/>
        </p:nvSpPr>
        <p:spPr>
          <a:xfrm>
            <a:off x="594360" y="3456432"/>
            <a:ext cx="43891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D046"/>
              </a:buClr>
              <a:buSzPts val="1000"/>
              <a:buFont typeface="Inter"/>
              <a:buNone/>
            </a:pPr>
            <a:r>
              <a:rPr lang="en-US" sz="1000">
                <a:solidFill>
                  <a:srgbClr val="F7D046"/>
                </a:solidFill>
                <a:latin typeface="Inter"/>
                <a:ea typeface="Inter"/>
                <a:cs typeface="Inter"/>
                <a:sym typeface="Inter"/>
              </a:rPr>
              <a:t>-</a:t>
            </a:r>
            <a:r>
              <a:rPr b="0" i="0" lang="en-US" sz="1000" u="none" cap="none" strike="noStrike">
                <a:solidFill>
                  <a:srgbClr val="F7D046"/>
                </a:solidFill>
                <a:latin typeface="Inter"/>
                <a:ea typeface="Inter"/>
                <a:cs typeface="Inter"/>
                <a:sym typeface="Inter"/>
              </a:rPr>
              <a:t>  </a:t>
            </a:r>
            <a:r>
              <a:rPr b="0" i="0" lang="en-US" sz="1000" u="none" cap="none" strike="noStrike">
                <a:solidFill>
                  <a:srgbClr val="8A8F9A"/>
                </a:solidFill>
                <a:latin typeface="Inter"/>
                <a:ea typeface="Inter"/>
                <a:cs typeface="Inter"/>
                <a:sym typeface="Inter"/>
              </a:rPr>
              <a:t>We build for results: clean code, fast stores, and handovers that genuinely empower your team.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4"/>
          <p:cNvSpPr/>
          <p:nvPr/>
        </p:nvSpPr>
        <p:spPr>
          <a:xfrm>
            <a:off x="594360" y="4096512"/>
            <a:ext cx="43891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D046"/>
              </a:buClr>
              <a:buSzPts val="1000"/>
              <a:buFont typeface="Inter"/>
              <a:buNone/>
            </a:pPr>
            <a:r>
              <a:rPr lang="en-US" sz="1000">
                <a:solidFill>
                  <a:srgbClr val="F7D046"/>
                </a:solidFill>
                <a:latin typeface="Inter"/>
                <a:ea typeface="Inter"/>
                <a:cs typeface="Inter"/>
                <a:sym typeface="Inter"/>
              </a:rPr>
              <a:t>-</a:t>
            </a:r>
            <a:r>
              <a:rPr b="0" i="0" lang="en-US" sz="1000" u="none" cap="none" strike="noStrike">
                <a:solidFill>
                  <a:srgbClr val="F7D046"/>
                </a:solidFill>
                <a:latin typeface="Inter"/>
                <a:ea typeface="Inter"/>
                <a:cs typeface="Inter"/>
                <a:sym typeface="Inter"/>
              </a:rPr>
              <a:t>  </a:t>
            </a:r>
            <a:r>
              <a:rPr b="0" i="0" lang="en-US" sz="1000" u="none" cap="none" strike="noStrike">
                <a:solidFill>
                  <a:srgbClr val="8A8F9A"/>
                </a:solidFill>
                <a:latin typeface="Inter"/>
                <a:ea typeface="Inter"/>
                <a:cs typeface="Inter"/>
                <a:sym typeface="Inter"/>
              </a:rPr>
              <a:t>Our clients include established SA and international brands who need a partner that understands both e-commerce and growth.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4"/>
          <p:cNvSpPr/>
          <p:nvPr/>
        </p:nvSpPr>
        <p:spPr>
          <a:xfrm>
            <a:off x="5394960" y="1417320"/>
            <a:ext cx="3383280" cy="3429000"/>
          </a:xfrm>
          <a:prstGeom prst="rect">
            <a:avLst/>
          </a:prstGeom>
          <a:solidFill>
            <a:srgbClr val="1A1D23"/>
          </a:solidFill>
          <a:ln cap="flat" cmpd="sng" w="12700">
            <a:solidFill>
              <a:srgbClr val="1A1D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4"/>
          <p:cNvSpPr/>
          <p:nvPr/>
        </p:nvSpPr>
        <p:spPr>
          <a:xfrm>
            <a:off x="5577840" y="1600200"/>
            <a:ext cx="3017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0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EDEEF0"/>
                </a:solidFill>
                <a:latin typeface="Inter"/>
                <a:ea typeface="Inter"/>
                <a:cs typeface="Inter"/>
                <a:sym typeface="Inter"/>
              </a:rPr>
              <a:t>Brands we've worked with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4"/>
          <p:cNvSpPr/>
          <p:nvPr/>
        </p:nvSpPr>
        <p:spPr>
          <a:xfrm>
            <a:off x="5577840" y="2057400"/>
            <a:ext cx="1554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F9A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8A8F9A"/>
                </a:solidFill>
                <a:latin typeface="Inter"/>
                <a:ea typeface="Inter"/>
                <a:cs typeface="Inter"/>
                <a:sym typeface="Inter"/>
              </a:rPr>
              <a:t>The Bed Store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4"/>
          <p:cNvSpPr/>
          <p:nvPr/>
        </p:nvSpPr>
        <p:spPr>
          <a:xfrm>
            <a:off x="7223760" y="2057400"/>
            <a:ext cx="1554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F9A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8A8F9A"/>
                </a:solidFill>
                <a:latin typeface="Inter"/>
                <a:ea typeface="Inter"/>
                <a:cs typeface="Inter"/>
                <a:sym typeface="Inter"/>
              </a:rPr>
              <a:t>Bootlegger Coffee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4"/>
          <p:cNvSpPr/>
          <p:nvPr/>
        </p:nvSpPr>
        <p:spPr>
          <a:xfrm>
            <a:off x="5577840" y="2624328"/>
            <a:ext cx="1554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F9A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8A8F9A"/>
                </a:solidFill>
                <a:latin typeface="Inter"/>
                <a:ea typeface="Inter"/>
                <a:cs typeface="Inter"/>
                <a:sym typeface="Inter"/>
              </a:rPr>
              <a:t>Skin Functional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4"/>
          <p:cNvSpPr/>
          <p:nvPr/>
        </p:nvSpPr>
        <p:spPr>
          <a:xfrm>
            <a:off x="7223760" y="2624328"/>
            <a:ext cx="1554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F9A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8A8F9A"/>
                </a:solidFill>
                <a:latin typeface="Inter"/>
                <a:ea typeface="Inter"/>
                <a:cs typeface="Inter"/>
                <a:sym typeface="Inter"/>
              </a:rPr>
              <a:t>Palladium Boots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4"/>
          <p:cNvSpPr/>
          <p:nvPr/>
        </p:nvSpPr>
        <p:spPr>
          <a:xfrm>
            <a:off x="5577840" y="3191256"/>
            <a:ext cx="1554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F9A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8A8F9A"/>
                </a:solidFill>
                <a:latin typeface="Inter"/>
                <a:ea typeface="Inter"/>
                <a:cs typeface="Inter"/>
                <a:sym typeface="Inter"/>
              </a:rPr>
              <a:t>Ben Sherman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4"/>
          <p:cNvSpPr/>
          <p:nvPr/>
        </p:nvSpPr>
        <p:spPr>
          <a:xfrm>
            <a:off x="7223760" y="3191256"/>
            <a:ext cx="1554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F9A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8A8F9A"/>
                </a:solidFill>
                <a:latin typeface="Inter"/>
                <a:ea typeface="Inter"/>
                <a:cs typeface="Inter"/>
                <a:sym typeface="Inter"/>
              </a:rPr>
              <a:t>Vow Jewellery London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4"/>
          <p:cNvSpPr/>
          <p:nvPr/>
        </p:nvSpPr>
        <p:spPr>
          <a:xfrm>
            <a:off x="5577840" y="3758184"/>
            <a:ext cx="1554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F9A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8A8F9A"/>
                </a:solidFill>
                <a:latin typeface="Inter"/>
                <a:ea typeface="Inter"/>
                <a:cs typeface="Inter"/>
                <a:sym typeface="Inter"/>
              </a:rPr>
              <a:t>Mountain Falls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4"/>
          <p:cNvSpPr/>
          <p:nvPr/>
        </p:nvSpPr>
        <p:spPr>
          <a:xfrm>
            <a:off x="7223760" y="3758184"/>
            <a:ext cx="1554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F9A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8A8F9A"/>
                </a:solidFill>
                <a:latin typeface="Inter"/>
                <a:ea typeface="Inter"/>
                <a:cs typeface="Inter"/>
                <a:sym typeface="Inter"/>
              </a:rPr>
              <a:t>Bioteen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4"/>
          <p:cNvSpPr/>
          <p:nvPr/>
        </p:nvSpPr>
        <p:spPr>
          <a:xfrm>
            <a:off x="5577840" y="4325112"/>
            <a:ext cx="1554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F9A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8A8F9A"/>
                </a:solidFill>
                <a:latin typeface="Inter"/>
                <a:ea typeface="Inter"/>
                <a:cs typeface="Inter"/>
                <a:sym typeface="Inter"/>
              </a:rPr>
              <a:t>Sofa Company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4"/>
          <p:cNvSpPr/>
          <p:nvPr/>
        </p:nvSpPr>
        <p:spPr>
          <a:xfrm>
            <a:off x="7223760" y="4325112"/>
            <a:ext cx="1554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F9A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8A8F9A"/>
                </a:solidFill>
                <a:latin typeface="Inter"/>
                <a:ea typeface="Inter"/>
                <a:cs typeface="Inter"/>
                <a:sym typeface="Inter"/>
              </a:rPr>
              <a:t>Lash Box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4"/>
          <p:cNvSpPr/>
          <p:nvPr/>
        </p:nvSpPr>
        <p:spPr>
          <a:xfrm>
            <a:off x="8412480" y="482803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8F9A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8A8F9A"/>
                </a:solidFill>
                <a:latin typeface="Inter"/>
                <a:ea typeface="Inter"/>
                <a:cs typeface="Inter"/>
                <a:sym typeface="Inter"/>
              </a:rPr>
              <a:t>14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9" name="Google Shape;269;p14"/>
          <p:cNvPicPr preferRelativeResize="0"/>
          <p:nvPr/>
        </p:nvPicPr>
        <p:blipFill rotWithShape="1">
          <a:blip r:embed="rId3">
            <a:alphaModFix/>
          </a:blip>
          <a:srcRect b="0" l="0" r="69966" t="0"/>
          <a:stretch/>
        </p:blipFill>
        <p:spPr>
          <a:xfrm>
            <a:off x="8091325" y="292600"/>
            <a:ext cx="641212" cy="5390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115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5"/>
          <p:cNvSpPr/>
          <p:nvPr/>
        </p:nvSpPr>
        <p:spPr>
          <a:xfrm>
            <a:off x="548640" y="292608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D046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F7D046"/>
                </a:solidFill>
                <a:latin typeface="Inter"/>
                <a:ea typeface="Inter"/>
                <a:cs typeface="Inter"/>
                <a:sym typeface="Inter"/>
              </a:rPr>
              <a:t>ACCEPTANCE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5"/>
          <p:cNvSpPr/>
          <p:nvPr/>
        </p:nvSpPr>
        <p:spPr>
          <a:xfrm>
            <a:off x="548640" y="658368"/>
            <a:ext cx="82296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0"/>
              </a:buClr>
              <a:buSzPts val="4000"/>
              <a:buFont typeface="Inter"/>
              <a:buNone/>
            </a:pPr>
            <a:r>
              <a:rPr b="1" i="0" lang="en-US" sz="4000" u="none" cap="none" strike="noStrike">
                <a:solidFill>
                  <a:srgbClr val="EDEEF0"/>
                </a:solidFill>
                <a:latin typeface="Inter"/>
                <a:ea typeface="Inter"/>
                <a:cs typeface="Inter"/>
                <a:sym typeface="Inter"/>
              </a:rPr>
              <a:t>Ready when you are.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5"/>
          <p:cNvSpPr/>
          <p:nvPr/>
        </p:nvSpPr>
        <p:spPr>
          <a:xfrm>
            <a:off x="548640" y="1645920"/>
            <a:ext cx="77724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F9A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8A8F9A"/>
                </a:solidFill>
                <a:latin typeface="Inter"/>
                <a:ea typeface="Inter"/>
                <a:cs typeface="Inter"/>
                <a:sym typeface="Inter"/>
              </a:rPr>
              <a:t>Signing below confirms your acceptance of the proposal terms and authorises Honey Whale to begin project planning.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F9A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8A8F9A"/>
                </a:solidFill>
                <a:latin typeface="Inter"/>
                <a:ea typeface="Inter"/>
                <a:cs typeface="Inter"/>
                <a:sym typeface="Inter"/>
              </a:rPr>
              <a:t>Pricing is valid for 30 days from the date of this proposal.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5"/>
          <p:cNvSpPr/>
          <p:nvPr/>
        </p:nvSpPr>
        <p:spPr>
          <a:xfrm>
            <a:off x="548640" y="2423160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D046"/>
              </a:buClr>
              <a:buSzPts val="750"/>
              <a:buFont typeface="Inter"/>
              <a:buNone/>
            </a:pPr>
            <a:r>
              <a:rPr b="1" i="0" lang="en-US" sz="750" u="none" cap="none" strike="noStrike">
                <a:solidFill>
                  <a:srgbClr val="F7D046"/>
                </a:solidFill>
                <a:latin typeface="Inter"/>
                <a:ea typeface="Inter"/>
                <a:cs typeface="Inter"/>
                <a:sym typeface="Inter"/>
              </a:rPr>
              <a:t>CLIENT SIGNATURE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5"/>
          <p:cNvSpPr/>
          <p:nvPr/>
        </p:nvSpPr>
        <p:spPr>
          <a:xfrm>
            <a:off x="548640" y="2660904"/>
            <a:ext cx="3474720" cy="36576"/>
          </a:xfrm>
          <a:prstGeom prst="rect">
            <a:avLst/>
          </a:prstGeom>
          <a:solidFill>
            <a:srgbClr val="2A2F3A"/>
          </a:solidFill>
          <a:ln cap="flat" cmpd="sng" w="12700">
            <a:solidFill>
              <a:srgbClr val="2A2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5"/>
          <p:cNvSpPr/>
          <p:nvPr/>
        </p:nvSpPr>
        <p:spPr>
          <a:xfrm>
            <a:off x="548640" y="3246120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D046"/>
              </a:buClr>
              <a:buSzPts val="750"/>
              <a:buFont typeface="Inter"/>
              <a:buNone/>
            </a:pPr>
            <a:r>
              <a:rPr b="1" i="0" lang="en-US" sz="750" u="none" cap="none" strike="noStrike">
                <a:solidFill>
                  <a:srgbClr val="F7D046"/>
                </a:solidFill>
                <a:latin typeface="Inter"/>
                <a:ea typeface="Inter"/>
                <a:cs typeface="Inter"/>
                <a:sym typeface="Inter"/>
              </a:rPr>
              <a:t>NAME &amp; TITLE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5"/>
          <p:cNvSpPr/>
          <p:nvPr/>
        </p:nvSpPr>
        <p:spPr>
          <a:xfrm>
            <a:off x="548640" y="3483864"/>
            <a:ext cx="3474720" cy="36576"/>
          </a:xfrm>
          <a:prstGeom prst="rect">
            <a:avLst/>
          </a:prstGeom>
          <a:solidFill>
            <a:srgbClr val="2A2F3A"/>
          </a:solidFill>
          <a:ln cap="flat" cmpd="sng" w="12700">
            <a:solidFill>
              <a:srgbClr val="2A2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5"/>
          <p:cNvSpPr/>
          <p:nvPr/>
        </p:nvSpPr>
        <p:spPr>
          <a:xfrm>
            <a:off x="548640" y="3840480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D046"/>
              </a:buClr>
              <a:buSzPts val="750"/>
              <a:buFont typeface="Inter"/>
              <a:buNone/>
            </a:pPr>
            <a:r>
              <a:rPr b="1" i="0" lang="en-US" sz="750" u="none" cap="none" strike="noStrike">
                <a:solidFill>
                  <a:srgbClr val="F7D046"/>
                </a:solidFill>
                <a:latin typeface="Inter"/>
                <a:ea typeface="Inter"/>
                <a:cs typeface="Inter"/>
                <a:sym typeface="Inter"/>
              </a:rPr>
              <a:t>DATE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5"/>
          <p:cNvSpPr/>
          <p:nvPr/>
        </p:nvSpPr>
        <p:spPr>
          <a:xfrm>
            <a:off x="548640" y="4078224"/>
            <a:ext cx="3474720" cy="36576"/>
          </a:xfrm>
          <a:prstGeom prst="rect">
            <a:avLst/>
          </a:prstGeom>
          <a:solidFill>
            <a:srgbClr val="2A2F3A"/>
          </a:solidFill>
          <a:ln cap="flat" cmpd="sng" w="12700">
            <a:solidFill>
              <a:srgbClr val="2A2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5"/>
          <p:cNvSpPr/>
          <p:nvPr/>
        </p:nvSpPr>
        <p:spPr>
          <a:xfrm>
            <a:off x="5029200" y="2423160"/>
            <a:ext cx="3749040" cy="2103120"/>
          </a:xfrm>
          <a:prstGeom prst="rect">
            <a:avLst/>
          </a:prstGeom>
          <a:solidFill>
            <a:srgbClr val="1A1D23"/>
          </a:solidFill>
          <a:ln cap="flat" cmpd="sng" w="12700">
            <a:solidFill>
              <a:srgbClr val="1A1D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5"/>
          <p:cNvSpPr/>
          <p:nvPr/>
        </p:nvSpPr>
        <p:spPr>
          <a:xfrm>
            <a:off x="5257800" y="2606040"/>
            <a:ext cx="3291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0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EDEEF0"/>
                </a:solidFill>
                <a:latin typeface="Inter"/>
                <a:ea typeface="Inter"/>
                <a:cs typeface="Inter"/>
                <a:sym typeface="Inter"/>
              </a:rPr>
              <a:t>Honey Whale (Pty) Ltd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5"/>
          <p:cNvSpPr/>
          <p:nvPr/>
        </p:nvSpPr>
        <p:spPr>
          <a:xfrm>
            <a:off x="5257800" y="3063240"/>
            <a:ext cx="32918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0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EDEEF0"/>
                </a:solidFill>
                <a:latin typeface="Inter"/>
                <a:ea typeface="Inter"/>
                <a:cs typeface="Inter"/>
                <a:sym typeface="Inter"/>
              </a:rPr>
              <a:t>info@honeywhale.co.za</a:t>
            </a:r>
            <a:br>
              <a:rPr b="0" i="0" lang="en-US" sz="1050" u="none" cap="none" strike="noStrike">
                <a:solidFill>
                  <a:srgbClr val="EDEEF0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0" i="0" lang="en-US" sz="1050" u="none" cap="none" strike="noStrike">
                <a:solidFill>
                  <a:srgbClr val="EDEEF0"/>
                </a:solidFill>
                <a:latin typeface="Inter"/>
                <a:ea typeface="Inter"/>
                <a:cs typeface="Inter"/>
                <a:sym typeface="Inter"/>
              </a:rPr>
              <a:t>honeywhale.co.za</a:t>
            </a:r>
            <a:br>
              <a:rPr b="0" i="0" lang="en-US" sz="1050" u="none" cap="none" strike="noStrike">
                <a:solidFill>
                  <a:srgbClr val="EDEEF0"/>
                </a:solidFill>
                <a:latin typeface="Inter"/>
                <a:ea typeface="Inter"/>
                <a:cs typeface="Inter"/>
                <a:sym typeface="Inter"/>
              </a:rPr>
            </a:br>
            <a:br>
              <a:rPr b="0" i="0" lang="en-US" sz="1050" u="none" cap="none" strike="noStrike">
                <a:solidFill>
                  <a:srgbClr val="EDEEF0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0" i="0" lang="en-US" sz="1050" u="none" cap="none" strike="noStrike">
                <a:solidFill>
                  <a:srgbClr val="8A8F9A"/>
                </a:solidFill>
                <a:latin typeface="Inter"/>
                <a:ea typeface="Inter"/>
                <a:cs typeface="Inter"/>
                <a:sym typeface="Inter"/>
              </a:rPr>
              <a:t>VAT registered  ·  All prices exclude VAT (15%)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5"/>
          <p:cNvSpPr/>
          <p:nvPr/>
        </p:nvSpPr>
        <p:spPr>
          <a:xfrm>
            <a:off x="8412480" y="482803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8F9A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8A8F9A"/>
                </a:solidFill>
                <a:latin typeface="Inter"/>
                <a:ea typeface="Inter"/>
                <a:cs typeface="Inter"/>
                <a:sym typeface="Inter"/>
              </a:rPr>
              <a:t>15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8" name="Google Shape;288;p15"/>
          <p:cNvPicPr preferRelativeResize="0"/>
          <p:nvPr/>
        </p:nvPicPr>
        <p:blipFill rotWithShape="1">
          <a:blip r:embed="rId3">
            <a:alphaModFix/>
          </a:blip>
          <a:srcRect b="0" l="0" r="69966" t="0"/>
          <a:stretch/>
        </p:blipFill>
        <p:spPr>
          <a:xfrm>
            <a:off x="8091325" y="292600"/>
            <a:ext cx="641212" cy="5390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2026-05-20T11:14:48Z</dcterms:created>
  <dc:creator>Honey Whale</dc:creator>
</cp:coreProperties>
</file>