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5143500" cx="9144000"/>
  <p:notesSz cx="5143500" cy="9144000"/>
  <p:embeddedFontLst>
    <p:embeddedFont>
      <p:font typeface="Inter"/>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hTSLT17nPqdd87mmsDg4mJbidq6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font" Target="fonts/Inter-regular.fntdata"/><Relationship Id="rId20" Type="http://schemas.openxmlformats.org/officeDocument/2006/relationships/font" Target="fonts/Inter-bold.fntdata"/><Relationship Id="rId21" Type="http://schemas.openxmlformats.org/officeDocument/2006/relationships/font" Target="fonts/Inter-italic.fntdata"/><Relationship Id="rId22" Type="http://schemas.openxmlformats.org/officeDocument/2006/relationships/font" Target="fonts/Inter-boldItalic.fntdata"/><Relationship Id="rId23"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 name="Shape 15"/>
        <p:cNvGrpSpPr/>
        <p:nvPr/>
      </p:nvGrpSpPr>
      <p:grpSpPr>
        <a:xfrm>
          <a:off x="0" y="0"/>
          <a:ext cx="0" cy="0"/>
          <a:chOff x="0" y="0"/>
          <a:chExt cx="0" cy="0"/>
        </a:xfrm>
      </p:grpSpPr>
      <p:sp>
        <p:nvSpPr>
          <p:cNvPr id="16" name="Google Shape;16;p1"/>
          <p:cNvSpPr/>
          <p:nvPr/>
        </p:nvSpPr>
        <p:spPr>
          <a:xfrm>
            <a:off x="0" y="0"/>
            <a:ext cx="54864" cy="5143500"/>
          </a:xfrm>
          <a:prstGeom prst="rect">
            <a:avLst/>
          </a:prstGeom>
          <a:solidFill>
            <a:srgbClr val="F7D046"/>
          </a:solidFill>
          <a:ln cap="flat" cmpd="sng" w="12700">
            <a:solidFill>
              <a:srgbClr val="F7D0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502920" y="502920"/>
            <a:ext cx="7315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7D046"/>
              </a:buClr>
              <a:buSzPts val="1000"/>
              <a:buFont typeface="Inter"/>
              <a:buNone/>
            </a:pPr>
            <a:r>
              <a:rPr b="1" lang="en-US" sz="1000">
                <a:solidFill>
                  <a:srgbClr val="F7D046"/>
                </a:solidFill>
                <a:latin typeface="Inter"/>
                <a:ea typeface="Inter"/>
                <a:cs typeface="Inter"/>
                <a:sym typeface="Inter"/>
              </a:rPr>
              <a:t>CUSTOM </a:t>
            </a:r>
            <a:r>
              <a:rPr b="1" i="0" lang="en-US" sz="1000" u="none" cap="none" strike="noStrike">
                <a:solidFill>
                  <a:srgbClr val="F7D046"/>
                </a:solidFill>
                <a:latin typeface="Inter"/>
                <a:ea typeface="Inter"/>
                <a:cs typeface="Inter"/>
                <a:sym typeface="Inter"/>
              </a:rPr>
              <a:t>PROPOSAL</a:t>
            </a:r>
            <a:endParaRPr b="0" i="0" sz="1000" u="none" cap="none" strike="noStrike">
              <a:solidFill>
                <a:schemeClr val="dk1"/>
              </a:solidFill>
              <a:latin typeface="Calibri"/>
              <a:ea typeface="Calibri"/>
              <a:cs typeface="Calibri"/>
              <a:sym typeface="Calibri"/>
            </a:endParaRPr>
          </a:p>
        </p:txBody>
      </p:sp>
      <p:sp>
        <p:nvSpPr>
          <p:cNvPr id="18" name="Google Shape;18;p1"/>
          <p:cNvSpPr/>
          <p:nvPr/>
        </p:nvSpPr>
        <p:spPr>
          <a:xfrm>
            <a:off x="502925" y="3031075"/>
            <a:ext cx="8741400" cy="977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EF0"/>
              </a:buClr>
              <a:buSzPts val="5400"/>
              <a:buFont typeface="Inter"/>
              <a:buNone/>
            </a:pPr>
            <a:r>
              <a:rPr b="1" lang="en-US" sz="4800">
                <a:solidFill>
                  <a:schemeClr val="dk1"/>
                </a:solidFill>
                <a:latin typeface="Inter"/>
                <a:ea typeface="Inter"/>
                <a:cs typeface="Inter"/>
                <a:sym typeface="Inter"/>
              </a:rPr>
              <a:t>Cape Coast Coffee</a:t>
            </a:r>
            <a:endParaRPr b="0" i="0" sz="4800" u="none" cap="none" strike="noStrike">
              <a:solidFill>
                <a:schemeClr val="dk1"/>
              </a:solidFill>
              <a:latin typeface="Calibri"/>
              <a:ea typeface="Calibri"/>
              <a:cs typeface="Calibri"/>
              <a:sym typeface="Calibri"/>
            </a:endParaRPr>
          </a:p>
        </p:txBody>
      </p:sp>
      <p:sp>
        <p:nvSpPr>
          <p:cNvPr id="19" name="Google Shape;19;p1"/>
          <p:cNvSpPr/>
          <p:nvPr/>
        </p:nvSpPr>
        <p:spPr>
          <a:xfrm>
            <a:off x="502925" y="4060575"/>
            <a:ext cx="4095900" cy="15600"/>
          </a:xfrm>
          <a:prstGeom prst="rect">
            <a:avLst/>
          </a:prstGeom>
          <a:solidFill>
            <a:srgbClr val="F7D046"/>
          </a:solidFill>
          <a:ln cap="flat" cmpd="sng" w="12700">
            <a:solidFill>
              <a:srgbClr val="2A2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1633520" y="4545268"/>
            <a:ext cx="73152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F9A"/>
              </a:buClr>
              <a:buSzPts val="1000"/>
              <a:buFont typeface="Inter"/>
              <a:buNone/>
            </a:pPr>
            <a:r>
              <a:rPr b="0" i="0" lang="en-US" sz="1000" u="none" cap="none" strike="noStrike">
                <a:solidFill>
                  <a:srgbClr val="8A8F9A"/>
                </a:solidFill>
                <a:latin typeface="Inter"/>
                <a:ea typeface="Inter"/>
                <a:cs typeface="Inter"/>
                <a:sym typeface="Inter"/>
              </a:rPr>
              <a:t>Prepared by </a:t>
            </a:r>
            <a:r>
              <a:rPr lang="en-US" sz="1000">
                <a:solidFill>
                  <a:srgbClr val="8A8F9A"/>
                </a:solidFill>
                <a:latin typeface="Inter"/>
                <a:ea typeface="Inter"/>
                <a:cs typeface="Inter"/>
                <a:sym typeface="Inter"/>
              </a:rPr>
              <a:t>Brad</a:t>
            </a:r>
            <a:r>
              <a:rPr b="0" i="0" lang="en-US" sz="1000" u="none" cap="none" strike="noStrike">
                <a:solidFill>
                  <a:srgbClr val="8A8F9A"/>
                </a:solidFill>
                <a:latin typeface="Inter"/>
                <a:ea typeface="Inter"/>
                <a:cs typeface="Inter"/>
                <a:sym typeface="Inter"/>
              </a:rPr>
              <a:t> ·  info@honeywhale.co.za  ·  MAY 2026</a:t>
            </a:r>
            <a:endParaRPr b="0" i="0" sz="1000" u="none" cap="none" strike="noStrike">
              <a:solidFill>
                <a:schemeClr val="dk1"/>
              </a:solidFill>
              <a:latin typeface="Calibri"/>
              <a:ea typeface="Calibri"/>
              <a:cs typeface="Calibri"/>
              <a:sym typeface="Calibri"/>
            </a:endParaRPr>
          </a:p>
        </p:txBody>
      </p:sp>
      <p:pic>
        <p:nvPicPr>
          <p:cNvPr id="21" name="Google Shape;21;p1"/>
          <p:cNvPicPr preferRelativeResize="0"/>
          <p:nvPr/>
        </p:nvPicPr>
        <p:blipFill>
          <a:blip r:embed="rId3">
            <a:alphaModFix/>
          </a:blip>
          <a:stretch>
            <a:fillRect/>
          </a:stretch>
        </p:blipFill>
        <p:spPr>
          <a:xfrm>
            <a:off x="502925" y="4457279"/>
            <a:ext cx="1782975" cy="450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5"/>
        </a:solidFill>
      </p:bgPr>
    </p:bg>
    <p:spTree>
      <p:nvGrpSpPr>
        <p:cNvPr id="26" name="Shape 26"/>
        <p:cNvGrpSpPr/>
        <p:nvPr/>
      </p:nvGrpSpPr>
      <p:grpSpPr>
        <a:xfrm>
          <a:off x="0" y="0"/>
          <a:ext cx="0" cy="0"/>
          <a:chOff x="0" y="0"/>
          <a:chExt cx="0" cy="0"/>
        </a:xfrm>
      </p:grpSpPr>
      <p:sp>
        <p:nvSpPr>
          <p:cNvPr id="27" name="Google Shape;27;p2"/>
          <p:cNvSpPr/>
          <p:nvPr/>
        </p:nvSpPr>
        <p:spPr>
          <a:xfrm>
            <a:off x="548640" y="292608"/>
            <a:ext cx="73152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ENGAGEMENT</a:t>
            </a:r>
            <a:endParaRPr b="0" i="0" sz="900" u="none" cap="none" strike="noStrike">
              <a:solidFill>
                <a:schemeClr val="dk1"/>
              </a:solidFill>
              <a:latin typeface="Calibri"/>
              <a:ea typeface="Calibri"/>
              <a:cs typeface="Calibri"/>
              <a:sym typeface="Calibri"/>
            </a:endParaRPr>
          </a:p>
        </p:txBody>
      </p:sp>
      <p:sp>
        <p:nvSpPr>
          <p:cNvPr id="28" name="Google Shape;28;p2"/>
          <p:cNvSpPr/>
          <p:nvPr/>
        </p:nvSpPr>
        <p:spPr>
          <a:xfrm>
            <a:off x="548640" y="566928"/>
            <a:ext cx="73152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EF0"/>
              </a:buClr>
              <a:buSzPts val="3200"/>
              <a:buFont typeface="Inter"/>
              <a:buNone/>
            </a:pPr>
            <a:r>
              <a:rPr b="1" i="0" lang="en-US" sz="3200" u="none" cap="none" strike="noStrike">
                <a:solidFill>
                  <a:srgbClr val="EDEEF0"/>
                </a:solidFill>
                <a:latin typeface="Inter"/>
                <a:ea typeface="Inter"/>
                <a:cs typeface="Inter"/>
                <a:sym typeface="Inter"/>
              </a:rPr>
              <a:t>Proposal at a glance</a:t>
            </a:r>
            <a:endParaRPr b="0" i="0" sz="3200" u="none" cap="none" strike="noStrike">
              <a:solidFill>
                <a:schemeClr val="dk1"/>
              </a:solidFill>
              <a:latin typeface="Calibri"/>
              <a:ea typeface="Calibri"/>
              <a:cs typeface="Calibri"/>
              <a:sym typeface="Calibri"/>
            </a:endParaRPr>
          </a:p>
        </p:txBody>
      </p:sp>
      <p:sp>
        <p:nvSpPr>
          <p:cNvPr id="29" name="Google Shape;29;p2"/>
          <p:cNvSpPr/>
          <p:nvPr/>
        </p:nvSpPr>
        <p:spPr>
          <a:xfrm>
            <a:off x="548640" y="11887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F9A"/>
              </a:buClr>
              <a:buSzPts val="1200"/>
              <a:buFont typeface="Inter"/>
              <a:buNone/>
            </a:pPr>
            <a:r>
              <a:rPr b="0" i="0" lang="en-US" sz="1200" u="none" cap="none" strike="noStrike">
                <a:solidFill>
                  <a:srgbClr val="8A8F9A"/>
                </a:solidFill>
                <a:latin typeface="Inter"/>
                <a:ea typeface="Inter"/>
                <a:cs typeface="Inter"/>
                <a:sym typeface="Inter"/>
              </a:rPr>
              <a:t>Who, when, and what's being agreed.</a:t>
            </a:r>
            <a:endParaRPr b="0" i="0" sz="1200" u="none" cap="none" strike="noStrike">
              <a:solidFill>
                <a:schemeClr val="dk1"/>
              </a:solidFill>
              <a:latin typeface="Calibri"/>
              <a:ea typeface="Calibri"/>
              <a:cs typeface="Calibri"/>
              <a:sym typeface="Calibri"/>
            </a:endParaRPr>
          </a:p>
        </p:txBody>
      </p:sp>
      <p:sp>
        <p:nvSpPr>
          <p:cNvPr id="30" name="Google Shape;30;p2"/>
          <p:cNvSpPr/>
          <p:nvPr/>
        </p:nvSpPr>
        <p:spPr>
          <a:xfrm>
            <a:off x="457200" y="1691640"/>
            <a:ext cx="3977640" cy="137160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685800" y="1874520"/>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800"/>
              <a:buFont typeface="Inter"/>
              <a:buNone/>
            </a:pPr>
            <a:r>
              <a:rPr b="1" i="0" lang="en-US" sz="800" u="none" cap="none" strike="noStrike">
                <a:solidFill>
                  <a:srgbClr val="F7D046"/>
                </a:solidFill>
                <a:latin typeface="Inter"/>
                <a:ea typeface="Inter"/>
                <a:cs typeface="Inter"/>
                <a:sym typeface="Inter"/>
              </a:rPr>
              <a:t>CLIENT</a:t>
            </a:r>
            <a:endParaRPr b="0" i="0" sz="800" u="none" cap="none" strike="noStrike">
              <a:solidFill>
                <a:schemeClr val="dk1"/>
              </a:solidFill>
              <a:latin typeface="Calibri"/>
              <a:ea typeface="Calibri"/>
              <a:cs typeface="Calibri"/>
              <a:sym typeface="Calibri"/>
            </a:endParaRPr>
          </a:p>
        </p:txBody>
      </p:sp>
      <p:sp>
        <p:nvSpPr>
          <p:cNvPr id="32" name="Google Shape;32;p2"/>
          <p:cNvSpPr/>
          <p:nvPr/>
        </p:nvSpPr>
        <p:spPr>
          <a:xfrm>
            <a:off x="4754880" y="1691640"/>
            <a:ext cx="3977640" cy="137160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4983480" y="1874520"/>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800"/>
              <a:buFont typeface="Inter"/>
              <a:buNone/>
            </a:pPr>
            <a:r>
              <a:rPr b="1" i="0" lang="en-US" sz="800" u="none" cap="none" strike="noStrike">
                <a:solidFill>
                  <a:srgbClr val="F7D046"/>
                </a:solidFill>
                <a:latin typeface="Inter"/>
                <a:ea typeface="Inter"/>
                <a:cs typeface="Inter"/>
                <a:sym typeface="Inter"/>
              </a:rPr>
              <a:t>CONTACT</a:t>
            </a:r>
            <a:endParaRPr b="0" i="0" sz="800" u="none" cap="none" strike="noStrike">
              <a:solidFill>
                <a:schemeClr val="dk1"/>
              </a:solidFill>
              <a:latin typeface="Calibri"/>
              <a:ea typeface="Calibri"/>
              <a:cs typeface="Calibri"/>
              <a:sym typeface="Calibri"/>
            </a:endParaRPr>
          </a:p>
        </p:txBody>
      </p:sp>
      <p:sp>
        <p:nvSpPr>
          <p:cNvPr id="34" name="Google Shape;34;p2"/>
          <p:cNvSpPr/>
          <p:nvPr/>
        </p:nvSpPr>
        <p:spPr>
          <a:xfrm>
            <a:off x="4983480" y="2194560"/>
            <a:ext cx="34747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500"/>
              <a:buFont typeface="Inter"/>
              <a:buNone/>
            </a:pPr>
            <a:r>
              <a:rPr lang="en-US" sz="1500">
                <a:solidFill>
                  <a:srgbClr val="EDEEF0"/>
                </a:solidFill>
                <a:latin typeface="Inter"/>
                <a:ea typeface="Inter"/>
                <a:cs typeface="Inter"/>
                <a:sym typeface="Inter"/>
              </a:rPr>
              <a:t>Sarah</a:t>
            </a:r>
            <a:endParaRPr sz="1500">
              <a:solidFill>
                <a:srgbClr val="EDEEF0"/>
              </a:solidFill>
              <a:latin typeface="Inter"/>
              <a:ea typeface="Inter"/>
              <a:cs typeface="Inter"/>
              <a:sym typeface="Inter"/>
            </a:endParaRPr>
          </a:p>
        </p:txBody>
      </p:sp>
      <p:sp>
        <p:nvSpPr>
          <p:cNvPr id="35" name="Google Shape;35;p2"/>
          <p:cNvSpPr/>
          <p:nvPr/>
        </p:nvSpPr>
        <p:spPr>
          <a:xfrm>
            <a:off x="457200" y="3246120"/>
            <a:ext cx="3977640" cy="137160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685800" y="3429000"/>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800"/>
              <a:buFont typeface="Inter"/>
              <a:buNone/>
            </a:pPr>
            <a:r>
              <a:rPr b="1" i="0" lang="en-US" sz="800" u="none" cap="none" strike="noStrike">
                <a:solidFill>
                  <a:srgbClr val="F7D046"/>
                </a:solidFill>
                <a:latin typeface="Inter"/>
                <a:ea typeface="Inter"/>
                <a:cs typeface="Inter"/>
                <a:sym typeface="Inter"/>
              </a:rPr>
              <a:t>START DATE</a:t>
            </a:r>
            <a:endParaRPr b="0" i="0" sz="800" u="none" cap="none" strike="noStrike">
              <a:solidFill>
                <a:schemeClr val="dk1"/>
              </a:solidFill>
              <a:latin typeface="Calibri"/>
              <a:ea typeface="Calibri"/>
              <a:cs typeface="Calibri"/>
              <a:sym typeface="Calibri"/>
            </a:endParaRPr>
          </a:p>
        </p:txBody>
      </p:sp>
      <p:sp>
        <p:nvSpPr>
          <p:cNvPr id="37" name="Google Shape;37;p2"/>
          <p:cNvSpPr/>
          <p:nvPr/>
        </p:nvSpPr>
        <p:spPr>
          <a:xfrm>
            <a:off x="685800" y="3749040"/>
            <a:ext cx="34747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500"/>
              <a:buFont typeface="Inter"/>
              <a:buNone/>
            </a:pPr>
            <a:r>
              <a:rPr lang="en-US" sz="1500">
                <a:solidFill>
                  <a:srgbClr val="EDEEF0"/>
                </a:solidFill>
                <a:latin typeface="Inter"/>
                <a:ea typeface="Inter"/>
                <a:cs typeface="Inter"/>
                <a:sym typeface="Inter"/>
              </a:rPr>
              <a:t>JULY 2026</a:t>
            </a:r>
            <a:endParaRPr i="0" sz="1500" u="none" cap="none" strike="noStrike">
              <a:solidFill>
                <a:schemeClr val="dk1"/>
              </a:solidFill>
              <a:latin typeface="Calibri"/>
              <a:ea typeface="Calibri"/>
              <a:cs typeface="Calibri"/>
              <a:sym typeface="Calibri"/>
            </a:endParaRPr>
          </a:p>
        </p:txBody>
      </p:sp>
      <p:sp>
        <p:nvSpPr>
          <p:cNvPr id="38" name="Google Shape;38;p2"/>
          <p:cNvSpPr/>
          <p:nvPr/>
        </p:nvSpPr>
        <p:spPr>
          <a:xfrm>
            <a:off x="4754880" y="3246120"/>
            <a:ext cx="3977640" cy="137160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4983480" y="3429000"/>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800"/>
              <a:buFont typeface="Inter"/>
              <a:buNone/>
            </a:pPr>
            <a:r>
              <a:rPr b="1" i="0" lang="en-US" sz="800" u="none" cap="none" strike="noStrike">
                <a:solidFill>
                  <a:srgbClr val="F7D046"/>
                </a:solidFill>
                <a:latin typeface="Inter"/>
                <a:ea typeface="Inter"/>
                <a:cs typeface="Inter"/>
                <a:sym typeface="Inter"/>
              </a:rPr>
              <a:t>PREPARED BY</a:t>
            </a:r>
            <a:endParaRPr b="0" i="0" sz="800" u="none" cap="none" strike="noStrike">
              <a:solidFill>
                <a:schemeClr val="dk1"/>
              </a:solidFill>
              <a:latin typeface="Calibri"/>
              <a:ea typeface="Calibri"/>
              <a:cs typeface="Calibri"/>
              <a:sym typeface="Calibri"/>
            </a:endParaRPr>
          </a:p>
        </p:txBody>
      </p:sp>
      <p:sp>
        <p:nvSpPr>
          <p:cNvPr id="40" name="Google Shape;40;p2"/>
          <p:cNvSpPr/>
          <p:nvPr/>
        </p:nvSpPr>
        <p:spPr>
          <a:xfrm>
            <a:off x="4937675" y="3749100"/>
            <a:ext cx="34746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500">
                <a:solidFill>
                  <a:srgbClr val="EDEEF0"/>
                </a:solidFill>
                <a:latin typeface="Inter"/>
                <a:ea typeface="Inter"/>
                <a:cs typeface="Inter"/>
                <a:sym typeface="Inter"/>
              </a:rPr>
              <a:t>Brad</a:t>
            </a:r>
            <a:br>
              <a:rPr lang="en-US" sz="1500">
                <a:solidFill>
                  <a:srgbClr val="EDEEF0"/>
                </a:solidFill>
                <a:latin typeface="Inter"/>
                <a:ea typeface="Inter"/>
                <a:cs typeface="Inter"/>
                <a:sym typeface="Inter"/>
              </a:rPr>
            </a:br>
            <a:r>
              <a:rPr lang="en-US" sz="1500">
                <a:solidFill>
                  <a:srgbClr val="EDEEF0"/>
                </a:solidFill>
                <a:latin typeface="Inter"/>
                <a:ea typeface="Inter"/>
                <a:cs typeface="Inter"/>
                <a:sym typeface="Inter"/>
              </a:rPr>
              <a:t>brad@honeywhale.co.za</a:t>
            </a:r>
            <a:endParaRPr i="0" sz="1500" u="none" cap="none" strike="noStrike">
              <a:solidFill>
                <a:schemeClr val="dk1"/>
              </a:solidFill>
              <a:latin typeface="Calibri"/>
              <a:ea typeface="Calibri"/>
              <a:cs typeface="Calibri"/>
              <a:sym typeface="Calibri"/>
            </a:endParaRPr>
          </a:p>
        </p:txBody>
      </p:sp>
      <p:sp>
        <p:nvSpPr>
          <p:cNvPr id="41" name="Google Shape;41;p2"/>
          <p:cNvSpPr/>
          <p:nvPr/>
        </p:nvSpPr>
        <p:spPr>
          <a:xfrm>
            <a:off x="8412480" y="4828032"/>
            <a:ext cx="45720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F9A"/>
              </a:buClr>
              <a:buSzPts val="800"/>
              <a:buFont typeface="Inter"/>
              <a:buNone/>
            </a:pPr>
            <a:r>
              <a:rPr b="0" i="0" lang="en-US" sz="800" u="none" cap="none" strike="noStrike">
                <a:solidFill>
                  <a:srgbClr val="8A8F9A"/>
                </a:solidFill>
                <a:latin typeface="Inter"/>
                <a:ea typeface="Inter"/>
                <a:cs typeface="Inter"/>
                <a:sym typeface="Inter"/>
              </a:rPr>
              <a:t>02</a:t>
            </a:r>
            <a:endParaRPr b="0" i="0" sz="800" u="none" cap="none" strike="noStrike">
              <a:solidFill>
                <a:schemeClr val="dk1"/>
              </a:solidFill>
              <a:latin typeface="Calibri"/>
              <a:ea typeface="Calibri"/>
              <a:cs typeface="Calibri"/>
              <a:sym typeface="Calibri"/>
            </a:endParaRPr>
          </a:p>
        </p:txBody>
      </p:sp>
      <p:pic>
        <p:nvPicPr>
          <p:cNvPr id="42" name="Google Shape;42;p2"/>
          <p:cNvPicPr preferRelativeResize="0"/>
          <p:nvPr/>
        </p:nvPicPr>
        <p:blipFill rotWithShape="1">
          <a:blip r:embed="rId3">
            <a:alphaModFix/>
          </a:blip>
          <a:srcRect b="0" l="0" r="69966" t="0"/>
          <a:stretch/>
        </p:blipFill>
        <p:spPr>
          <a:xfrm>
            <a:off x="8091325" y="292600"/>
            <a:ext cx="641212" cy="539088"/>
          </a:xfrm>
          <a:prstGeom prst="rect">
            <a:avLst/>
          </a:prstGeom>
          <a:noFill/>
          <a:ln>
            <a:noFill/>
          </a:ln>
        </p:spPr>
      </p:pic>
      <p:sp>
        <p:nvSpPr>
          <p:cNvPr id="43" name="Google Shape;43;p2"/>
          <p:cNvSpPr/>
          <p:nvPr/>
        </p:nvSpPr>
        <p:spPr>
          <a:xfrm>
            <a:off x="685867" y="2295223"/>
            <a:ext cx="34746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500"/>
              <a:buFont typeface="Inter"/>
              <a:buNone/>
            </a:pPr>
            <a:r>
              <a:rPr lang="en-US" sz="1500">
                <a:solidFill>
                  <a:srgbClr val="EDEEF0"/>
                </a:solidFill>
                <a:latin typeface="Inter"/>
                <a:ea typeface="Inter"/>
                <a:cs typeface="Inter"/>
                <a:sym typeface="Inter"/>
              </a:rPr>
              <a:t>Cape Coast Coffee</a:t>
            </a:r>
            <a:endParaRPr sz="1500">
              <a:solidFill>
                <a:srgbClr val="EDEEF0"/>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5"/>
        </a:solidFill>
      </p:bgPr>
    </p:bg>
    <p:spTree>
      <p:nvGrpSpPr>
        <p:cNvPr id="48" name="Shape 48"/>
        <p:cNvGrpSpPr/>
        <p:nvPr/>
      </p:nvGrpSpPr>
      <p:grpSpPr>
        <a:xfrm>
          <a:off x="0" y="0"/>
          <a:ext cx="0" cy="0"/>
          <a:chOff x="0" y="0"/>
          <a:chExt cx="0" cy="0"/>
        </a:xfrm>
      </p:grpSpPr>
      <p:sp>
        <p:nvSpPr>
          <p:cNvPr id="49" name="Google Shape;49;p3"/>
          <p:cNvSpPr/>
          <p:nvPr/>
        </p:nvSpPr>
        <p:spPr>
          <a:xfrm>
            <a:off x="548640" y="292608"/>
            <a:ext cx="45720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CHAPTER 01</a:t>
            </a:r>
            <a:endParaRPr b="0" i="0" sz="900" u="none" cap="none" strike="noStrike">
              <a:solidFill>
                <a:schemeClr val="dk1"/>
              </a:solidFill>
              <a:latin typeface="Calibri"/>
              <a:ea typeface="Calibri"/>
              <a:cs typeface="Calibri"/>
              <a:sym typeface="Calibri"/>
            </a:endParaRPr>
          </a:p>
        </p:txBody>
      </p:sp>
      <p:sp>
        <p:nvSpPr>
          <p:cNvPr id="50" name="Google Shape;50;p3"/>
          <p:cNvSpPr/>
          <p:nvPr/>
        </p:nvSpPr>
        <p:spPr>
          <a:xfrm>
            <a:off x="548640" y="685800"/>
            <a:ext cx="8229600" cy="182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EF0"/>
              </a:buClr>
              <a:buSzPts val="5200"/>
              <a:buFont typeface="Inter"/>
              <a:buNone/>
            </a:pPr>
            <a:r>
              <a:rPr b="1" i="0" lang="en-US" sz="5200" u="none" cap="none" strike="noStrike">
                <a:solidFill>
                  <a:srgbClr val="EDEEF0"/>
                </a:solidFill>
                <a:latin typeface="Inter"/>
                <a:ea typeface="Inter"/>
                <a:cs typeface="Inter"/>
                <a:sym typeface="Inter"/>
              </a:rPr>
              <a:t>Where You</a:t>
            </a:r>
            <a:endParaRPr b="0" i="0" sz="5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DEEF0"/>
              </a:buClr>
              <a:buSzPts val="5200"/>
              <a:buFont typeface="Inter"/>
              <a:buNone/>
            </a:pPr>
            <a:r>
              <a:rPr b="1" i="0" lang="en-US" sz="5200" u="none" cap="none" strike="noStrike">
                <a:solidFill>
                  <a:srgbClr val="EDEEF0"/>
                </a:solidFill>
                <a:latin typeface="Inter"/>
                <a:ea typeface="Inter"/>
                <a:cs typeface="Inter"/>
                <a:sym typeface="Inter"/>
              </a:rPr>
              <a:t>Are Now</a:t>
            </a:r>
            <a:endParaRPr b="0" i="0" sz="5200" u="none" cap="none" strike="noStrike">
              <a:solidFill>
                <a:schemeClr val="dk1"/>
              </a:solidFill>
              <a:latin typeface="Calibri"/>
              <a:ea typeface="Calibri"/>
              <a:cs typeface="Calibri"/>
              <a:sym typeface="Calibri"/>
            </a:endParaRPr>
          </a:p>
        </p:txBody>
      </p:sp>
      <p:sp>
        <p:nvSpPr>
          <p:cNvPr id="51" name="Google Shape;51;p3"/>
          <p:cNvSpPr/>
          <p:nvPr/>
        </p:nvSpPr>
        <p:spPr>
          <a:xfrm>
            <a:off x="548650" y="2697475"/>
            <a:ext cx="5643300" cy="1209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F9A"/>
              </a:buClr>
              <a:buSzPts val="1400"/>
              <a:buFont typeface="Inter"/>
              <a:buNone/>
            </a:pPr>
            <a:r>
              <a:rPr lang="en-US">
                <a:solidFill>
                  <a:srgbClr val="8A8F9A"/>
                </a:solidFill>
                <a:latin typeface="Inter"/>
                <a:ea typeface="Inter"/>
                <a:cs typeface="Inter"/>
                <a:sym typeface="Inter"/>
              </a:rPr>
              <a:t>Cape Coast Coffee is a premium single-origin coffee brand selling direct-to-consumer, currently held back by a sluggish WooCommerce store that's difficult to manage and underperforming in search. The opportunity is clear: migrate to Shopify for a faster, cleaner buying experience, then layer in proper e-commerce SEO to capture the growing organic demand for specialty coffee in South Africa.</a:t>
            </a:r>
            <a:endParaRPr b="0" i="0" sz="1400" u="none" cap="none" strike="noStrike">
              <a:solidFill>
                <a:schemeClr val="dk1"/>
              </a:solidFill>
              <a:latin typeface="Calibri"/>
              <a:ea typeface="Calibri"/>
              <a:cs typeface="Calibri"/>
              <a:sym typeface="Calibri"/>
            </a:endParaRPr>
          </a:p>
        </p:txBody>
      </p:sp>
      <p:sp>
        <p:nvSpPr>
          <p:cNvPr id="52" name="Google Shape;52;p3"/>
          <p:cNvSpPr/>
          <p:nvPr/>
        </p:nvSpPr>
        <p:spPr>
          <a:xfrm>
            <a:off x="8412480" y="4828032"/>
            <a:ext cx="45720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F9A"/>
              </a:buClr>
              <a:buSzPts val="800"/>
              <a:buFont typeface="Inter"/>
              <a:buNone/>
            </a:pPr>
            <a:r>
              <a:rPr b="0" i="0" lang="en-US" sz="800" u="none" cap="none" strike="noStrike">
                <a:solidFill>
                  <a:srgbClr val="8A8F9A"/>
                </a:solidFill>
                <a:latin typeface="Inter"/>
                <a:ea typeface="Inter"/>
                <a:cs typeface="Inter"/>
                <a:sym typeface="Inter"/>
              </a:rPr>
              <a:t>03</a:t>
            </a:r>
            <a:endParaRPr b="0" i="0" sz="800" u="none" cap="none" strike="noStrike">
              <a:solidFill>
                <a:schemeClr val="dk1"/>
              </a:solidFill>
              <a:latin typeface="Calibri"/>
              <a:ea typeface="Calibri"/>
              <a:cs typeface="Calibri"/>
              <a:sym typeface="Calibri"/>
            </a:endParaRPr>
          </a:p>
        </p:txBody>
      </p:sp>
      <p:pic>
        <p:nvPicPr>
          <p:cNvPr id="53" name="Google Shape;53;p3"/>
          <p:cNvPicPr preferRelativeResize="0"/>
          <p:nvPr/>
        </p:nvPicPr>
        <p:blipFill rotWithShape="1">
          <a:blip r:embed="rId3">
            <a:alphaModFix/>
          </a:blip>
          <a:srcRect b="0" l="0" r="69966" t="0"/>
          <a:stretch/>
        </p:blipFill>
        <p:spPr>
          <a:xfrm>
            <a:off x="8091325" y="292600"/>
            <a:ext cx="641212" cy="53908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5"/>
        </a:solidFill>
      </p:bgPr>
    </p:bg>
    <p:spTree>
      <p:nvGrpSpPr>
        <p:cNvPr id="58" name="Shape 58"/>
        <p:cNvGrpSpPr/>
        <p:nvPr/>
      </p:nvGrpSpPr>
      <p:grpSpPr>
        <a:xfrm>
          <a:off x="0" y="0"/>
          <a:ext cx="0" cy="0"/>
          <a:chOff x="0" y="0"/>
          <a:chExt cx="0" cy="0"/>
        </a:xfrm>
      </p:grpSpPr>
      <p:sp>
        <p:nvSpPr>
          <p:cNvPr id="59" name="Google Shape;59;p4"/>
          <p:cNvSpPr/>
          <p:nvPr/>
        </p:nvSpPr>
        <p:spPr>
          <a:xfrm>
            <a:off x="548640" y="292608"/>
            <a:ext cx="45720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CHAPTER 01</a:t>
            </a:r>
            <a:endParaRPr b="0" i="0" sz="900" u="none" cap="none" strike="noStrike">
              <a:solidFill>
                <a:schemeClr val="dk1"/>
              </a:solidFill>
              <a:latin typeface="Calibri"/>
              <a:ea typeface="Calibri"/>
              <a:cs typeface="Calibri"/>
              <a:sym typeface="Calibri"/>
            </a:endParaRPr>
          </a:p>
        </p:txBody>
      </p:sp>
      <p:sp>
        <p:nvSpPr>
          <p:cNvPr id="60" name="Google Shape;60;p4"/>
          <p:cNvSpPr/>
          <p:nvPr/>
        </p:nvSpPr>
        <p:spPr>
          <a:xfrm>
            <a:off x="548640" y="502920"/>
            <a:ext cx="77724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EF0"/>
              </a:buClr>
              <a:buSzPts val="2400"/>
              <a:buFont typeface="Inter"/>
              <a:buNone/>
            </a:pPr>
            <a:r>
              <a:rPr b="1" i="0" lang="en-US" sz="2400" u="none" cap="none" strike="noStrike">
                <a:solidFill>
                  <a:srgbClr val="EDEEF0"/>
                </a:solidFill>
                <a:latin typeface="Inter"/>
                <a:ea typeface="Inter"/>
                <a:cs typeface="Inter"/>
                <a:sym typeface="Inter"/>
              </a:rPr>
              <a:t>Three realities that shape the build</a:t>
            </a:r>
            <a:endParaRPr b="0" i="0" sz="2400" u="none" cap="none" strike="noStrike">
              <a:solidFill>
                <a:schemeClr val="dk1"/>
              </a:solidFill>
              <a:latin typeface="Calibri"/>
              <a:ea typeface="Calibri"/>
              <a:cs typeface="Calibri"/>
              <a:sym typeface="Calibri"/>
            </a:endParaRPr>
          </a:p>
        </p:txBody>
      </p:sp>
      <p:sp>
        <p:nvSpPr>
          <p:cNvPr id="61" name="Google Shape;61;p4"/>
          <p:cNvSpPr/>
          <p:nvPr/>
        </p:nvSpPr>
        <p:spPr>
          <a:xfrm>
            <a:off x="548640" y="1024128"/>
            <a:ext cx="7315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F9A"/>
              </a:buClr>
              <a:buSzPts val="1100"/>
              <a:buFont typeface="Inter"/>
              <a:buNone/>
            </a:pPr>
            <a:r>
              <a:rPr b="0" i="0" lang="en-US" sz="1100" u="none" cap="none" strike="noStrike">
                <a:solidFill>
                  <a:srgbClr val="8A8F9A"/>
                </a:solidFill>
                <a:latin typeface="Inter"/>
                <a:ea typeface="Inter"/>
                <a:cs typeface="Inter"/>
                <a:sym typeface="Inter"/>
              </a:rPr>
              <a:t>Every decision in this project flows from these three starting points.</a:t>
            </a:r>
            <a:endParaRPr b="0" i="0" sz="1100" u="none" cap="none" strike="noStrike">
              <a:solidFill>
                <a:schemeClr val="dk1"/>
              </a:solidFill>
              <a:latin typeface="Calibri"/>
              <a:ea typeface="Calibri"/>
              <a:cs typeface="Calibri"/>
              <a:sym typeface="Calibri"/>
            </a:endParaRPr>
          </a:p>
        </p:txBody>
      </p:sp>
      <p:sp>
        <p:nvSpPr>
          <p:cNvPr id="62" name="Google Shape;62;p4"/>
          <p:cNvSpPr/>
          <p:nvPr/>
        </p:nvSpPr>
        <p:spPr>
          <a:xfrm>
            <a:off x="365760" y="1417320"/>
            <a:ext cx="2743200" cy="342900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365760" y="1417320"/>
            <a:ext cx="2743200" cy="45720"/>
          </a:xfrm>
          <a:prstGeom prst="rect">
            <a:avLst/>
          </a:prstGeom>
          <a:solidFill>
            <a:srgbClr val="F7D046"/>
          </a:solidFill>
          <a:ln cap="flat" cmpd="sng" w="12700">
            <a:solidFill>
              <a:srgbClr val="F7D0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548640" y="1572768"/>
            <a:ext cx="457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b="1" i="0" lang="en-US" sz="1000" u="none" cap="none" strike="noStrike">
                <a:solidFill>
                  <a:srgbClr val="F7D046"/>
                </a:solidFill>
                <a:latin typeface="Inter"/>
                <a:ea typeface="Inter"/>
                <a:cs typeface="Inter"/>
                <a:sym typeface="Inter"/>
              </a:rPr>
              <a:t>01</a:t>
            </a:r>
            <a:endParaRPr b="0" i="0" sz="1000" u="none" cap="none" strike="noStrike">
              <a:solidFill>
                <a:schemeClr val="dk1"/>
              </a:solidFill>
              <a:latin typeface="Calibri"/>
              <a:ea typeface="Calibri"/>
              <a:cs typeface="Calibri"/>
              <a:sym typeface="Calibri"/>
            </a:endParaRPr>
          </a:p>
        </p:txBody>
      </p:sp>
      <p:sp>
        <p:nvSpPr>
          <p:cNvPr id="65" name="Google Shape;65;p4"/>
          <p:cNvSpPr/>
          <p:nvPr/>
        </p:nvSpPr>
        <p:spPr>
          <a:xfrm>
            <a:off x="548640" y="1920240"/>
            <a:ext cx="23774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500"/>
              <a:buFont typeface="Inter"/>
              <a:buNone/>
            </a:pPr>
            <a:r>
              <a:rPr b="1" lang="en-US" sz="1500">
                <a:solidFill>
                  <a:srgbClr val="EDEEF0"/>
                </a:solidFill>
                <a:latin typeface="Inter"/>
                <a:ea typeface="Inter"/>
                <a:cs typeface="Inter"/>
                <a:sym typeface="Inter"/>
              </a:rPr>
              <a:t>The Platform Problem</a:t>
            </a:r>
            <a:endParaRPr b="0" i="0" sz="1500" u="none" cap="none" strike="noStrike">
              <a:solidFill>
                <a:schemeClr val="dk1"/>
              </a:solidFill>
              <a:latin typeface="Calibri"/>
              <a:ea typeface="Calibri"/>
              <a:cs typeface="Calibri"/>
              <a:sym typeface="Calibri"/>
            </a:endParaRPr>
          </a:p>
        </p:txBody>
      </p:sp>
      <p:sp>
        <p:nvSpPr>
          <p:cNvPr id="66" name="Google Shape;66;p4"/>
          <p:cNvSpPr/>
          <p:nvPr/>
        </p:nvSpPr>
        <p:spPr>
          <a:xfrm>
            <a:off x="548640" y="2423160"/>
            <a:ext cx="2377440" cy="2194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1050"/>
              <a:buFont typeface="Inter"/>
              <a:buNone/>
            </a:pPr>
            <a:r>
              <a:rPr lang="en-US" sz="1050">
                <a:solidFill>
                  <a:srgbClr val="8A8F9A"/>
                </a:solidFill>
                <a:latin typeface="Inter"/>
                <a:ea typeface="Inter"/>
                <a:cs typeface="Inter"/>
                <a:sym typeface="Inter"/>
              </a:rPr>
              <a:t>The current WooCommerce store is slow, clunky, and a pain to manage day-to-day. It's costing Cape Coast Coffee sales — both through poor page speed killing conversions and through the time Sarah's team spends wrestling with the backend instead of growing the brand. A move to Shopify fixes this at the foundation level.</a:t>
            </a:r>
            <a:endParaRPr b="0" i="0" sz="1050" u="none" cap="none" strike="noStrike">
              <a:solidFill>
                <a:schemeClr val="dk1"/>
              </a:solidFill>
              <a:latin typeface="Calibri"/>
              <a:ea typeface="Calibri"/>
              <a:cs typeface="Calibri"/>
              <a:sym typeface="Calibri"/>
            </a:endParaRPr>
          </a:p>
        </p:txBody>
      </p:sp>
      <p:sp>
        <p:nvSpPr>
          <p:cNvPr id="67" name="Google Shape;67;p4"/>
          <p:cNvSpPr/>
          <p:nvPr/>
        </p:nvSpPr>
        <p:spPr>
          <a:xfrm>
            <a:off x="3246120" y="1417320"/>
            <a:ext cx="2743200" cy="342900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3246120" y="1417320"/>
            <a:ext cx="2743200" cy="45720"/>
          </a:xfrm>
          <a:prstGeom prst="rect">
            <a:avLst/>
          </a:prstGeom>
          <a:solidFill>
            <a:srgbClr val="F7D046"/>
          </a:solidFill>
          <a:ln cap="flat" cmpd="sng" w="12700">
            <a:solidFill>
              <a:srgbClr val="F7D0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3429000" y="1572768"/>
            <a:ext cx="457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b="1" i="0" lang="en-US" sz="1000" u="none" cap="none" strike="noStrike">
                <a:solidFill>
                  <a:srgbClr val="F7D046"/>
                </a:solidFill>
                <a:latin typeface="Inter"/>
                <a:ea typeface="Inter"/>
                <a:cs typeface="Inter"/>
                <a:sym typeface="Inter"/>
              </a:rPr>
              <a:t>02</a:t>
            </a:r>
            <a:endParaRPr b="0" i="0" sz="1000" u="none" cap="none" strike="noStrike">
              <a:solidFill>
                <a:schemeClr val="dk1"/>
              </a:solidFill>
              <a:latin typeface="Calibri"/>
              <a:ea typeface="Calibri"/>
              <a:cs typeface="Calibri"/>
              <a:sym typeface="Calibri"/>
            </a:endParaRPr>
          </a:p>
        </p:txBody>
      </p:sp>
      <p:sp>
        <p:nvSpPr>
          <p:cNvPr id="70" name="Google Shape;70;p4"/>
          <p:cNvSpPr/>
          <p:nvPr/>
        </p:nvSpPr>
        <p:spPr>
          <a:xfrm>
            <a:off x="3429000" y="1920240"/>
            <a:ext cx="23774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500"/>
              <a:buFont typeface="Inter"/>
              <a:buNone/>
            </a:pPr>
            <a:r>
              <a:rPr b="1" lang="en-US" sz="1500">
                <a:solidFill>
                  <a:srgbClr val="EDEEF0"/>
                </a:solidFill>
                <a:latin typeface="Inter"/>
                <a:ea typeface="Inter"/>
                <a:cs typeface="Inter"/>
                <a:sym typeface="Inter"/>
              </a:rPr>
              <a:t>The Organic Gap</a:t>
            </a:r>
            <a:endParaRPr b="0" i="0" sz="1500" u="none" cap="none" strike="noStrike">
              <a:solidFill>
                <a:schemeClr val="dk1"/>
              </a:solidFill>
              <a:latin typeface="Calibri"/>
              <a:ea typeface="Calibri"/>
              <a:cs typeface="Calibri"/>
              <a:sym typeface="Calibri"/>
            </a:endParaRPr>
          </a:p>
        </p:txBody>
      </p:sp>
      <p:sp>
        <p:nvSpPr>
          <p:cNvPr id="71" name="Google Shape;71;p4"/>
          <p:cNvSpPr/>
          <p:nvPr/>
        </p:nvSpPr>
        <p:spPr>
          <a:xfrm>
            <a:off x="3429000" y="2423160"/>
            <a:ext cx="2377440" cy="2194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1050"/>
              <a:buFont typeface="Inter"/>
              <a:buNone/>
            </a:pPr>
            <a:r>
              <a:rPr lang="en-US" sz="1050">
                <a:solidFill>
                  <a:srgbClr val="8A8F9A"/>
                </a:solidFill>
                <a:latin typeface="Inter"/>
                <a:ea typeface="Inter"/>
                <a:cs typeface="Inter"/>
                <a:sym typeface="Inter"/>
              </a:rPr>
              <a:t>Premium single-origin coffee is a category where consumers actively search for information — origin stories, brewing guides, tasting notes. Right now, Cape Coast Coffee isn't showing up for those queries. There's a significant organic traffic opportunity being left on the table, and the current site's technical limitations make it nearly impossible to rank well.</a:t>
            </a:r>
            <a:endParaRPr b="0" i="0" sz="1050" u="none" cap="none" strike="noStrike">
              <a:solidFill>
                <a:schemeClr val="dk1"/>
              </a:solidFill>
              <a:latin typeface="Calibri"/>
              <a:ea typeface="Calibri"/>
              <a:cs typeface="Calibri"/>
              <a:sym typeface="Calibri"/>
            </a:endParaRPr>
          </a:p>
        </p:txBody>
      </p:sp>
      <p:sp>
        <p:nvSpPr>
          <p:cNvPr id="72" name="Google Shape;72;p4"/>
          <p:cNvSpPr/>
          <p:nvPr/>
        </p:nvSpPr>
        <p:spPr>
          <a:xfrm>
            <a:off x="6126480" y="1417320"/>
            <a:ext cx="2743200" cy="342900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6126480" y="1417320"/>
            <a:ext cx="2743200" cy="45720"/>
          </a:xfrm>
          <a:prstGeom prst="rect">
            <a:avLst/>
          </a:prstGeom>
          <a:solidFill>
            <a:srgbClr val="F7D046"/>
          </a:solidFill>
          <a:ln cap="flat" cmpd="sng" w="12700">
            <a:solidFill>
              <a:srgbClr val="F7D0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6309360" y="1572768"/>
            <a:ext cx="457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b="1" i="0" lang="en-US" sz="1000" u="none" cap="none" strike="noStrike">
                <a:solidFill>
                  <a:srgbClr val="F7D046"/>
                </a:solidFill>
                <a:latin typeface="Inter"/>
                <a:ea typeface="Inter"/>
                <a:cs typeface="Inter"/>
                <a:sym typeface="Inter"/>
              </a:rPr>
              <a:t>03</a:t>
            </a:r>
            <a:endParaRPr b="0" i="0" sz="1000" u="none" cap="none" strike="noStrike">
              <a:solidFill>
                <a:schemeClr val="dk1"/>
              </a:solidFill>
              <a:latin typeface="Calibri"/>
              <a:ea typeface="Calibri"/>
              <a:cs typeface="Calibri"/>
              <a:sym typeface="Calibri"/>
            </a:endParaRPr>
          </a:p>
        </p:txBody>
      </p:sp>
      <p:sp>
        <p:nvSpPr>
          <p:cNvPr id="75" name="Google Shape;75;p4"/>
          <p:cNvSpPr/>
          <p:nvPr/>
        </p:nvSpPr>
        <p:spPr>
          <a:xfrm>
            <a:off x="6309360" y="1920240"/>
            <a:ext cx="23774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500"/>
              <a:buFont typeface="Inter"/>
              <a:buNone/>
            </a:pPr>
            <a:r>
              <a:rPr b="1" lang="en-US" sz="1500">
                <a:solidFill>
                  <a:srgbClr val="EDEEF0"/>
                </a:solidFill>
                <a:latin typeface="Inter"/>
                <a:ea typeface="Inter"/>
                <a:cs typeface="Inter"/>
                <a:sym typeface="Inter"/>
              </a:rPr>
              <a:t>The Timing</a:t>
            </a:r>
            <a:endParaRPr b="0" i="0" sz="1500" u="none" cap="none" strike="noStrike">
              <a:solidFill>
                <a:schemeClr val="dk1"/>
              </a:solidFill>
              <a:latin typeface="Calibri"/>
              <a:ea typeface="Calibri"/>
              <a:cs typeface="Calibri"/>
              <a:sym typeface="Calibri"/>
            </a:endParaRPr>
          </a:p>
        </p:txBody>
      </p:sp>
      <p:sp>
        <p:nvSpPr>
          <p:cNvPr id="76" name="Google Shape;76;p4"/>
          <p:cNvSpPr/>
          <p:nvPr/>
        </p:nvSpPr>
        <p:spPr>
          <a:xfrm>
            <a:off x="6309385" y="2468885"/>
            <a:ext cx="2377500" cy="21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1050"/>
              <a:buFont typeface="Inter"/>
              <a:buNone/>
            </a:pPr>
            <a:r>
              <a:rPr lang="en-US" sz="1050">
                <a:solidFill>
                  <a:srgbClr val="8A8F9A"/>
                </a:solidFill>
                <a:latin typeface="Inter"/>
                <a:ea typeface="Inter"/>
                <a:cs typeface="Inter"/>
                <a:sym typeface="Inter"/>
              </a:rPr>
              <a:t>Festive season is the biggest DTC gifting window of the year, and coffee is a natural fit. Launching a new store and building organic momentum before Q4 means Cape Coast Coffee can capitalise on seasonal demand rather than scrambling to catch up. The timeline is tight but achievable if we move decisively.</a:t>
            </a:r>
            <a:endParaRPr sz="1050">
              <a:solidFill>
                <a:srgbClr val="8A8F9A"/>
              </a:solidFill>
              <a:latin typeface="Inter"/>
              <a:ea typeface="Inter"/>
              <a:cs typeface="Inter"/>
              <a:sym typeface="Inter"/>
            </a:endParaRPr>
          </a:p>
        </p:txBody>
      </p:sp>
      <p:sp>
        <p:nvSpPr>
          <p:cNvPr id="77" name="Google Shape;77;p4"/>
          <p:cNvSpPr/>
          <p:nvPr/>
        </p:nvSpPr>
        <p:spPr>
          <a:xfrm>
            <a:off x="8412480" y="4828032"/>
            <a:ext cx="45720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F9A"/>
              </a:buClr>
              <a:buSzPts val="800"/>
              <a:buFont typeface="Inter"/>
              <a:buNone/>
            </a:pPr>
            <a:r>
              <a:rPr b="0" i="0" lang="en-US" sz="800" u="none" cap="none" strike="noStrike">
                <a:solidFill>
                  <a:srgbClr val="8A8F9A"/>
                </a:solidFill>
                <a:latin typeface="Inter"/>
                <a:ea typeface="Inter"/>
                <a:cs typeface="Inter"/>
                <a:sym typeface="Inter"/>
              </a:rPr>
              <a:t>04</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5"/>
        </a:solidFill>
      </p:bgPr>
    </p:bg>
    <p:spTree>
      <p:nvGrpSpPr>
        <p:cNvPr id="82" name="Shape 82"/>
        <p:cNvGrpSpPr/>
        <p:nvPr/>
      </p:nvGrpSpPr>
      <p:grpSpPr>
        <a:xfrm>
          <a:off x="0" y="0"/>
          <a:ext cx="0" cy="0"/>
          <a:chOff x="0" y="0"/>
          <a:chExt cx="0" cy="0"/>
        </a:xfrm>
      </p:grpSpPr>
      <p:sp>
        <p:nvSpPr>
          <p:cNvPr id="83" name="Google Shape;83;p6"/>
          <p:cNvSpPr/>
          <p:nvPr/>
        </p:nvSpPr>
        <p:spPr>
          <a:xfrm>
            <a:off x="548640" y="292608"/>
            <a:ext cx="45720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CHAPTER 02</a:t>
            </a:r>
            <a:endParaRPr b="0" i="0" sz="900" u="none" cap="none" strike="noStrike">
              <a:solidFill>
                <a:schemeClr val="dk1"/>
              </a:solidFill>
              <a:latin typeface="Calibri"/>
              <a:ea typeface="Calibri"/>
              <a:cs typeface="Calibri"/>
              <a:sym typeface="Calibri"/>
            </a:endParaRPr>
          </a:p>
        </p:txBody>
      </p:sp>
      <p:sp>
        <p:nvSpPr>
          <p:cNvPr id="84" name="Google Shape;84;p6"/>
          <p:cNvSpPr/>
          <p:nvPr/>
        </p:nvSpPr>
        <p:spPr>
          <a:xfrm>
            <a:off x="548640" y="502920"/>
            <a:ext cx="73152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EF0"/>
              </a:buClr>
              <a:buSzPts val="2400"/>
              <a:buFont typeface="Inter"/>
              <a:buNone/>
            </a:pPr>
            <a:r>
              <a:rPr b="1" lang="en-US" sz="2400">
                <a:solidFill>
                  <a:srgbClr val="EDEEF0"/>
                </a:solidFill>
                <a:latin typeface="Inter"/>
                <a:ea typeface="Inter"/>
                <a:cs typeface="Inter"/>
                <a:sym typeface="Inter"/>
              </a:rPr>
              <a:t>THE PLAN</a:t>
            </a:r>
            <a:endParaRPr b="0" i="0" sz="2400" u="none" cap="none" strike="noStrike">
              <a:solidFill>
                <a:schemeClr val="dk1"/>
              </a:solidFill>
              <a:latin typeface="Calibri"/>
              <a:ea typeface="Calibri"/>
              <a:cs typeface="Calibri"/>
              <a:sym typeface="Calibri"/>
            </a:endParaRPr>
          </a:p>
        </p:txBody>
      </p:sp>
      <p:sp>
        <p:nvSpPr>
          <p:cNvPr id="85" name="Google Shape;85;p6"/>
          <p:cNvSpPr/>
          <p:nvPr/>
        </p:nvSpPr>
        <p:spPr>
          <a:xfrm>
            <a:off x="365760" y="1188720"/>
            <a:ext cx="1609200" cy="361200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365760" y="1188720"/>
            <a:ext cx="1609344" cy="45720"/>
          </a:xfrm>
          <a:prstGeom prst="rect">
            <a:avLst/>
          </a:prstGeom>
          <a:solidFill>
            <a:srgbClr val="F7D046"/>
          </a:solidFill>
          <a:ln cap="flat" cmpd="sng" w="12700">
            <a:solidFill>
              <a:srgbClr val="F7D0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
          <p:cNvSpPr/>
          <p:nvPr/>
        </p:nvSpPr>
        <p:spPr>
          <a:xfrm>
            <a:off x="502920" y="1325880"/>
            <a:ext cx="457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b="1" i="0" lang="en-US" sz="1000" u="none" cap="none" strike="noStrike">
                <a:solidFill>
                  <a:srgbClr val="F7D046"/>
                </a:solidFill>
                <a:latin typeface="Inter"/>
                <a:ea typeface="Inter"/>
                <a:cs typeface="Inter"/>
                <a:sym typeface="Inter"/>
              </a:rPr>
              <a:t>01</a:t>
            </a:r>
            <a:endParaRPr b="0" i="0" sz="1000" u="none" cap="none" strike="noStrike">
              <a:solidFill>
                <a:schemeClr val="dk1"/>
              </a:solidFill>
              <a:latin typeface="Calibri"/>
              <a:ea typeface="Calibri"/>
              <a:cs typeface="Calibri"/>
              <a:sym typeface="Calibri"/>
            </a:endParaRPr>
          </a:p>
        </p:txBody>
      </p:sp>
      <p:sp>
        <p:nvSpPr>
          <p:cNvPr id="88" name="Google Shape;88;p6"/>
          <p:cNvSpPr/>
          <p:nvPr/>
        </p:nvSpPr>
        <p:spPr>
          <a:xfrm>
            <a:off x="502920" y="1664208"/>
            <a:ext cx="142646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300"/>
              <a:buFont typeface="Inter"/>
              <a:buNone/>
            </a:pPr>
            <a:r>
              <a:rPr b="1" lang="en-US" sz="1300">
                <a:solidFill>
                  <a:srgbClr val="EDEEF0"/>
                </a:solidFill>
                <a:latin typeface="Inter"/>
                <a:ea typeface="Inter"/>
                <a:cs typeface="Inter"/>
                <a:sym typeface="Inter"/>
              </a:rPr>
              <a:t>Audit &amp; Migration Planning</a:t>
            </a:r>
            <a:endParaRPr b="0" i="0" sz="1300" u="none" cap="none" strike="noStrike">
              <a:solidFill>
                <a:schemeClr val="dk1"/>
              </a:solidFill>
              <a:latin typeface="Calibri"/>
              <a:ea typeface="Calibri"/>
              <a:cs typeface="Calibri"/>
              <a:sym typeface="Calibri"/>
            </a:endParaRPr>
          </a:p>
        </p:txBody>
      </p:sp>
      <p:sp>
        <p:nvSpPr>
          <p:cNvPr id="89" name="Google Shape;89;p6"/>
          <p:cNvSpPr/>
          <p:nvPr/>
        </p:nvSpPr>
        <p:spPr>
          <a:xfrm>
            <a:off x="502920" y="2194560"/>
            <a:ext cx="142646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50"/>
              <a:buFont typeface="Inter"/>
              <a:buNone/>
            </a:pPr>
            <a:r>
              <a:rPr lang="en-US" sz="950">
                <a:solidFill>
                  <a:srgbClr val="8A8F9A"/>
                </a:solidFill>
                <a:latin typeface="Inter"/>
                <a:ea typeface="Inter"/>
                <a:cs typeface="Inter"/>
                <a:sym typeface="Inter"/>
              </a:rPr>
              <a:t>- Full WooCommerce site audit — products, customers, orders, integrations, URL structure
- SEO/AEO audit to baseline current organic performance and identify quick wins</a:t>
            </a:r>
            <a:endParaRPr b="0" i="0" sz="950" u="none" cap="none" strike="noStrike">
              <a:solidFill>
                <a:schemeClr val="dk1"/>
              </a:solidFill>
              <a:latin typeface="Calibri"/>
              <a:ea typeface="Calibri"/>
              <a:cs typeface="Calibri"/>
              <a:sym typeface="Calibri"/>
            </a:endParaRPr>
          </a:p>
        </p:txBody>
      </p:sp>
      <p:sp>
        <p:nvSpPr>
          <p:cNvPr id="90" name="Google Shape;90;p6"/>
          <p:cNvSpPr/>
          <p:nvPr/>
        </p:nvSpPr>
        <p:spPr>
          <a:xfrm>
            <a:off x="2066544" y="1188720"/>
            <a:ext cx="1609344" cy="361188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2066544" y="1188720"/>
            <a:ext cx="1609344" cy="45720"/>
          </a:xfrm>
          <a:prstGeom prst="rect">
            <a:avLst/>
          </a:prstGeom>
          <a:solidFill>
            <a:srgbClr val="2A2F3A"/>
          </a:solidFill>
          <a:ln cap="flat" cmpd="sng" w="12700">
            <a:solidFill>
              <a:srgbClr val="2A2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2203704" y="1325880"/>
            <a:ext cx="457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b="1" i="0" lang="en-US" sz="1000" u="none" cap="none" strike="noStrike">
                <a:solidFill>
                  <a:srgbClr val="F7D046"/>
                </a:solidFill>
                <a:latin typeface="Inter"/>
                <a:ea typeface="Inter"/>
                <a:cs typeface="Inter"/>
                <a:sym typeface="Inter"/>
              </a:rPr>
              <a:t>02</a:t>
            </a:r>
            <a:endParaRPr b="0" i="0" sz="1000" u="none" cap="none" strike="noStrike">
              <a:solidFill>
                <a:schemeClr val="dk1"/>
              </a:solidFill>
              <a:latin typeface="Calibri"/>
              <a:ea typeface="Calibri"/>
              <a:cs typeface="Calibri"/>
              <a:sym typeface="Calibri"/>
            </a:endParaRPr>
          </a:p>
        </p:txBody>
      </p:sp>
      <p:sp>
        <p:nvSpPr>
          <p:cNvPr id="93" name="Google Shape;93;p6"/>
          <p:cNvSpPr/>
          <p:nvPr/>
        </p:nvSpPr>
        <p:spPr>
          <a:xfrm>
            <a:off x="2203704" y="1664208"/>
            <a:ext cx="1426464" cy="38404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EDEEF0"/>
              </a:buClr>
              <a:buSzPts val="1300"/>
              <a:buFont typeface="Inter"/>
              <a:buNone/>
            </a:pPr>
            <a:r>
              <a:rPr b="1" lang="en-US" sz="1300">
                <a:solidFill>
                  <a:srgbClr val="EDEEF0"/>
                </a:solidFill>
                <a:latin typeface="Inter"/>
                <a:ea typeface="Inter"/>
                <a:cs typeface="Inter"/>
                <a:sym typeface="Inter"/>
              </a:rPr>
              <a:t>Store Build &amp; Data Migration</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EDEEF0"/>
              </a:buClr>
              <a:buSzPts val="1300"/>
              <a:buFont typeface="Inter"/>
              <a:buNone/>
            </a:pPr>
            <a:r>
              <a:t/>
            </a:r>
            <a:endParaRPr b="1" sz="1300">
              <a:solidFill>
                <a:srgbClr val="EDEEF0"/>
              </a:solidFill>
              <a:latin typeface="Inter"/>
              <a:ea typeface="Inter"/>
              <a:cs typeface="Inter"/>
              <a:sym typeface="Inter"/>
            </a:endParaRPr>
          </a:p>
        </p:txBody>
      </p:sp>
      <p:sp>
        <p:nvSpPr>
          <p:cNvPr id="94" name="Google Shape;94;p6"/>
          <p:cNvSpPr/>
          <p:nvPr/>
        </p:nvSpPr>
        <p:spPr>
          <a:xfrm>
            <a:off x="2203704" y="2194560"/>
            <a:ext cx="142646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50"/>
              <a:buFont typeface="Inter"/>
              <a:buNone/>
            </a:pPr>
            <a:r>
              <a:rPr lang="en-US" sz="950">
                <a:solidFill>
                  <a:srgbClr val="8A8F9A"/>
                </a:solidFill>
                <a:latin typeface="Inter"/>
                <a:ea typeface="Inter"/>
                <a:cs typeface="Inter"/>
                <a:sym typeface="Inter"/>
              </a:rPr>
              <a:t>- Shopify theme build with brand customisation, mobile-first responsive design, and full product migration from WooCommerce
- 301 redirect mapping to preserve all existing SEO equity during the migration</a:t>
            </a:r>
            <a:endParaRPr b="0" i="0" sz="950" u="none" cap="none" strike="noStrike">
              <a:solidFill>
                <a:schemeClr val="dk1"/>
              </a:solidFill>
              <a:latin typeface="Calibri"/>
              <a:ea typeface="Calibri"/>
              <a:cs typeface="Calibri"/>
              <a:sym typeface="Calibri"/>
            </a:endParaRPr>
          </a:p>
        </p:txBody>
      </p:sp>
      <p:sp>
        <p:nvSpPr>
          <p:cNvPr id="95" name="Google Shape;95;p6"/>
          <p:cNvSpPr/>
          <p:nvPr/>
        </p:nvSpPr>
        <p:spPr>
          <a:xfrm>
            <a:off x="3767328" y="1188720"/>
            <a:ext cx="1609344" cy="361188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3767328" y="1188720"/>
            <a:ext cx="1609344" cy="45720"/>
          </a:xfrm>
          <a:prstGeom prst="rect">
            <a:avLst/>
          </a:prstGeom>
          <a:solidFill>
            <a:srgbClr val="2A2F3A"/>
          </a:solidFill>
          <a:ln cap="flat" cmpd="sng" w="12700">
            <a:solidFill>
              <a:srgbClr val="2A2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3904488" y="1325880"/>
            <a:ext cx="457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b="1" i="0" lang="en-US" sz="1000" u="none" cap="none" strike="noStrike">
                <a:solidFill>
                  <a:srgbClr val="F7D046"/>
                </a:solidFill>
                <a:latin typeface="Inter"/>
                <a:ea typeface="Inter"/>
                <a:cs typeface="Inter"/>
                <a:sym typeface="Inter"/>
              </a:rPr>
              <a:t>03</a:t>
            </a:r>
            <a:endParaRPr b="0" i="0" sz="1000" u="none" cap="none" strike="noStrike">
              <a:solidFill>
                <a:schemeClr val="dk1"/>
              </a:solidFill>
              <a:latin typeface="Calibri"/>
              <a:ea typeface="Calibri"/>
              <a:cs typeface="Calibri"/>
              <a:sym typeface="Calibri"/>
            </a:endParaRPr>
          </a:p>
        </p:txBody>
      </p:sp>
      <p:sp>
        <p:nvSpPr>
          <p:cNvPr id="98" name="Google Shape;98;p6"/>
          <p:cNvSpPr/>
          <p:nvPr/>
        </p:nvSpPr>
        <p:spPr>
          <a:xfrm>
            <a:off x="3904488" y="1664208"/>
            <a:ext cx="1426464" cy="38404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EDEEF0"/>
              </a:buClr>
              <a:buSzPts val="1300"/>
              <a:buFont typeface="Inter"/>
              <a:buNone/>
            </a:pPr>
            <a:r>
              <a:rPr b="1" lang="en-US" sz="1300">
                <a:solidFill>
                  <a:srgbClr val="EDEEF0"/>
                </a:solidFill>
                <a:latin typeface="Inter"/>
                <a:ea typeface="Inter"/>
                <a:cs typeface="Inter"/>
                <a:sym typeface="Inter"/>
              </a:rPr>
              <a:t>Optimisation &amp; Configuration</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EDEEF0"/>
              </a:buClr>
              <a:buSzPts val="1300"/>
              <a:buFont typeface="Inter"/>
              <a:buNone/>
            </a:pPr>
            <a:r>
              <a:t/>
            </a:r>
            <a:endParaRPr b="1" sz="1300">
              <a:solidFill>
                <a:srgbClr val="EDEEF0"/>
              </a:solidFill>
              <a:latin typeface="Inter"/>
              <a:ea typeface="Inter"/>
              <a:cs typeface="Inter"/>
              <a:sym typeface="Inter"/>
            </a:endParaRPr>
          </a:p>
        </p:txBody>
      </p:sp>
      <p:sp>
        <p:nvSpPr>
          <p:cNvPr id="99" name="Google Shape;99;p6"/>
          <p:cNvSpPr/>
          <p:nvPr/>
        </p:nvSpPr>
        <p:spPr>
          <a:xfrm>
            <a:off x="3904488" y="2194560"/>
            <a:ext cx="142646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50"/>
              <a:buFont typeface="Inter"/>
              <a:buNone/>
            </a:pPr>
            <a:r>
              <a:rPr lang="en-US" sz="950">
                <a:solidFill>
                  <a:srgbClr val="8A8F9A"/>
                </a:solidFill>
                <a:latin typeface="Inter"/>
                <a:ea typeface="Inter"/>
                <a:cs typeface="Inter"/>
                <a:sym typeface="Inter"/>
              </a:rPr>
              <a:t>- Payment gateway setup (PayFast/Yoco), shipping configuration, checkout flow optimisation with trust signals and upsells
- On-page SEO foundations — metadata, schema markup, heading structure, alt tags across all migrated content</a:t>
            </a:r>
            <a:endParaRPr b="0" i="0" sz="950" u="none" cap="none" strike="noStrike">
              <a:solidFill>
                <a:schemeClr val="dk1"/>
              </a:solidFill>
              <a:latin typeface="Calibri"/>
              <a:ea typeface="Calibri"/>
              <a:cs typeface="Calibri"/>
              <a:sym typeface="Calibri"/>
            </a:endParaRPr>
          </a:p>
        </p:txBody>
      </p:sp>
      <p:sp>
        <p:nvSpPr>
          <p:cNvPr id="100" name="Google Shape;100;p6"/>
          <p:cNvSpPr/>
          <p:nvPr/>
        </p:nvSpPr>
        <p:spPr>
          <a:xfrm>
            <a:off x="5468112" y="1188720"/>
            <a:ext cx="1609344" cy="361188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5468112" y="1188720"/>
            <a:ext cx="1609344" cy="45720"/>
          </a:xfrm>
          <a:prstGeom prst="rect">
            <a:avLst/>
          </a:prstGeom>
          <a:solidFill>
            <a:srgbClr val="2A2F3A"/>
          </a:solidFill>
          <a:ln cap="flat" cmpd="sng" w="12700">
            <a:solidFill>
              <a:srgbClr val="2A2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5605272" y="1325880"/>
            <a:ext cx="457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b="1" i="0" lang="en-US" sz="1000" u="none" cap="none" strike="noStrike">
                <a:solidFill>
                  <a:srgbClr val="F7D046"/>
                </a:solidFill>
                <a:latin typeface="Inter"/>
                <a:ea typeface="Inter"/>
                <a:cs typeface="Inter"/>
                <a:sym typeface="Inter"/>
              </a:rPr>
              <a:t>04</a:t>
            </a:r>
            <a:endParaRPr b="0" i="0" sz="1000" u="none" cap="none" strike="noStrike">
              <a:solidFill>
                <a:schemeClr val="dk1"/>
              </a:solidFill>
              <a:latin typeface="Calibri"/>
              <a:ea typeface="Calibri"/>
              <a:cs typeface="Calibri"/>
              <a:sym typeface="Calibri"/>
            </a:endParaRPr>
          </a:p>
        </p:txBody>
      </p:sp>
      <p:sp>
        <p:nvSpPr>
          <p:cNvPr id="103" name="Google Shape;103;p6"/>
          <p:cNvSpPr/>
          <p:nvPr/>
        </p:nvSpPr>
        <p:spPr>
          <a:xfrm>
            <a:off x="5605272" y="1664208"/>
            <a:ext cx="1426464" cy="38404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EDEEF0"/>
              </a:buClr>
              <a:buSzPts val="1300"/>
              <a:buFont typeface="Inter"/>
              <a:buNone/>
            </a:pPr>
            <a:r>
              <a:rPr b="1" lang="en-US" sz="1300">
                <a:solidFill>
                  <a:srgbClr val="EDEEF0"/>
                </a:solidFill>
                <a:latin typeface="Inter"/>
                <a:ea typeface="Inter"/>
                <a:cs typeface="Inter"/>
                <a:sym typeface="Inter"/>
              </a:rPr>
              <a:t>QA, Launch &amp; Handover</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EDEEF0"/>
              </a:buClr>
              <a:buSzPts val="1300"/>
              <a:buFont typeface="Inter"/>
              <a:buNone/>
            </a:pPr>
            <a:r>
              <a:t/>
            </a:r>
            <a:endParaRPr b="1" sz="1300">
              <a:solidFill>
                <a:srgbClr val="EDEEF0"/>
              </a:solidFill>
              <a:latin typeface="Inter"/>
              <a:ea typeface="Inter"/>
              <a:cs typeface="Inter"/>
              <a:sym typeface="Inter"/>
            </a:endParaRPr>
          </a:p>
        </p:txBody>
      </p:sp>
      <p:sp>
        <p:nvSpPr>
          <p:cNvPr id="104" name="Google Shape;104;p6"/>
          <p:cNvSpPr/>
          <p:nvPr/>
        </p:nvSpPr>
        <p:spPr>
          <a:xfrm>
            <a:off x="5605272" y="2194560"/>
            <a:ext cx="142646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50"/>
              <a:buFont typeface="Inter"/>
              <a:buNone/>
            </a:pPr>
            <a:r>
              <a:rPr lang="en-US" sz="950">
                <a:solidFill>
                  <a:srgbClr val="8A8F9A"/>
                </a:solidFill>
                <a:latin typeface="Inter"/>
                <a:ea typeface="Inter"/>
                <a:cs typeface="Inter"/>
                <a:sym typeface="Inter"/>
              </a:rPr>
              <a:t>- Cross-browser and device testing, checkout simulation, page speed optimisation targeting 80+ PageSpeed Insights score
- DNS cutover, go-live, 48-hour post-launch monitoring, and full store handover to the Cape Coast Coffee team</a:t>
            </a:r>
            <a:endParaRPr b="0" i="0" sz="950" u="none" cap="none" strike="noStrike">
              <a:solidFill>
                <a:schemeClr val="dk1"/>
              </a:solidFill>
              <a:latin typeface="Calibri"/>
              <a:ea typeface="Calibri"/>
              <a:cs typeface="Calibri"/>
              <a:sym typeface="Calibri"/>
            </a:endParaRPr>
          </a:p>
        </p:txBody>
      </p:sp>
      <p:sp>
        <p:nvSpPr>
          <p:cNvPr id="105" name="Google Shape;105;p6"/>
          <p:cNvSpPr/>
          <p:nvPr/>
        </p:nvSpPr>
        <p:spPr>
          <a:xfrm>
            <a:off x="7168896" y="1188720"/>
            <a:ext cx="1609344" cy="361188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a:off x="7168896" y="1188720"/>
            <a:ext cx="1609344" cy="45720"/>
          </a:xfrm>
          <a:prstGeom prst="rect">
            <a:avLst/>
          </a:prstGeom>
          <a:solidFill>
            <a:srgbClr val="2A2F3A"/>
          </a:solidFill>
          <a:ln cap="flat" cmpd="sng" w="12700">
            <a:solidFill>
              <a:srgbClr val="2A2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
          <p:cNvSpPr/>
          <p:nvPr/>
        </p:nvSpPr>
        <p:spPr>
          <a:xfrm>
            <a:off x="7306056" y="1325880"/>
            <a:ext cx="457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b="1" i="0" lang="en-US" sz="1000" u="none" cap="none" strike="noStrike">
                <a:solidFill>
                  <a:srgbClr val="F7D046"/>
                </a:solidFill>
                <a:latin typeface="Inter"/>
                <a:ea typeface="Inter"/>
                <a:cs typeface="Inter"/>
                <a:sym typeface="Inter"/>
              </a:rPr>
              <a:t>05</a:t>
            </a:r>
            <a:endParaRPr b="0" i="0" sz="1000" u="none" cap="none" strike="noStrike">
              <a:solidFill>
                <a:schemeClr val="dk1"/>
              </a:solidFill>
              <a:latin typeface="Calibri"/>
              <a:ea typeface="Calibri"/>
              <a:cs typeface="Calibri"/>
              <a:sym typeface="Calibri"/>
            </a:endParaRPr>
          </a:p>
        </p:txBody>
      </p:sp>
      <p:sp>
        <p:nvSpPr>
          <p:cNvPr id="108" name="Google Shape;108;p6"/>
          <p:cNvSpPr/>
          <p:nvPr/>
        </p:nvSpPr>
        <p:spPr>
          <a:xfrm>
            <a:off x="7306056" y="1664208"/>
            <a:ext cx="1426464" cy="38404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EDEEF0"/>
              </a:buClr>
              <a:buSzPts val="1300"/>
              <a:buFont typeface="Inter"/>
              <a:buNone/>
            </a:pPr>
            <a:r>
              <a:rPr b="1" lang="en-US" sz="1300">
                <a:solidFill>
                  <a:srgbClr val="EDEEF0"/>
                </a:solidFill>
                <a:latin typeface="Inter"/>
                <a:ea typeface="Inter"/>
                <a:cs typeface="Inter"/>
                <a:sym typeface="Inter"/>
              </a:rPr>
              <a:t>Organic Growth Engine</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EDEEF0"/>
              </a:buClr>
              <a:buSzPts val="1300"/>
              <a:buFont typeface="Inter"/>
              <a:buNone/>
            </a:pPr>
            <a:r>
              <a:t/>
            </a:r>
            <a:endParaRPr b="1" sz="1300">
              <a:solidFill>
                <a:srgbClr val="EDEEF0"/>
              </a:solidFill>
              <a:latin typeface="Inter"/>
              <a:ea typeface="Inter"/>
              <a:cs typeface="Inter"/>
              <a:sym typeface="Inter"/>
            </a:endParaRPr>
          </a:p>
        </p:txBody>
      </p:sp>
      <p:sp>
        <p:nvSpPr>
          <p:cNvPr id="109" name="Google Shape;109;p6"/>
          <p:cNvSpPr/>
          <p:nvPr/>
        </p:nvSpPr>
        <p:spPr>
          <a:xfrm>
            <a:off x="7306056" y="2194560"/>
            <a:ext cx="142646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50"/>
              <a:buFont typeface="Inter"/>
              <a:buNone/>
            </a:pPr>
            <a:r>
              <a:rPr lang="en-US" sz="950">
                <a:solidFill>
                  <a:srgbClr val="8A8F9A"/>
                </a:solidFill>
                <a:latin typeface="Inter"/>
                <a:ea typeface="Inter"/>
                <a:cs typeface="Inter"/>
                <a:sym typeface="Inter"/>
              </a:rPr>
              <a:t>- Ongoing E-Commerce SEO Lite — 20 target keywords, product and collection page optimisation, 2 blogs/month, backlink building
- AEO layer with FAQ schemas, featured snippet targeting, and AI-friendly product descriptions to show up in ChatGPT and Google AI Overviews</a:t>
            </a:r>
            <a:endParaRPr b="0" i="0" sz="950" u="none" cap="none" strike="noStrike">
              <a:solidFill>
                <a:schemeClr val="dk1"/>
              </a:solidFill>
              <a:latin typeface="Calibri"/>
              <a:ea typeface="Calibri"/>
              <a:cs typeface="Calibri"/>
              <a:sym typeface="Calibri"/>
            </a:endParaRPr>
          </a:p>
        </p:txBody>
      </p:sp>
      <p:sp>
        <p:nvSpPr>
          <p:cNvPr id="110" name="Google Shape;110;p6"/>
          <p:cNvSpPr/>
          <p:nvPr/>
        </p:nvSpPr>
        <p:spPr>
          <a:xfrm>
            <a:off x="8412480" y="4828032"/>
            <a:ext cx="45720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F9A"/>
              </a:buClr>
              <a:buSzPts val="800"/>
              <a:buFont typeface="Inter"/>
              <a:buNone/>
            </a:pPr>
            <a:r>
              <a:rPr b="0" i="0" lang="en-US" sz="800" u="none" cap="none" strike="noStrike">
                <a:solidFill>
                  <a:srgbClr val="8A8F9A"/>
                </a:solidFill>
                <a:latin typeface="Inter"/>
                <a:ea typeface="Inter"/>
                <a:cs typeface="Inter"/>
                <a:sym typeface="Inter"/>
              </a:rPr>
              <a:t>06</a:t>
            </a:r>
            <a:endParaRPr b="0" i="0" sz="800" u="none" cap="none" strike="noStrike">
              <a:solidFill>
                <a:schemeClr val="dk1"/>
              </a:solidFill>
              <a:latin typeface="Calibri"/>
              <a:ea typeface="Calibri"/>
              <a:cs typeface="Calibri"/>
              <a:sym typeface="Calibri"/>
            </a:endParaRPr>
          </a:p>
        </p:txBody>
      </p:sp>
      <p:pic>
        <p:nvPicPr>
          <p:cNvPr id="111" name="Google Shape;111;p6"/>
          <p:cNvPicPr preferRelativeResize="0"/>
          <p:nvPr/>
        </p:nvPicPr>
        <p:blipFill rotWithShape="1">
          <a:blip r:embed="rId3">
            <a:alphaModFix/>
          </a:blip>
          <a:srcRect b="0" l="0" r="69966" t="0"/>
          <a:stretch/>
        </p:blipFill>
        <p:spPr>
          <a:xfrm>
            <a:off x="8091325" y="292600"/>
            <a:ext cx="641212" cy="53908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5"/>
        </a:solidFill>
      </p:bgPr>
    </p:bg>
    <p:spTree>
      <p:nvGrpSpPr>
        <p:cNvPr id="116" name="Shape 116"/>
        <p:cNvGrpSpPr/>
        <p:nvPr/>
      </p:nvGrpSpPr>
      <p:grpSpPr>
        <a:xfrm>
          <a:off x="0" y="0"/>
          <a:ext cx="0" cy="0"/>
          <a:chOff x="0" y="0"/>
          <a:chExt cx="0" cy="0"/>
        </a:xfrm>
      </p:grpSpPr>
      <p:sp>
        <p:nvSpPr>
          <p:cNvPr id="117" name="Google Shape;117;p7"/>
          <p:cNvSpPr/>
          <p:nvPr/>
        </p:nvSpPr>
        <p:spPr>
          <a:xfrm>
            <a:off x="548640" y="292608"/>
            <a:ext cx="45720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CHAPTER 02</a:t>
            </a:r>
            <a:endParaRPr b="0" i="0" sz="900" u="none" cap="none" strike="noStrike">
              <a:solidFill>
                <a:schemeClr val="dk1"/>
              </a:solidFill>
              <a:latin typeface="Calibri"/>
              <a:ea typeface="Calibri"/>
              <a:cs typeface="Calibri"/>
              <a:sym typeface="Calibri"/>
            </a:endParaRPr>
          </a:p>
        </p:txBody>
      </p:sp>
      <p:sp>
        <p:nvSpPr>
          <p:cNvPr id="118" name="Google Shape;118;p7"/>
          <p:cNvSpPr/>
          <p:nvPr/>
        </p:nvSpPr>
        <p:spPr>
          <a:xfrm>
            <a:off x="548640" y="502920"/>
            <a:ext cx="82296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EF0"/>
              </a:buClr>
              <a:buSzPts val="2400"/>
              <a:buFont typeface="Inter"/>
              <a:buNone/>
            </a:pPr>
            <a:r>
              <a:rPr b="1" i="0" lang="en-US" sz="2400" u="none" cap="none" strike="noStrike">
                <a:solidFill>
                  <a:srgbClr val="EDEEF0"/>
                </a:solidFill>
                <a:latin typeface="Inter"/>
                <a:ea typeface="Inter"/>
                <a:cs typeface="Inter"/>
                <a:sym typeface="Inter"/>
              </a:rPr>
              <a:t>Why Shopify. Why Honey Whale.</a:t>
            </a:r>
            <a:endParaRPr b="0" i="0" sz="2400" u="none" cap="none" strike="noStrike">
              <a:solidFill>
                <a:schemeClr val="dk1"/>
              </a:solidFill>
              <a:latin typeface="Calibri"/>
              <a:ea typeface="Calibri"/>
              <a:cs typeface="Calibri"/>
              <a:sym typeface="Calibri"/>
            </a:endParaRPr>
          </a:p>
        </p:txBody>
      </p:sp>
      <p:sp>
        <p:nvSpPr>
          <p:cNvPr id="119" name="Google Shape;119;p7"/>
          <p:cNvSpPr/>
          <p:nvPr/>
        </p:nvSpPr>
        <p:spPr>
          <a:xfrm>
            <a:off x="365760" y="1188720"/>
            <a:ext cx="4114800" cy="365760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594360" y="1371600"/>
            <a:ext cx="36576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500"/>
              <a:buFont typeface="Inter"/>
              <a:buNone/>
            </a:pPr>
            <a:r>
              <a:rPr b="1" i="0" lang="en-US" sz="1500" u="none" cap="none" strike="noStrike">
                <a:solidFill>
                  <a:srgbClr val="EDEEF0"/>
                </a:solidFill>
                <a:latin typeface="Inter"/>
                <a:ea typeface="Inter"/>
                <a:cs typeface="Inter"/>
                <a:sym typeface="Inter"/>
              </a:rPr>
              <a:t>Why Shopify</a:t>
            </a:r>
            <a:endParaRPr b="0" i="0" sz="1500" u="none" cap="none" strike="noStrike">
              <a:solidFill>
                <a:schemeClr val="dk1"/>
              </a:solidFill>
              <a:latin typeface="Calibri"/>
              <a:ea typeface="Calibri"/>
              <a:cs typeface="Calibri"/>
              <a:sym typeface="Calibri"/>
            </a:endParaRPr>
          </a:p>
        </p:txBody>
      </p:sp>
      <p:sp>
        <p:nvSpPr>
          <p:cNvPr id="121" name="Google Shape;121;p7"/>
          <p:cNvSpPr/>
          <p:nvPr/>
        </p:nvSpPr>
        <p:spPr>
          <a:xfrm>
            <a:off x="594360" y="1874520"/>
            <a:ext cx="365760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b="1" i="0" lang="en-US" sz="1000" u="none" cap="none" strike="noStrike">
                <a:solidFill>
                  <a:srgbClr val="F7D046"/>
                </a:solidFill>
                <a:latin typeface="Inter"/>
                <a:ea typeface="Inter"/>
                <a:cs typeface="Inter"/>
                <a:sym typeface="Inter"/>
              </a:rPr>
              <a:t>→  </a:t>
            </a:r>
            <a:r>
              <a:rPr b="0" i="0" lang="en-US" sz="1000" u="none" cap="none" strike="noStrike">
                <a:solidFill>
                  <a:srgbClr val="8A8F9A"/>
                </a:solidFill>
                <a:latin typeface="Inter"/>
                <a:ea typeface="Inter"/>
                <a:cs typeface="Inter"/>
                <a:sym typeface="Inter"/>
              </a:rPr>
              <a:t>Purpose-built for e-commerce. Payments, shipping, and inventory management are native </a:t>
            </a:r>
            <a:r>
              <a:rPr lang="en-US" sz="1000">
                <a:solidFill>
                  <a:srgbClr val="8A8F9A"/>
                </a:solidFill>
                <a:latin typeface="Inter"/>
                <a:ea typeface="Inter"/>
                <a:cs typeface="Inter"/>
                <a:sym typeface="Inter"/>
              </a:rPr>
              <a:t>-</a:t>
            </a:r>
            <a:r>
              <a:rPr b="0" i="0" lang="en-US" sz="1000" u="none" cap="none" strike="noStrike">
                <a:solidFill>
                  <a:srgbClr val="8A8F9A"/>
                </a:solidFill>
                <a:latin typeface="Inter"/>
                <a:ea typeface="Inter"/>
                <a:cs typeface="Inter"/>
                <a:sym typeface="Inter"/>
              </a:rPr>
              <a:t> not bolted on.</a:t>
            </a:r>
            <a:endParaRPr b="0" i="0" sz="1000" u="none" cap="none" strike="noStrike">
              <a:solidFill>
                <a:schemeClr val="dk1"/>
              </a:solidFill>
              <a:latin typeface="Calibri"/>
              <a:ea typeface="Calibri"/>
              <a:cs typeface="Calibri"/>
              <a:sym typeface="Calibri"/>
            </a:endParaRPr>
          </a:p>
        </p:txBody>
      </p:sp>
      <p:sp>
        <p:nvSpPr>
          <p:cNvPr id="122" name="Google Shape;122;p7"/>
          <p:cNvSpPr/>
          <p:nvPr/>
        </p:nvSpPr>
        <p:spPr>
          <a:xfrm>
            <a:off x="594360" y="2578608"/>
            <a:ext cx="365760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b="1" i="0" lang="en-US" sz="1000" u="none" cap="none" strike="noStrike">
                <a:solidFill>
                  <a:srgbClr val="F7D046"/>
                </a:solidFill>
                <a:latin typeface="Inter"/>
                <a:ea typeface="Inter"/>
                <a:cs typeface="Inter"/>
                <a:sym typeface="Inter"/>
              </a:rPr>
              <a:t>→  </a:t>
            </a:r>
            <a:r>
              <a:rPr b="0" i="0" lang="en-US" sz="1000" u="none" cap="none" strike="noStrike">
                <a:solidFill>
                  <a:srgbClr val="8A8F9A"/>
                </a:solidFill>
                <a:latin typeface="Inter"/>
                <a:ea typeface="Inter"/>
                <a:cs typeface="Inter"/>
                <a:sym typeface="Inter"/>
              </a:rPr>
              <a:t>Strong local payment support. PayFast, Peach Payments, and Yoco all integrate cleanly out of the box.</a:t>
            </a:r>
            <a:endParaRPr b="0" i="0" sz="1000" u="none" cap="none" strike="noStrike">
              <a:solidFill>
                <a:schemeClr val="dk1"/>
              </a:solidFill>
              <a:latin typeface="Calibri"/>
              <a:ea typeface="Calibri"/>
              <a:cs typeface="Calibri"/>
              <a:sym typeface="Calibri"/>
            </a:endParaRPr>
          </a:p>
        </p:txBody>
      </p:sp>
      <p:sp>
        <p:nvSpPr>
          <p:cNvPr id="123" name="Google Shape;123;p7"/>
          <p:cNvSpPr/>
          <p:nvPr/>
        </p:nvSpPr>
        <p:spPr>
          <a:xfrm>
            <a:off x="594360" y="3282696"/>
            <a:ext cx="365760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b="1" i="0" lang="en-US" sz="1000" u="none" cap="none" strike="noStrike">
                <a:solidFill>
                  <a:srgbClr val="F7D046"/>
                </a:solidFill>
                <a:latin typeface="Inter"/>
                <a:ea typeface="Inter"/>
                <a:cs typeface="Inter"/>
                <a:sym typeface="Inter"/>
              </a:rPr>
              <a:t>→  </a:t>
            </a:r>
            <a:r>
              <a:rPr b="0" i="0" lang="en-US" sz="1000" u="none" cap="none" strike="noStrike">
                <a:solidFill>
                  <a:srgbClr val="8A8F9A"/>
                </a:solidFill>
                <a:latin typeface="Inter"/>
                <a:ea typeface="Inter"/>
                <a:cs typeface="Inter"/>
                <a:sym typeface="Inter"/>
              </a:rPr>
              <a:t>BobGo and SA logistics apps connect directly via the Shopify App Store with no custom work needed.</a:t>
            </a:r>
            <a:endParaRPr b="0" i="0" sz="1000" u="none" cap="none" strike="noStrike">
              <a:solidFill>
                <a:schemeClr val="dk1"/>
              </a:solidFill>
              <a:latin typeface="Calibri"/>
              <a:ea typeface="Calibri"/>
              <a:cs typeface="Calibri"/>
              <a:sym typeface="Calibri"/>
            </a:endParaRPr>
          </a:p>
        </p:txBody>
      </p:sp>
      <p:sp>
        <p:nvSpPr>
          <p:cNvPr id="124" name="Google Shape;124;p7"/>
          <p:cNvSpPr/>
          <p:nvPr/>
        </p:nvSpPr>
        <p:spPr>
          <a:xfrm>
            <a:off x="594360" y="3986784"/>
            <a:ext cx="3657600" cy="6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b="1" i="0" lang="en-US" sz="1000" u="none" cap="none" strike="noStrike">
                <a:solidFill>
                  <a:srgbClr val="F7D046"/>
                </a:solidFill>
                <a:latin typeface="Inter"/>
                <a:ea typeface="Inter"/>
                <a:cs typeface="Inter"/>
                <a:sym typeface="Inter"/>
              </a:rPr>
              <a:t>→  </a:t>
            </a:r>
            <a:r>
              <a:rPr lang="en-US" sz="1000">
                <a:solidFill>
                  <a:srgbClr val="8A8F9A"/>
                </a:solidFill>
                <a:latin typeface="Inter"/>
                <a:ea typeface="Inter"/>
                <a:cs typeface="Inter"/>
                <a:sym typeface="Inter"/>
              </a:rPr>
              <a:t>Consistent platform across markets - reduces onboarding friction and long-term admin overhead.</a:t>
            </a:r>
            <a:endParaRPr b="0" i="0" sz="1000" u="none" cap="none" strike="noStrike">
              <a:solidFill>
                <a:schemeClr val="dk1"/>
              </a:solidFill>
              <a:latin typeface="Calibri"/>
              <a:ea typeface="Calibri"/>
              <a:cs typeface="Calibri"/>
              <a:sym typeface="Calibri"/>
            </a:endParaRPr>
          </a:p>
        </p:txBody>
      </p:sp>
      <p:sp>
        <p:nvSpPr>
          <p:cNvPr id="125" name="Google Shape;125;p7"/>
          <p:cNvSpPr/>
          <p:nvPr/>
        </p:nvSpPr>
        <p:spPr>
          <a:xfrm>
            <a:off x="4663440" y="1188720"/>
            <a:ext cx="4114800" cy="365760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
          <p:cNvSpPr/>
          <p:nvPr/>
        </p:nvSpPr>
        <p:spPr>
          <a:xfrm>
            <a:off x="4892040" y="1371600"/>
            <a:ext cx="36576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500"/>
              <a:buFont typeface="Inter"/>
              <a:buNone/>
            </a:pPr>
            <a:r>
              <a:rPr b="1" i="0" lang="en-US" sz="1500" u="none" cap="none" strike="noStrike">
                <a:solidFill>
                  <a:srgbClr val="EDEEF0"/>
                </a:solidFill>
                <a:latin typeface="Inter"/>
                <a:ea typeface="Inter"/>
                <a:cs typeface="Inter"/>
                <a:sym typeface="Inter"/>
              </a:rPr>
              <a:t>Why Honey Whale</a:t>
            </a:r>
            <a:endParaRPr b="0" i="0" sz="1500" u="none" cap="none" strike="noStrike">
              <a:solidFill>
                <a:schemeClr val="dk1"/>
              </a:solidFill>
              <a:latin typeface="Calibri"/>
              <a:ea typeface="Calibri"/>
              <a:cs typeface="Calibri"/>
              <a:sym typeface="Calibri"/>
            </a:endParaRPr>
          </a:p>
        </p:txBody>
      </p:sp>
      <p:sp>
        <p:nvSpPr>
          <p:cNvPr id="127" name="Google Shape;127;p7"/>
          <p:cNvSpPr/>
          <p:nvPr/>
        </p:nvSpPr>
        <p:spPr>
          <a:xfrm>
            <a:off x="4892040" y="1874520"/>
            <a:ext cx="365760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b="1" i="0" lang="en-US" sz="1000" u="none" cap="none" strike="noStrike">
                <a:solidFill>
                  <a:srgbClr val="F7D046"/>
                </a:solidFill>
                <a:latin typeface="Inter"/>
                <a:ea typeface="Inter"/>
                <a:cs typeface="Inter"/>
                <a:sym typeface="Inter"/>
              </a:rPr>
              <a:t>→  </a:t>
            </a:r>
            <a:r>
              <a:rPr b="0" i="0" lang="en-US" sz="1000" u="none" cap="none" strike="noStrike">
                <a:solidFill>
                  <a:srgbClr val="8A8F9A"/>
                </a:solidFill>
                <a:latin typeface="Inter"/>
                <a:ea typeface="Inter"/>
                <a:cs typeface="Inter"/>
                <a:sym typeface="Inter"/>
              </a:rPr>
              <a:t>Shopify-only. We don't split focus across platforms </a:t>
            </a:r>
            <a:r>
              <a:rPr lang="en-US" sz="1000">
                <a:solidFill>
                  <a:srgbClr val="8A8F9A"/>
                </a:solidFill>
                <a:latin typeface="Inter"/>
                <a:ea typeface="Inter"/>
                <a:cs typeface="Inter"/>
                <a:sym typeface="Inter"/>
              </a:rPr>
              <a:t>-</a:t>
            </a:r>
            <a:r>
              <a:rPr b="0" i="0" lang="en-US" sz="1000" u="none" cap="none" strike="noStrike">
                <a:solidFill>
                  <a:srgbClr val="8A8F9A"/>
                </a:solidFill>
                <a:latin typeface="Inter"/>
                <a:ea typeface="Inter"/>
                <a:cs typeface="Inter"/>
                <a:sym typeface="Inter"/>
              </a:rPr>
              <a:t> every build is grounded in Shopify 2.0 best practice.</a:t>
            </a:r>
            <a:endParaRPr b="0" i="0" sz="1000" u="none" cap="none" strike="noStrike">
              <a:solidFill>
                <a:schemeClr val="dk1"/>
              </a:solidFill>
              <a:latin typeface="Calibri"/>
              <a:ea typeface="Calibri"/>
              <a:cs typeface="Calibri"/>
              <a:sym typeface="Calibri"/>
            </a:endParaRPr>
          </a:p>
        </p:txBody>
      </p:sp>
      <p:sp>
        <p:nvSpPr>
          <p:cNvPr id="128" name="Google Shape;128;p7"/>
          <p:cNvSpPr/>
          <p:nvPr/>
        </p:nvSpPr>
        <p:spPr>
          <a:xfrm>
            <a:off x="4892040" y="2578608"/>
            <a:ext cx="365760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b="1" i="0" lang="en-US" sz="1000" u="none" cap="none" strike="noStrike">
                <a:solidFill>
                  <a:srgbClr val="F7D046"/>
                </a:solidFill>
                <a:latin typeface="Inter"/>
                <a:ea typeface="Inter"/>
                <a:cs typeface="Inter"/>
                <a:sym typeface="Inter"/>
              </a:rPr>
              <a:t>→  </a:t>
            </a:r>
            <a:r>
              <a:rPr b="0" i="0" lang="en-US" sz="1000" u="none" cap="none" strike="noStrike">
                <a:solidFill>
                  <a:srgbClr val="8A8F9A"/>
                </a:solidFill>
                <a:latin typeface="Inter"/>
                <a:ea typeface="Inter"/>
                <a:cs typeface="Inter"/>
                <a:sym typeface="Inter"/>
              </a:rPr>
              <a:t>South African team. We understand local payment behaviour, logistics constraints, and what makes SA shoppers convert.</a:t>
            </a:r>
            <a:endParaRPr b="0" i="0" sz="1000" u="none" cap="none" strike="noStrike">
              <a:solidFill>
                <a:schemeClr val="dk1"/>
              </a:solidFill>
              <a:latin typeface="Calibri"/>
              <a:ea typeface="Calibri"/>
              <a:cs typeface="Calibri"/>
              <a:sym typeface="Calibri"/>
            </a:endParaRPr>
          </a:p>
        </p:txBody>
      </p:sp>
      <p:sp>
        <p:nvSpPr>
          <p:cNvPr id="129" name="Google Shape;129;p7"/>
          <p:cNvSpPr/>
          <p:nvPr/>
        </p:nvSpPr>
        <p:spPr>
          <a:xfrm>
            <a:off x="4892040" y="3282696"/>
            <a:ext cx="365760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b="1" i="0" lang="en-US" sz="1000" u="none" cap="none" strike="noStrike">
                <a:solidFill>
                  <a:srgbClr val="F7D046"/>
                </a:solidFill>
                <a:latin typeface="Inter"/>
                <a:ea typeface="Inter"/>
                <a:cs typeface="Inter"/>
                <a:sym typeface="Inter"/>
              </a:rPr>
              <a:t>→  </a:t>
            </a:r>
            <a:r>
              <a:rPr b="0" i="0" lang="en-US" sz="1000" u="none" cap="none" strike="noStrike">
                <a:solidFill>
                  <a:srgbClr val="8A8F9A"/>
                </a:solidFill>
                <a:latin typeface="Inter"/>
                <a:ea typeface="Inter"/>
                <a:cs typeface="Inter"/>
                <a:sym typeface="Inter"/>
              </a:rPr>
              <a:t>Clean handovers. We build for your team, not for ourselves </a:t>
            </a:r>
            <a:r>
              <a:rPr lang="en-US" sz="1000">
                <a:solidFill>
                  <a:srgbClr val="8A8F9A"/>
                </a:solidFill>
                <a:latin typeface="Inter"/>
                <a:ea typeface="Inter"/>
                <a:cs typeface="Inter"/>
                <a:sym typeface="Inter"/>
              </a:rPr>
              <a:t>-</a:t>
            </a:r>
            <a:r>
              <a:rPr b="0" i="0" lang="en-US" sz="1000" u="none" cap="none" strike="noStrike">
                <a:solidFill>
                  <a:srgbClr val="8A8F9A"/>
                </a:solidFill>
                <a:latin typeface="Inter"/>
                <a:ea typeface="Inter"/>
                <a:cs typeface="Inter"/>
                <a:sym typeface="Inter"/>
              </a:rPr>
              <a:t> the CMS is set up so non-technical staff can manage products and content.</a:t>
            </a:r>
            <a:endParaRPr b="0" i="0" sz="1000" u="none" cap="none" strike="noStrike">
              <a:solidFill>
                <a:schemeClr val="dk1"/>
              </a:solidFill>
              <a:latin typeface="Calibri"/>
              <a:ea typeface="Calibri"/>
              <a:cs typeface="Calibri"/>
              <a:sym typeface="Calibri"/>
            </a:endParaRPr>
          </a:p>
        </p:txBody>
      </p:sp>
      <p:sp>
        <p:nvSpPr>
          <p:cNvPr id="130" name="Google Shape;130;p7"/>
          <p:cNvSpPr/>
          <p:nvPr/>
        </p:nvSpPr>
        <p:spPr>
          <a:xfrm>
            <a:off x="4892040" y="3986784"/>
            <a:ext cx="365760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b="1" i="0" lang="en-US" sz="1000" u="none" cap="none" strike="noStrike">
                <a:solidFill>
                  <a:srgbClr val="F7D046"/>
                </a:solidFill>
                <a:latin typeface="Inter"/>
                <a:ea typeface="Inter"/>
                <a:cs typeface="Inter"/>
                <a:sym typeface="Inter"/>
              </a:rPr>
              <a:t>→  </a:t>
            </a:r>
            <a:r>
              <a:rPr b="0" i="0" lang="en-US" sz="1000" u="none" cap="none" strike="noStrike">
                <a:solidFill>
                  <a:srgbClr val="8A8F9A"/>
                </a:solidFill>
                <a:latin typeface="Inter"/>
                <a:ea typeface="Inter"/>
                <a:cs typeface="Inter"/>
                <a:sym typeface="Inter"/>
              </a:rPr>
              <a:t>Post-launch support built in. You don't go dark after go-live.</a:t>
            </a:r>
            <a:endParaRPr b="0" i="0" sz="1000" u="none" cap="none" strike="noStrike">
              <a:solidFill>
                <a:schemeClr val="dk1"/>
              </a:solidFill>
              <a:latin typeface="Calibri"/>
              <a:ea typeface="Calibri"/>
              <a:cs typeface="Calibri"/>
              <a:sym typeface="Calibri"/>
            </a:endParaRPr>
          </a:p>
        </p:txBody>
      </p:sp>
      <p:sp>
        <p:nvSpPr>
          <p:cNvPr id="131" name="Google Shape;131;p7"/>
          <p:cNvSpPr/>
          <p:nvPr/>
        </p:nvSpPr>
        <p:spPr>
          <a:xfrm>
            <a:off x="8412480" y="4828032"/>
            <a:ext cx="45720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F9A"/>
              </a:buClr>
              <a:buSzPts val="800"/>
              <a:buFont typeface="Inter"/>
              <a:buNone/>
            </a:pPr>
            <a:r>
              <a:rPr b="0" i="0" lang="en-US" sz="800" u="none" cap="none" strike="noStrike">
                <a:solidFill>
                  <a:srgbClr val="8A8F9A"/>
                </a:solidFill>
                <a:latin typeface="Inter"/>
                <a:ea typeface="Inter"/>
                <a:cs typeface="Inter"/>
                <a:sym typeface="Inter"/>
              </a:rPr>
              <a:t>07</a:t>
            </a:r>
            <a:endParaRPr b="0" i="0" sz="800" u="none" cap="none" strike="noStrike">
              <a:solidFill>
                <a:schemeClr val="dk1"/>
              </a:solidFill>
              <a:latin typeface="Calibri"/>
              <a:ea typeface="Calibri"/>
              <a:cs typeface="Calibri"/>
              <a:sym typeface="Calibri"/>
            </a:endParaRPr>
          </a:p>
        </p:txBody>
      </p:sp>
      <p:pic>
        <p:nvPicPr>
          <p:cNvPr id="132" name="Google Shape;132;p7"/>
          <p:cNvPicPr preferRelativeResize="0"/>
          <p:nvPr/>
        </p:nvPicPr>
        <p:blipFill rotWithShape="1">
          <a:blip r:embed="rId3">
            <a:alphaModFix/>
          </a:blip>
          <a:srcRect b="0" l="0" r="69966" t="0"/>
          <a:stretch/>
        </p:blipFill>
        <p:spPr>
          <a:xfrm>
            <a:off x="8091325" y="292600"/>
            <a:ext cx="641212" cy="53908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5"/>
        </a:solidFill>
      </p:bgPr>
    </p:bg>
    <p:spTree>
      <p:nvGrpSpPr>
        <p:cNvPr id="137" name="Shape 137"/>
        <p:cNvGrpSpPr/>
        <p:nvPr/>
      </p:nvGrpSpPr>
      <p:grpSpPr>
        <a:xfrm>
          <a:off x="0" y="0"/>
          <a:ext cx="0" cy="0"/>
          <a:chOff x="0" y="0"/>
          <a:chExt cx="0" cy="0"/>
        </a:xfrm>
      </p:grpSpPr>
      <p:sp>
        <p:nvSpPr>
          <p:cNvPr id="138" name="Google Shape;138;p8"/>
          <p:cNvSpPr/>
          <p:nvPr/>
        </p:nvSpPr>
        <p:spPr>
          <a:xfrm>
            <a:off x="548640" y="292608"/>
            <a:ext cx="45720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CHAPTER 03</a:t>
            </a:r>
            <a:endParaRPr b="0" i="0" sz="900" u="none" cap="none" strike="noStrike">
              <a:solidFill>
                <a:schemeClr val="dk1"/>
              </a:solidFill>
              <a:latin typeface="Calibri"/>
              <a:ea typeface="Calibri"/>
              <a:cs typeface="Calibri"/>
              <a:sym typeface="Calibri"/>
            </a:endParaRPr>
          </a:p>
        </p:txBody>
      </p:sp>
      <p:sp>
        <p:nvSpPr>
          <p:cNvPr id="139" name="Google Shape;139;p8"/>
          <p:cNvSpPr/>
          <p:nvPr/>
        </p:nvSpPr>
        <p:spPr>
          <a:xfrm>
            <a:off x="548640" y="685800"/>
            <a:ext cx="8229600" cy="182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EF0"/>
              </a:buClr>
              <a:buSzPts val="5200"/>
              <a:buFont typeface="Inter"/>
              <a:buNone/>
            </a:pPr>
            <a:r>
              <a:rPr b="1" i="0" lang="en-US" sz="5200" u="none" cap="none" strike="noStrike">
                <a:solidFill>
                  <a:srgbClr val="EDEEF0"/>
                </a:solidFill>
                <a:latin typeface="Inter"/>
                <a:ea typeface="Inter"/>
                <a:cs typeface="Inter"/>
                <a:sym typeface="Inter"/>
              </a:rPr>
              <a:t>What It</a:t>
            </a:r>
            <a:endParaRPr b="0" i="0" sz="5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DEEF0"/>
              </a:buClr>
              <a:buSzPts val="5200"/>
              <a:buFont typeface="Inter"/>
              <a:buNone/>
            </a:pPr>
            <a:r>
              <a:rPr b="1" i="0" lang="en-US" sz="5200" u="none" cap="none" strike="noStrike">
                <a:solidFill>
                  <a:srgbClr val="EDEEF0"/>
                </a:solidFill>
                <a:latin typeface="Inter"/>
                <a:ea typeface="Inter"/>
                <a:cs typeface="Inter"/>
                <a:sym typeface="Inter"/>
              </a:rPr>
              <a:t>Costs</a:t>
            </a:r>
            <a:endParaRPr b="0" i="0" sz="5200" u="none" cap="none" strike="noStrike">
              <a:solidFill>
                <a:schemeClr val="dk1"/>
              </a:solidFill>
              <a:latin typeface="Calibri"/>
              <a:ea typeface="Calibri"/>
              <a:cs typeface="Calibri"/>
              <a:sym typeface="Calibri"/>
            </a:endParaRPr>
          </a:p>
        </p:txBody>
      </p:sp>
      <p:sp>
        <p:nvSpPr>
          <p:cNvPr id="140" name="Google Shape;140;p8"/>
          <p:cNvSpPr/>
          <p:nvPr/>
        </p:nvSpPr>
        <p:spPr>
          <a:xfrm>
            <a:off x="548640" y="2697480"/>
            <a:ext cx="6858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F9A"/>
              </a:buClr>
              <a:buSzPts val="1400"/>
              <a:buFont typeface="Inter"/>
              <a:buNone/>
            </a:pPr>
            <a:r>
              <a:rPr b="0" i="0" lang="en-US" sz="1400" u="none" cap="none" strike="noStrike">
                <a:solidFill>
                  <a:srgbClr val="8A8F9A"/>
                </a:solidFill>
                <a:latin typeface="Inter"/>
                <a:ea typeface="Inter"/>
                <a:cs typeface="Inter"/>
                <a:sym typeface="Inter"/>
              </a:rPr>
              <a:t>Transparent pricing. Real services. No surprises.</a:t>
            </a:r>
            <a:endParaRPr b="0" i="0" sz="1400" u="none" cap="none" strike="noStrike">
              <a:solidFill>
                <a:schemeClr val="dk1"/>
              </a:solidFill>
              <a:latin typeface="Calibri"/>
              <a:ea typeface="Calibri"/>
              <a:cs typeface="Calibri"/>
              <a:sym typeface="Calibri"/>
            </a:endParaRPr>
          </a:p>
        </p:txBody>
      </p:sp>
      <p:sp>
        <p:nvSpPr>
          <p:cNvPr id="141" name="Google Shape;141;p8"/>
          <p:cNvSpPr/>
          <p:nvPr/>
        </p:nvSpPr>
        <p:spPr>
          <a:xfrm>
            <a:off x="8412480" y="4828032"/>
            <a:ext cx="45720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F9A"/>
              </a:buClr>
              <a:buSzPts val="800"/>
              <a:buFont typeface="Inter"/>
              <a:buNone/>
            </a:pPr>
            <a:r>
              <a:rPr b="0" i="0" lang="en-US" sz="800" u="none" cap="none" strike="noStrike">
                <a:solidFill>
                  <a:srgbClr val="8A8F9A"/>
                </a:solidFill>
                <a:latin typeface="Inter"/>
                <a:ea typeface="Inter"/>
                <a:cs typeface="Inter"/>
                <a:sym typeface="Inter"/>
              </a:rPr>
              <a:t>08</a:t>
            </a:r>
            <a:endParaRPr b="0" i="0" sz="800" u="none" cap="none" strike="noStrike">
              <a:solidFill>
                <a:schemeClr val="dk1"/>
              </a:solidFill>
              <a:latin typeface="Calibri"/>
              <a:ea typeface="Calibri"/>
              <a:cs typeface="Calibri"/>
              <a:sym typeface="Calibri"/>
            </a:endParaRPr>
          </a:p>
        </p:txBody>
      </p:sp>
      <p:pic>
        <p:nvPicPr>
          <p:cNvPr id="142" name="Google Shape;142;p8"/>
          <p:cNvPicPr preferRelativeResize="0"/>
          <p:nvPr/>
        </p:nvPicPr>
        <p:blipFill rotWithShape="1">
          <a:blip r:embed="rId3">
            <a:alphaModFix/>
          </a:blip>
          <a:srcRect b="0" l="0" r="69966" t="0"/>
          <a:stretch/>
        </p:blipFill>
        <p:spPr>
          <a:xfrm>
            <a:off x="8091325" y="292600"/>
            <a:ext cx="641212" cy="53908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5"/>
        </a:solidFill>
      </p:bgPr>
    </p:bg>
    <p:spTree>
      <p:nvGrpSpPr>
        <p:cNvPr id="147" name="Shape 147"/>
        <p:cNvGrpSpPr/>
        <p:nvPr/>
      </p:nvGrpSpPr>
      <p:grpSpPr>
        <a:xfrm>
          <a:off x="0" y="0"/>
          <a:ext cx="0" cy="0"/>
          <a:chOff x="0" y="0"/>
          <a:chExt cx="0" cy="0"/>
        </a:xfrm>
      </p:grpSpPr>
      <p:sp>
        <p:nvSpPr>
          <p:cNvPr id="148" name="Google Shape;148;p9"/>
          <p:cNvSpPr/>
          <p:nvPr/>
        </p:nvSpPr>
        <p:spPr>
          <a:xfrm>
            <a:off x="548640" y="292608"/>
            <a:ext cx="45720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CHAPTER 03</a:t>
            </a:r>
            <a:endParaRPr b="0" i="0" sz="900" u="none" cap="none" strike="noStrike">
              <a:solidFill>
                <a:schemeClr val="dk1"/>
              </a:solidFill>
              <a:latin typeface="Calibri"/>
              <a:ea typeface="Calibri"/>
              <a:cs typeface="Calibri"/>
              <a:sym typeface="Calibri"/>
            </a:endParaRPr>
          </a:p>
        </p:txBody>
      </p:sp>
      <p:sp>
        <p:nvSpPr>
          <p:cNvPr id="149" name="Google Shape;149;p9"/>
          <p:cNvSpPr/>
          <p:nvPr/>
        </p:nvSpPr>
        <p:spPr>
          <a:xfrm>
            <a:off x="548640" y="502920"/>
            <a:ext cx="73152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EF0"/>
              </a:buClr>
              <a:buSzPts val="2400"/>
              <a:buFont typeface="Inter"/>
              <a:buNone/>
            </a:pPr>
            <a:r>
              <a:rPr b="1" i="0" lang="en-US" sz="2400" u="none" cap="none" strike="noStrike">
                <a:solidFill>
                  <a:srgbClr val="EDEEF0"/>
                </a:solidFill>
                <a:latin typeface="Inter"/>
                <a:ea typeface="Inter"/>
                <a:cs typeface="Inter"/>
                <a:sym typeface="Inter"/>
              </a:rPr>
              <a:t>Your investment</a:t>
            </a:r>
            <a:endParaRPr b="0" i="0" sz="2400" u="none" cap="none" strike="noStrike">
              <a:solidFill>
                <a:schemeClr val="dk1"/>
              </a:solidFill>
              <a:latin typeface="Calibri"/>
              <a:ea typeface="Calibri"/>
              <a:cs typeface="Calibri"/>
              <a:sym typeface="Calibri"/>
            </a:endParaRPr>
          </a:p>
        </p:txBody>
      </p:sp>
      <p:sp>
        <p:nvSpPr>
          <p:cNvPr id="150" name="Google Shape;150;p9"/>
          <p:cNvSpPr/>
          <p:nvPr/>
        </p:nvSpPr>
        <p:spPr>
          <a:xfrm>
            <a:off x="548640" y="1005840"/>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F9A"/>
              </a:buClr>
              <a:buSzPts val="950"/>
              <a:buFont typeface="Inter"/>
              <a:buNone/>
            </a:pPr>
            <a:r>
              <a:rPr b="0" i="0" lang="en-US" sz="950" u="none" cap="none" strike="noStrike">
                <a:solidFill>
                  <a:srgbClr val="8A8F9A"/>
                </a:solidFill>
                <a:latin typeface="Inter"/>
                <a:ea typeface="Inter"/>
                <a:cs typeface="Inter"/>
                <a:sym typeface="Inter"/>
              </a:rPr>
              <a:t>All prices exclude VAT (15%).  Payment terms: 50% upfront  ·  30% at milestone  ·  20% on completion.</a:t>
            </a:r>
            <a:endParaRPr b="0" i="0" sz="950" u="none" cap="none" strike="noStrike">
              <a:solidFill>
                <a:schemeClr val="dk1"/>
              </a:solidFill>
              <a:latin typeface="Calibri"/>
              <a:ea typeface="Calibri"/>
              <a:cs typeface="Calibri"/>
              <a:sym typeface="Calibri"/>
            </a:endParaRPr>
          </a:p>
        </p:txBody>
      </p:sp>
      <p:sp>
        <p:nvSpPr>
          <p:cNvPr id="151" name="Google Shape;151;p9"/>
          <p:cNvSpPr/>
          <p:nvPr/>
        </p:nvSpPr>
        <p:spPr>
          <a:xfrm>
            <a:off x="365760" y="1694688"/>
            <a:ext cx="8412600" cy="777300"/>
          </a:xfrm>
          <a:prstGeom prst="rect">
            <a:avLst/>
          </a:prstGeom>
          <a:solidFill>
            <a:srgbClr val="21262F"/>
          </a:solidFill>
          <a:ln cap="flat" cmpd="sng" w="12700">
            <a:solidFill>
              <a:srgbClr val="2126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
          <p:cNvSpPr/>
          <p:nvPr/>
        </p:nvSpPr>
        <p:spPr>
          <a:xfrm>
            <a:off x="365760" y="1694688"/>
            <a:ext cx="45600" cy="777300"/>
          </a:xfrm>
          <a:prstGeom prst="rect">
            <a:avLst/>
          </a:prstGeom>
          <a:solidFill>
            <a:srgbClr val="F7D046"/>
          </a:solidFill>
          <a:ln cap="flat" cmpd="sng" w="12700">
            <a:solidFill>
              <a:srgbClr val="F7D0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9"/>
          <p:cNvSpPr/>
          <p:nvPr/>
        </p:nvSpPr>
        <p:spPr>
          <a:xfrm>
            <a:off x="594360" y="1786128"/>
            <a:ext cx="5760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300"/>
              <a:buFont typeface="Inter"/>
              <a:buNone/>
            </a:pPr>
            <a:r>
              <a:rPr b="1" lang="en-US" sz="1300">
                <a:solidFill>
                  <a:srgbClr val="EDEEF0"/>
                </a:solidFill>
                <a:latin typeface="Inter"/>
                <a:ea typeface="Inter"/>
                <a:cs typeface="Inter"/>
                <a:sym typeface="Inter"/>
              </a:rPr>
              <a:t>WooCommerce → Shopify Migration (Small)</a:t>
            </a:r>
            <a:endParaRPr b="0" i="0" sz="1300" u="none" cap="none" strike="noStrike">
              <a:solidFill>
                <a:schemeClr val="dk1"/>
              </a:solidFill>
              <a:latin typeface="Calibri"/>
              <a:ea typeface="Calibri"/>
              <a:cs typeface="Calibri"/>
              <a:sym typeface="Calibri"/>
            </a:endParaRPr>
          </a:p>
        </p:txBody>
      </p:sp>
      <p:sp>
        <p:nvSpPr>
          <p:cNvPr id="154" name="Google Shape;154;p9"/>
          <p:cNvSpPr/>
          <p:nvPr/>
        </p:nvSpPr>
        <p:spPr>
          <a:xfrm>
            <a:off x="594360" y="2133600"/>
            <a:ext cx="5760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850"/>
              <a:buFont typeface="Inter"/>
              <a:buNone/>
            </a:pPr>
            <a:r>
              <a:rPr lang="en-US" sz="850">
                <a:solidFill>
                  <a:srgbClr val="8A8F9A"/>
                </a:solidFill>
                <a:latin typeface="Inter"/>
                <a:ea typeface="Inter"/>
                <a:cs typeface="Inter"/>
                <a:sym typeface="Inter"/>
              </a:rPr>
              <a:t>Full WooCommerce migration, Shopify theme build, product/customer/order migration, 301 redirects, payment &amp; shipping config, QA &amp; launch</a:t>
            </a:r>
            <a:endParaRPr b="0" i="0" sz="850" u="none" cap="none" strike="noStrike">
              <a:solidFill>
                <a:schemeClr val="dk1"/>
              </a:solidFill>
              <a:latin typeface="Calibri"/>
              <a:ea typeface="Calibri"/>
              <a:cs typeface="Calibri"/>
              <a:sym typeface="Calibri"/>
            </a:endParaRPr>
          </a:p>
        </p:txBody>
      </p:sp>
      <p:sp>
        <p:nvSpPr>
          <p:cNvPr id="155" name="Google Shape;155;p9"/>
          <p:cNvSpPr/>
          <p:nvPr/>
        </p:nvSpPr>
        <p:spPr>
          <a:xfrm>
            <a:off x="6209274" y="1850125"/>
            <a:ext cx="2386200" cy="347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7D046"/>
              </a:buClr>
              <a:buSzPts val="1500"/>
              <a:buFont typeface="Inter"/>
              <a:buNone/>
            </a:pPr>
            <a:r>
              <a:rPr b="1" lang="en-US" sz="1500">
                <a:solidFill>
                  <a:srgbClr val="F7D046"/>
                </a:solidFill>
                <a:latin typeface="Inter"/>
                <a:ea typeface="Inter"/>
                <a:cs typeface="Inter"/>
                <a:sym typeface="Inter"/>
              </a:rPr>
              <a:t>R58,000</a:t>
            </a:r>
            <a:endParaRPr b="0" i="0" sz="1500" u="none" cap="none" strike="noStrike">
              <a:solidFill>
                <a:schemeClr val="dk1"/>
              </a:solidFill>
              <a:latin typeface="Calibri"/>
              <a:ea typeface="Calibri"/>
              <a:cs typeface="Calibri"/>
              <a:sym typeface="Calibri"/>
            </a:endParaRPr>
          </a:p>
        </p:txBody>
      </p:sp>
      <p:sp>
        <p:nvSpPr>
          <p:cNvPr id="156" name="Google Shape;156;p9"/>
          <p:cNvSpPr/>
          <p:nvPr/>
        </p:nvSpPr>
        <p:spPr>
          <a:xfrm>
            <a:off x="365760" y="2572512"/>
            <a:ext cx="8412600" cy="658500"/>
          </a:xfrm>
          <a:prstGeom prst="rect">
            <a:avLst/>
          </a:prstGeom>
          <a:solidFill>
            <a:srgbClr val="F7D046"/>
          </a:solidFill>
          <a:ln cap="flat" cmpd="sng" w="12700">
            <a:solidFill>
              <a:srgbClr val="F7D0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9"/>
          <p:cNvSpPr/>
          <p:nvPr/>
        </p:nvSpPr>
        <p:spPr>
          <a:xfrm>
            <a:off x="594360" y="2636520"/>
            <a:ext cx="50292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115"/>
              </a:buClr>
              <a:buSzPts val="1200"/>
              <a:buFont typeface="Inter"/>
              <a:buNone/>
            </a:pPr>
            <a:r>
              <a:rPr b="1" i="0" lang="en-US" sz="1200" u="none" cap="none" strike="noStrike">
                <a:solidFill>
                  <a:srgbClr val="0F1115"/>
                </a:solidFill>
                <a:latin typeface="Inter"/>
                <a:ea typeface="Inter"/>
                <a:cs typeface="Inter"/>
                <a:sym typeface="Inter"/>
              </a:rPr>
              <a:t>Total Investment (excl. VAT &amp; theme)</a:t>
            </a:r>
            <a:endParaRPr b="0" i="0" sz="1200" u="none" cap="none" strike="noStrike">
              <a:solidFill>
                <a:schemeClr val="dk1"/>
              </a:solidFill>
              <a:latin typeface="Calibri"/>
              <a:ea typeface="Calibri"/>
              <a:cs typeface="Calibri"/>
              <a:sym typeface="Calibri"/>
            </a:endParaRPr>
          </a:p>
        </p:txBody>
      </p:sp>
      <p:sp>
        <p:nvSpPr>
          <p:cNvPr id="158" name="Google Shape;158;p9"/>
          <p:cNvSpPr/>
          <p:nvPr/>
        </p:nvSpPr>
        <p:spPr>
          <a:xfrm>
            <a:off x="5669280" y="2636520"/>
            <a:ext cx="2926200" cy="384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F1115"/>
              </a:buClr>
              <a:buSzPts val="1700"/>
              <a:buFont typeface="Inter"/>
              <a:buNone/>
            </a:pPr>
            <a:r>
              <a:rPr b="1" lang="en-US" sz="1700">
                <a:solidFill>
                  <a:srgbClr val="0F1115"/>
                </a:solidFill>
                <a:latin typeface="Inter"/>
                <a:ea typeface="Inter"/>
                <a:cs typeface="Inter"/>
                <a:sym typeface="Inter"/>
              </a:rPr>
              <a:t>R58,000 once-off + R12,500/month (SEO)</a:t>
            </a:r>
            <a:endParaRPr b="0" i="0" sz="1700" u="none" cap="none" strike="noStrike">
              <a:solidFill>
                <a:schemeClr val="dk1"/>
              </a:solidFill>
              <a:latin typeface="Calibri"/>
              <a:ea typeface="Calibri"/>
              <a:cs typeface="Calibri"/>
              <a:sym typeface="Calibri"/>
            </a:endParaRPr>
          </a:p>
        </p:txBody>
      </p:sp>
      <p:pic>
        <p:nvPicPr>
          <p:cNvPr id="159" name="Google Shape;159;p9"/>
          <p:cNvPicPr preferRelativeResize="0"/>
          <p:nvPr/>
        </p:nvPicPr>
        <p:blipFill rotWithShape="1">
          <a:blip r:embed="rId3">
            <a:alphaModFix/>
          </a:blip>
          <a:srcRect b="0" l="0" r="69966" t="0"/>
          <a:stretch/>
        </p:blipFill>
        <p:spPr>
          <a:xfrm>
            <a:off x="8091325" y="292600"/>
            <a:ext cx="641212" cy="53908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5"/>
        </a:solidFill>
      </p:bgPr>
    </p:bg>
    <p:spTree>
      <p:nvGrpSpPr>
        <p:cNvPr id="164" name="Shape 164"/>
        <p:cNvGrpSpPr/>
        <p:nvPr/>
      </p:nvGrpSpPr>
      <p:grpSpPr>
        <a:xfrm>
          <a:off x="0" y="0"/>
          <a:ext cx="0" cy="0"/>
          <a:chOff x="0" y="0"/>
          <a:chExt cx="0" cy="0"/>
        </a:xfrm>
      </p:grpSpPr>
      <p:sp>
        <p:nvSpPr>
          <p:cNvPr id="165" name="Google Shape;165;p10"/>
          <p:cNvSpPr/>
          <p:nvPr/>
        </p:nvSpPr>
        <p:spPr>
          <a:xfrm>
            <a:off x="548640" y="292608"/>
            <a:ext cx="45720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CHAPTER 04</a:t>
            </a:r>
            <a:endParaRPr b="0" i="0" sz="900" u="none" cap="none" strike="noStrike">
              <a:solidFill>
                <a:schemeClr val="dk1"/>
              </a:solidFill>
              <a:latin typeface="Calibri"/>
              <a:ea typeface="Calibri"/>
              <a:cs typeface="Calibri"/>
              <a:sym typeface="Calibri"/>
            </a:endParaRPr>
          </a:p>
        </p:txBody>
      </p:sp>
      <p:sp>
        <p:nvSpPr>
          <p:cNvPr id="166" name="Google Shape;166;p10"/>
          <p:cNvSpPr/>
          <p:nvPr/>
        </p:nvSpPr>
        <p:spPr>
          <a:xfrm>
            <a:off x="548640" y="685800"/>
            <a:ext cx="8229600" cy="182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EF0"/>
              </a:buClr>
              <a:buSzPts val="5200"/>
              <a:buFont typeface="Inter"/>
              <a:buNone/>
            </a:pPr>
            <a:r>
              <a:rPr b="1" i="0" lang="en-US" sz="5200" u="none" cap="none" strike="noStrike">
                <a:solidFill>
                  <a:srgbClr val="EDEEF0"/>
                </a:solidFill>
                <a:latin typeface="Inter"/>
                <a:ea typeface="Inter"/>
                <a:cs typeface="Inter"/>
                <a:sym typeface="Inter"/>
              </a:rPr>
              <a:t>What You</a:t>
            </a:r>
            <a:endParaRPr b="0" i="0" sz="5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DEEF0"/>
              </a:buClr>
              <a:buSzPts val="5200"/>
              <a:buFont typeface="Inter"/>
              <a:buNone/>
            </a:pPr>
            <a:r>
              <a:rPr b="1" i="0" lang="en-US" sz="5200" u="none" cap="none" strike="noStrike">
                <a:solidFill>
                  <a:srgbClr val="EDEEF0"/>
                </a:solidFill>
                <a:latin typeface="Inter"/>
                <a:ea typeface="Inter"/>
                <a:cs typeface="Inter"/>
                <a:sym typeface="Inter"/>
              </a:rPr>
              <a:t>Get</a:t>
            </a:r>
            <a:endParaRPr b="0" i="0" sz="5200" u="none" cap="none" strike="noStrike">
              <a:solidFill>
                <a:schemeClr val="dk1"/>
              </a:solidFill>
              <a:latin typeface="Calibri"/>
              <a:ea typeface="Calibri"/>
              <a:cs typeface="Calibri"/>
              <a:sym typeface="Calibri"/>
            </a:endParaRPr>
          </a:p>
        </p:txBody>
      </p:sp>
      <p:sp>
        <p:nvSpPr>
          <p:cNvPr id="167" name="Google Shape;167;p10"/>
          <p:cNvSpPr/>
          <p:nvPr/>
        </p:nvSpPr>
        <p:spPr>
          <a:xfrm>
            <a:off x="548640" y="2697480"/>
            <a:ext cx="6858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F9A"/>
              </a:buClr>
              <a:buSzPts val="1400"/>
              <a:buFont typeface="Inter"/>
              <a:buNone/>
            </a:pPr>
            <a:r>
              <a:rPr b="0" i="0" lang="en-US" sz="1400" u="none" cap="none" strike="noStrike">
                <a:solidFill>
                  <a:srgbClr val="8A8F9A"/>
                </a:solidFill>
                <a:latin typeface="Inter"/>
                <a:ea typeface="Inter"/>
                <a:cs typeface="Inter"/>
                <a:sym typeface="Inter"/>
              </a:rPr>
              <a:t>Named work. Defined deliverables. No vague promises.</a:t>
            </a:r>
            <a:endParaRPr b="0" i="0" sz="1400" u="none" cap="none" strike="noStrike">
              <a:solidFill>
                <a:schemeClr val="dk1"/>
              </a:solidFill>
              <a:latin typeface="Calibri"/>
              <a:ea typeface="Calibri"/>
              <a:cs typeface="Calibri"/>
              <a:sym typeface="Calibri"/>
            </a:endParaRPr>
          </a:p>
        </p:txBody>
      </p:sp>
      <p:sp>
        <p:nvSpPr>
          <p:cNvPr id="168" name="Google Shape;168;p10"/>
          <p:cNvSpPr/>
          <p:nvPr/>
        </p:nvSpPr>
        <p:spPr>
          <a:xfrm>
            <a:off x="8412480" y="4828032"/>
            <a:ext cx="45720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F9A"/>
              </a:buClr>
              <a:buSzPts val="800"/>
              <a:buFont typeface="Inter"/>
              <a:buNone/>
            </a:pPr>
            <a:r>
              <a:rPr b="0" i="0" lang="en-US" sz="800" u="none" cap="none" strike="noStrike">
                <a:solidFill>
                  <a:srgbClr val="8A8F9A"/>
                </a:solidFill>
                <a:latin typeface="Inter"/>
                <a:ea typeface="Inter"/>
                <a:cs typeface="Inter"/>
                <a:sym typeface="Inter"/>
              </a:rPr>
              <a:t>10</a:t>
            </a:r>
            <a:endParaRPr b="0" i="0" sz="800" u="none" cap="none" strike="noStrike">
              <a:solidFill>
                <a:schemeClr val="dk1"/>
              </a:solidFill>
              <a:latin typeface="Calibri"/>
              <a:ea typeface="Calibri"/>
              <a:cs typeface="Calibri"/>
              <a:sym typeface="Calibri"/>
            </a:endParaRPr>
          </a:p>
        </p:txBody>
      </p:sp>
      <p:pic>
        <p:nvPicPr>
          <p:cNvPr id="169" name="Google Shape;169;p10"/>
          <p:cNvPicPr preferRelativeResize="0"/>
          <p:nvPr/>
        </p:nvPicPr>
        <p:blipFill rotWithShape="1">
          <a:blip r:embed="rId3">
            <a:alphaModFix/>
          </a:blip>
          <a:srcRect b="0" l="0" r="69966" t="0"/>
          <a:stretch/>
        </p:blipFill>
        <p:spPr>
          <a:xfrm>
            <a:off x="8091325" y="292600"/>
            <a:ext cx="641212" cy="53908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5"/>
        </a:solidFill>
      </p:bgPr>
    </p:bg>
    <p:spTree>
      <p:nvGrpSpPr>
        <p:cNvPr id="174" name="Shape 174"/>
        <p:cNvGrpSpPr/>
        <p:nvPr/>
      </p:nvGrpSpPr>
      <p:grpSpPr>
        <a:xfrm>
          <a:off x="0" y="0"/>
          <a:ext cx="0" cy="0"/>
          <a:chOff x="0" y="0"/>
          <a:chExt cx="0" cy="0"/>
        </a:xfrm>
      </p:grpSpPr>
      <p:sp>
        <p:nvSpPr>
          <p:cNvPr id="175" name="Google Shape;175;p11"/>
          <p:cNvSpPr/>
          <p:nvPr/>
        </p:nvSpPr>
        <p:spPr>
          <a:xfrm>
            <a:off x="548640" y="292608"/>
            <a:ext cx="45720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CHAPTER 04</a:t>
            </a:r>
            <a:endParaRPr b="0" i="0" sz="900" u="none" cap="none" strike="noStrike">
              <a:solidFill>
                <a:schemeClr val="dk1"/>
              </a:solidFill>
              <a:latin typeface="Calibri"/>
              <a:ea typeface="Calibri"/>
              <a:cs typeface="Calibri"/>
              <a:sym typeface="Calibri"/>
            </a:endParaRPr>
          </a:p>
        </p:txBody>
      </p:sp>
      <p:sp>
        <p:nvSpPr>
          <p:cNvPr id="176" name="Google Shape;176;p11"/>
          <p:cNvSpPr/>
          <p:nvPr/>
        </p:nvSpPr>
        <p:spPr>
          <a:xfrm>
            <a:off x="548640" y="502920"/>
            <a:ext cx="73152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EF0"/>
              </a:buClr>
              <a:buSzPts val="2400"/>
              <a:buFont typeface="Inter"/>
              <a:buNone/>
            </a:pPr>
            <a:r>
              <a:rPr b="1" i="0" lang="en-US" sz="2400" u="none" cap="none" strike="noStrike">
                <a:solidFill>
                  <a:srgbClr val="EDEEF0"/>
                </a:solidFill>
                <a:latin typeface="Inter"/>
                <a:ea typeface="Inter"/>
                <a:cs typeface="Inter"/>
                <a:sym typeface="Inter"/>
              </a:rPr>
              <a:t>Full deliverables list</a:t>
            </a:r>
            <a:endParaRPr b="0" i="0" sz="2400" u="none" cap="none" strike="noStrike">
              <a:solidFill>
                <a:schemeClr val="dk1"/>
              </a:solidFill>
              <a:latin typeface="Calibri"/>
              <a:ea typeface="Calibri"/>
              <a:cs typeface="Calibri"/>
              <a:sym typeface="Calibri"/>
            </a:endParaRPr>
          </a:p>
        </p:txBody>
      </p:sp>
      <p:sp>
        <p:nvSpPr>
          <p:cNvPr id="177" name="Google Shape;177;p11"/>
          <p:cNvSpPr/>
          <p:nvPr/>
        </p:nvSpPr>
        <p:spPr>
          <a:xfrm>
            <a:off x="457200" y="1143000"/>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100"/>
              <a:buFont typeface="Inter"/>
              <a:buNone/>
            </a:pPr>
            <a:r>
              <a:rPr b="1" lang="en-US" sz="1100">
                <a:solidFill>
                  <a:srgbClr val="F7D046"/>
                </a:solidFill>
                <a:latin typeface="Inter"/>
                <a:ea typeface="Inter"/>
                <a:cs typeface="Inter"/>
                <a:sym typeface="Inter"/>
              </a:rPr>
              <a:t>Migration &amp; Store</a:t>
            </a:r>
            <a:endParaRPr b="0" i="0" sz="1100" u="none" cap="none" strike="noStrike">
              <a:solidFill>
                <a:schemeClr val="dk1"/>
              </a:solidFill>
              <a:latin typeface="Calibri"/>
              <a:ea typeface="Calibri"/>
              <a:cs typeface="Calibri"/>
              <a:sym typeface="Calibri"/>
            </a:endParaRPr>
          </a:p>
        </p:txBody>
      </p:sp>
      <p:sp>
        <p:nvSpPr>
          <p:cNvPr id="178" name="Google Shape;178;p11"/>
          <p:cNvSpPr/>
          <p:nvPr/>
        </p:nvSpPr>
        <p:spPr>
          <a:xfrm>
            <a:off x="457200" y="1453896"/>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000"/>
              <a:buFont typeface="Inter"/>
              <a:buNone/>
            </a:pPr>
            <a:r>
              <a:rPr lang="en-US" sz="1000">
                <a:solidFill>
                  <a:srgbClr val="EDEEF0"/>
                </a:solidFill>
                <a:latin typeface="Inter"/>
                <a:ea typeface="Inter"/>
                <a:cs typeface="Inter"/>
                <a:sym typeface="Inter"/>
              </a:rPr>
              <a:t>- Full WooCommerce → Shopify migration (products, customers, orders)
- Custom-branded Shopify theme build with all core pages
- 301 redirect implementation for SEO equity preservation
- Payment gateway and shipping/logistics configuration</a:t>
            </a:r>
            <a:endParaRPr b="0" i="0" sz="1000" u="none" cap="none" strike="noStrike">
              <a:solidFill>
                <a:schemeClr val="dk1"/>
              </a:solidFill>
              <a:latin typeface="Calibri"/>
              <a:ea typeface="Calibri"/>
              <a:cs typeface="Calibri"/>
              <a:sym typeface="Calibri"/>
            </a:endParaRPr>
          </a:p>
        </p:txBody>
      </p:sp>
      <p:sp>
        <p:nvSpPr>
          <p:cNvPr id="179" name="Google Shape;179;p11"/>
          <p:cNvSpPr/>
          <p:nvPr/>
        </p:nvSpPr>
        <p:spPr>
          <a:xfrm>
            <a:off x="457200" y="2752344"/>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100"/>
              <a:buFont typeface="Inter"/>
              <a:buNone/>
            </a:pPr>
            <a:r>
              <a:rPr b="1" lang="en-US" sz="1100">
                <a:solidFill>
                  <a:srgbClr val="F7D046"/>
                </a:solidFill>
                <a:latin typeface="Inter"/>
                <a:ea typeface="Inter"/>
                <a:cs typeface="Inter"/>
                <a:sym typeface="Inter"/>
              </a:rPr>
              <a:t>SEO Foundations</a:t>
            </a:r>
            <a:endParaRPr b="0" i="0" sz="1100" u="none" cap="none" strike="noStrike">
              <a:solidFill>
                <a:schemeClr val="dk1"/>
              </a:solidFill>
              <a:latin typeface="Calibri"/>
              <a:ea typeface="Calibri"/>
              <a:cs typeface="Calibri"/>
              <a:sym typeface="Calibri"/>
            </a:endParaRPr>
          </a:p>
        </p:txBody>
      </p:sp>
      <p:sp>
        <p:nvSpPr>
          <p:cNvPr id="180" name="Google Shape;180;p11"/>
          <p:cNvSpPr/>
          <p:nvPr/>
        </p:nvSpPr>
        <p:spPr>
          <a:xfrm>
            <a:off x="457200" y="3063240"/>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000"/>
              <a:buFont typeface="Inter"/>
              <a:buNone/>
            </a:pPr>
            <a:r>
              <a:rPr lang="en-US" sz="1000">
                <a:solidFill>
                  <a:srgbClr val="EDEEF0"/>
                </a:solidFill>
                <a:latin typeface="Inter"/>
                <a:ea typeface="Inter"/>
                <a:cs typeface="Inter"/>
                <a:sym typeface="Inter"/>
              </a:rPr>
              <a:t>- SEO/AEO audit with prioritised action plan
- 20 target keywords researched and mapped
- Product schema markup (10 products/month)
- Metadata and alt-tag optimisation across store</a:t>
            </a:r>
            <a:endParaRPr b="0" i="0" sz="1000" u="none" cap="none" strike="noStrike">
              <a:solidFill>
                <a:schemeClr val="dk1"/>
              </a:solidFill>
              <a:latin typeface="Calibri"/>
              <a:ea typeface="Calibri"/>
              <a:cs typeface="Calibri"/>
              <a:sym typeface="Calibri"/>
            </a:endParaRPr>
          </a:p>
        </p:txBody>
      </p:sp>
      <p:sp>
        <p:nvSpPr>
          <p:cNvPr id="181" name="Google Shape;181;p11"/>
          <p:cNvSpPr/>
          <p:nvPr/>
        </p:nvSpPr>
        <p:spPr>
          <a:xfrm>
            <a:off x="4754880" y="1143000"/>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100"/>
              <a:buFont typeface="Inter"/>
              <a:buNone/>
            </a:pPr>
            <a:r>
              <a:rPr b="1" lang="en-US" sz="1100">
                <a:solidFill>
                  <a:srgbClr val="F7D046"/>
                </a:solidFill>
                <a:latin typeface="Inter"/>
                <a:ea typeface="Inter"/>
                <a:cs typeface="Inter"/>
                <a:sym typeface="Inter"/>
              </a:rPr>
              <a:t>Performance &amp; QA</a:t>
            </a:r>
            <a:endParaRPr b="0" i="0" sz="1100" u="none" cap="none" strike="noStrike">
              <a:solidFill>
                <a:schemeClr val="dk1"/>
              </a:solidFill>
              <a:latin typeface="Calibri"/>
              <a:ea typeface="Calibri"/>
              <a:cs typeface="Calibri"/>
              <a:sym typeface="Calibri"/>
            </a:endParaRPr>
          </a:p>
        </p:txBody>
      </p:sp>
      <p:sp>
        <p:nvSpPr>
          <p:cNvPr id="182" name="Google Shape;182;p11"/>
          <p:cNvSpPr/>
          <p:nvPr/>
        </p:nvSpPr>
        <p:spPr>
          <a:xfrm>
            <a:off x="4754880" y="1453896"/>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000"/>
              <a:buFont typeface="Inter"/>
              <a:buNone/>
            </a:pPr>
            <a:r>
              <a:rPr lang="en-US" sz="1000">
                <a:solidFill>
                  <a:srgbClr val="EDEEF0"/>
                </a:solidFill>
                <a:latin typeface="Inter"/>
                <a:ea typeface="Inter"/>
                <a:cs typeface="Inter"/>
                <a:sym typeface="Inter"/>
              </a:rPr>
              <a:t>- Page speed optimisation (80+ PageSpeed Insights)
- Cross-browser and device QA
- Checkout simulation and go-live smoke test
- Branded email notification templates</a:t>
            </a:r>
            <a:endParaRPr b="0" i="0" sz="1000" u="none" cap="none" strike="noStrike">
              <a:solidFill>
                <a:schemeClr val="dk1"/>
              </a:solidFill>
              <a:latin typeface="Calibri"/>
              <a:ea typeface="Calibri"/>
              <a:cs typeface="Calibri"/>
              <a:sym typeface="Calibri"/>
            </a:endParaRPr>
          </a:p>
        </p:txBody>
      </p:sp>
      <p:sp>
        <p:nvSpPr>
          <p:cNvPr id="183" name="Google Shape;183;p11"/>
          <p:cNvSpPr/>
          <p:nvPr/>
        </p:nvSpPr>
        <p:spPr>
          <a:xfrm>
            <a:off x="4754880" y="2752344"/>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100"/>
              <a:buFont typeface="Inter"/>
              <a:buNone/>
            </a:pPr>
            <a:r>
              <a:rPr b="1" lang="en-US" sz="1100">
                <a:solidFill>
                  <a:srgbClr val="F7D046"/>
                </a:solidFill>
                <a:latin typeface="Inter"/>
                <a:ea typeface="Inter"/>
                <a:cs typeface="Inter"/>
                <a:sym typeface="Inter"/>
              </a:rPr>
              <a:t>Ongoing SEO &amp; Content</a:t>
            </a:r>
            <a:endParaRPr b="0" i="0" sz="1100" u="none" cap="none" strike="noStrike">
              <a:solidFill>
                <a:schemeClr val="dk1"/>
              </a:solidFill>
              <a:latin typeface="Calibri"/>
              <a:ea typeface="Calibri"/>
              <a:cs typeface="Calibri"/>
              <a:sym typeface="Calibri"/>
            </a:endParaRPr>
          </a:p>
        </p:txBody>
      </p:sp>
      <p:sp>
        <p:nvSpPr>
          <p:cNvPr id="184" name="Google Shape;184;p11"/>
          <p:cNvSpPr/>
          <p:nvPr/>
        </p:nvSpPr>
        <p:spPr>
          <a:xfrm>
            <a:off x="4754880" y="3063240"/>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000"/>
              <a:buFont typeface="Inter"/>
              <a:buNone/>
            </a:pPr>
            <a:r>
              <a:rPr lang="en-US" sz="1000">
                <a:solidFill>
                  <a:srgbClr val="EDEEF0"/>
                </a:solidFill>
                <a:latin typeface="Inter"/>
                <a:ea typeface="Inter"/>
                <a:cs typeface="Inter"/>
                <a:sym typeface="Inter"/>
              </a:rPr>
              <a:t>- 2 SEO blog posts per month (800–1,200 words)
- 5–10 quality backlinks per month
- 3 FAQ schemas and 3 featured snippet targets per month
- 5 AI-friendly product descriptions per month</a:t>
            </a:r>
            <a:endParaRPr b="0" i="0" sz="1000" u="none" cap="none" strike="noStrike">
              <a:solidFill>
                <a:schemeClr val="dk1"/>
              </a:solidFill>
              <a:latin typeface="Calibri"/>
              <a:ea typeface="Calibri"/>
              <a:cs typeface="Calibri"/>
              <a:sym typeface="Calibri"/>
            </a:endParaRPr>
          </a:p>
        </p:txBody>
      </p:sp>
      <p:sp>
        <p:nvSpPr>
          <p:cNvPr id="185" name="Google Shape;185;p11"/>
          <p:cNvSpPr/>
          <p:nvPr/>
        </p:nvSpPr>
        <p:spPr>
          <a:xfrm>
            <a:off x="8412480" y="4828032"/>
            <a:ext cx="45720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F9A"/>
              </a:buClr>
              <a:buSzPts val="800"/>
              <a:buFont typeface="Inter"/>
              <a:buNone/>
            </a:pPr>
            <a:r>
              <a:rPr b="0" i="0" lang="en-US" sz="800" u="none" cap="none" strike="noStrike">
                <a:solidFill>
                  <a:srgbClr val="8A8F9A"/>
                </a:solidFill>
                <a:latin typeface="Inter"/>
                <a:ea typeface="Inter"/>
                <a:cs typeface="Inter"/>
                <a:sym typeface="Inter"/>
              </a:rPr>
              <a:t>11</a:t>
            </a:r>
            <a:endParaRPr b="0" i="0" sz="800" u="none" cap="none" strike="noStrike">
              <a:solidFill>
                <a:schemeClr val="dk1"/>
              </a:solidFill>
              <a:latin typeface="Calibri"/>
              <a:ea typeface="Calibri"/>
              <a:cs typeface="Calibri"/>
              <a:sym typeface="Calibri"/>
            </a:endParaRPr>
          </a:p>
        </p:txBody>
      </p:sp>
      <p:pic>
        <p:nvPicPr>
          <p:cNvPr id="186" name="Google Shape;186;p11"/>
          <p:cNvPicPr preferRelativeResize="0"/>
          <p:nvPr/>
        </p:nvPicPr>
        <p:blipFill rotWithShape="1">
          <a:blip r:embed="rId3">
            <a:alphaModFix/>
          </a:blip>
          <a:srcRect b="0" l="0" r="69966" t="0"/>
          <a:stretch/>
        </p:blipFill>
        <p:spPr>
          <a:xfrm>
            <a:off x="8091325" y="292600"/>
            <a:ext cx="641212" cy="53908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5"/>
        </a:solidFill>
      </p:bgPr>
    </p:bg>
    <p:spTree>
      <p:nvGrpSpPr>
        <p:cNvPr id="191" name="Shape 191"/>
        <p:cNvGrpSpPr/>
        <p:nvPr/>
      </p:nvGrpSpPr>
      <p:grpSpPr>
        <a:xfrm>
          <a:off x="0" y="0"/>
          <a:ext cx="0" cy="0"/>
          <a:chOff x="0" y="0"/>
          <a:chExt cx="0" cy="0"/>
        </a:xfrm>
      </p:grpSpPr>
      <p:sp>
        <p:nvSpPr>
          <p:cNvPr id="192" name="Google Shape;192;p12"/>
          <p:cNvSpPr/>
          <p:nvPr/>
        </p:nvSpPr>
        <p:spPr>
          <a:xfrm>
            <a:off x="548640" y="292608"/>
            <a:ext cx="45720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CHAPTER 05</a:t>
            </a:r>
            <a:endParaRPr b="0" i="0" sz="900" u="none" cap="none" strike="noStrike">
              <a:solidFill>
                <a:schemeClr val="dk1"/>
              </a:solidFill>
              <a:latin typeface="Calibri"/>
              <a:ea typeface="Calibri"/>
              <a:cs typeface="Calibri"/>
              <a:sym typeface="Calibri"/>
            </a:endParaRPr>
          </a:p>
        </p:txBody>
      </p:sp>
      <p:sp>
        <p:nvSpPr>
          <p:cNvPr id="193" name="Google Shape;193;p12"/>
          <p:cNvSpPr/>
          <p:nvPr/>
        </p:nvSpPr>
        <p:spPr>
          <a:xfrm>
            <a:off x="548640" y="502920"/>
            <a:ext cx="73152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EF0"/>
              </a:buClr>
              <a:buSzPts val="2400"/>
              <a:buFont typeface="Inter"/>
              <a:buNone/>
            </a:pPr>
            <a:r>
              <a:rPr b="1" i="0" lang="en-US" sz="2400" u="none" cap="none" strike="noStrike">
                <a:solidFill>
                  <a:srgbClr val="EDEEF0"/>
                </a:solidFill>
                <a:latin typeface="Inter"/>
                <a:ea typeface="Inter"/>
                <a:cs typeface="Inter"/>
                <a:sym typeface="Inter"/>
              </a:rPr>
              <a:t>How We Work</a:t>
            </a:r>
            <a:endParaRPr b="0" i="0" sz="2400" u="none" cap="none" strike="noStrike">
              <a:solidFill>
                <a:schemeClr val="dk1"/>
              </a:solidFill>
              <a:latin typeface="Calibri"/>
              <a:ea typeface="Calibri"/>
              <a:cs typeface="Calibri"/>
              <a:sym typeface="Calibri"/>
            </a:endParaRPr>
          </a:p>
        </p:txBody>
      </p:sp>
      <p:sp>
        <p:nvSpPr>
          <p:cNvPr id="194" name="Google Shape;194;p12"/>
          <p:cNvSpPr/>
          <p:nvPr/>
        </p:nvSpPr>
        <p:spPr>
          <a:xfrm>
            <a:off x="365760" y="1188720"/>
            <a:ext cx="4023360" cy="146304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2"/>
          <p:cNvSpPr/>
          <p:nvPr/>
        </p:nvSpPr>
        <p:spPr>
          <a:xfrm>
            <a:off x="594360" y="1325880"/>
            <a:ext cx="3566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300"/>
              <a:buFont typeface="Inter"/>
              <a:buNone/>
            </a:pPr>
            <a:r>
              <a:rPr b="1" i="0" lang="en-US" sz="1300" u="none" cap="none" strike="noStrike">
                <a:solidFill>
                  <a:srgbClr val="EDEEF0"/>
                </a:solidFill>
                <a:latin typeface="Inter"/>
                <a:ea typeface="Inter"/>
                <a:cs typeface="Inter"/>
                <a:sym typeface="Inter"/>
              </a:rPr>
              <a:t>Timeline</a:t>
            </a:r>
            <a:endParaRPr b="0" i="0" sz="1300" u="none" cap="none" strike="noStrike">
              <a:solidFill>
                <a:schemeClr val="dk1"/>
              </a:solidFill>
              <a:latin typeface="Calibri"/>
              <a:ea typeface="Calibri"/>
              <a:cs typeface="Calibri"/>
              <a:sym typeface="Calibri"/>
            </a:endParaRPr>
          </a:p>
        </p:txBody>
      </p:sp>
      <p:sp>
        <p:nvSpPr>
          <p:cNvPr id="196" name="Google Shape;196;p12"/>
          <p:cNvSpPr/>
          <p:nvPr/>
        </p:nvSpPr>
        <p:spPr>
          <a:xfrm>
            <a:off x="594360" y="1691640"/>
            <a:ext cx="3566160" cy="8503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1000"/>
              <a:buFont typeface="Inter"/>
              <a:buNone/>
            </a:pPr>
            <a:r>
              <a:rPr lang="en-US" sz="1000">
                <a:solidFill>
                  <a:srgbClr val="8A8F9A"/>
                </a:solidFill>
                <a:latin typeface="Inter"/>
                <a:ea typeface="Inter"/>
                <a:cs typeface="Inter"/>
                <a:sym typeface="Inter"/>
              </a:rPr>
              <a:t>10–14 weeks from kick-off to organic growth phase. Migration and store build in weeks 1–6, SEO audit and foundations in weeks 4–8 (overlapping), ongoing SEO retainer from launch. Targeting a pre-festive season go-live.</a:t>
            </a:r>
            <a:endParaRPr b="0" i="0" sz="1000" u="none" cap="none" strike="noStrike">
              <a:solidFill>
                <a:schemeClr val="dk1"/>
              </a:solidFill>
              <a:latin typeface="Calibri"/>
              <a:ea typeface="Calibri"/>
              <a:cs typeface="Calibri"/>
              <a:sym typeface="Calibri"/>
            </a:endParaRPr>
          </a:p>
        </p:txBody>
      </p:sp>
      <p:sp>
        <p:nvSpPr>
          <p:cNvPr id="197" name="Google Shape;197;p12"/>
          <p:cNvSpPr/>
          <p:nvPr/>
        </p:nvSpPr>
        <p:spPr>
          <a:xfrm>
            <a:off x="4663440" y="1188720"/>
            <a:ext cx="4023360" cy="146304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2"/>
          <p:cNvSpPr/>
          <p:nvPr/>
        </p:nvSpPr>
        <p:spPr>
          <a:xfrm>
            <a:off x="4892040" y="1325880"/>
            <a:ext cx="3566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300"/>
              <a:buFont typeface="Inter"/>
              <a:buNone/>
            </a:pPr>
            <a:r>
              <a:rPr b="1" i="0" lang="en-US" sz="1300" u="none" cap="none" strike="noStrike">
                <a:solidFill>
                  <a:srgbClr val="EDEEF0"/>
                </a:solidFill>
                <a:latin typeface="Inter"/>
                <a:ea typeface="Inter"/>
                <a:cs typeface="Inter"/>
                <a:sym typeface="Inter"/>
              </a:rPr>
              <a:t>Payment Terms</a:t>
            </a:r>
            <a:endParaRPr b="0" i="0" sz="1300" u="none" cap="none" strike="noStrike">
              <a:solidFill>
                <a:schemeClr val="dk1"/>
              </a:solidFill>
              <a:latin typeface="Calibri"/>
              <a:ea typeface="Calibri"/>
              <a:cs typeface="Calibri"/>
              <a:sym typeface="Calibri"/>
            </a:endParaRPr>
          </a:p>
        </p:txBody>
      </p:sp>
      <p:sp>
        <p:nvSpPr>
          <p:cNvPr id="199" name="Google Shape;199;p12"/>
          <p:cNvSpPr/>
          <p:nvPr/>
        </p:nvSpPr>
        <p:spPr>
          <a:xfrm>
            <a:off x="4892040" y="1691640"/>
            <a:ext cx="3566160" cy="8503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1000"/>
              <a:buFont typeface="Inter"/>
              <a:buNone/>
            </a:pPr>
            <a:r>
              <a:rPr b="0" i="0" lang="en-US" sz="1000" u="none" cap="none" strike="noStrike">
                <a:solidFill>
                  <a:srgbClr val="8A8F9A"/>
                </a:solidFill>
                <a:latin typeface="Inter"/>
                <a:ea typeface="Inter"/>
                <a:cs typeface="Inter"/>
                <a:sym typeface="Inter"/>
              </a:rPr>
              <a:t>50% upfront on project confirmation.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A8F9A"/>
              </a:buClr>
              <a:buSzPts val="1000"/>
              <a:buFont typeface="Inter"/>
              <a:buNone/>
            </a:pPr>
            <a:r>
              <a:rPr b="0" i="0" lang="en-US" sz="1000" u="none" cap="none" strike="noStrike">
                <a:solidFill>
                  <a:srgbClr val="8A8F9A"/>
                </a:solidFill>
                <a:latin typeface="Inter"/>
                <a:ea typeface="Inter"/>
                <a:cs typeface="Inter"/>
                <a:sym typeface="Inter"/>
              </a:rPr>
              <a:t>30% at design sign-off / mid-build milestone.</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A8F9A"/>
              </a:buClr>
              <a:buSzPts val="1000"/>
              <a:buFont typeface="Inter"/>
              <a:buNone/>
            </a:pPr>
            <a:r>
              <a:rPr b="0" i="0" lang="en-US" sz="1000" u="none" cap="none" strike="noStrike">
                <a:solidFill>
                  <a:srgbClr val="8A8F9A"/>
                </a:solidFill>
                <a:latin typeface="Inter"/>
                <a:ea typeface="Inter"/>
                <a:cs typeface="Inter"/>
                <a:sym typeface="Inter"/>
              </a:rPr>
              <a:t>20% on go-live and handover.</a:t>
            </a:r>
            <a:endParaRPr b="0" i="0" sz="1000" u="none" cap="none" strike="noStrike">
              <a:solidFill>
                <a:schemeClr val="dk1"/>
              </a:solidFill>
              <a:latin typeface="Calibri"/>
              <a:ea typeface="Calibri"/>
              <a:cs typeface="Calibri"/>
              <a:sym typeface="Calibri"/>
            </a:endParaRPr>
          </a:p>
        </p:txBody>
      </p:sp>
      <p:sp>
        <p:nvSpPr>
          <p:cNvPr id="200" name="Google Shape;200;p12"/>
          <p:cNvSpPr/>
          <p:nvPr/>
        </p:nvSpPr>
        <p:spPr>
          <a:xfrm>
            <a:off x="365760" y="2880360"/>
            <a:ext cx="4023360" cy="146304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2"/>
          <p:cNvSpPr/>
          <p:nvPr/>
        </p:nvSpPr>
        <p:spPr>
          <a:xfrm>
            <a:off x="594360" y="3017520"/>
            <a:ext cx="3566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300"/>
              <a:buFont typeface="Inter"/>
              <a:buNone/>
            </a:pPr>
            <a:r>
              <a:rPr b="1" i="0" lang="en-US" sz="1300" u="none" cap="none" strike="noStrike">
                <a:solidFill>
                  <a:srgbClr val="EDEEF0"/>
                </a:solidFill>
                <a:latin typeface="Inter"/>
                <a:ea typeface="Inter"/>
                <a:cs typeface="Inter"/>
                <a:sym typeface="Inter"/>
              </a:rPr>
              <a:t>Post-Launch SLA</a:t>
            </a:r>
            <a:endParaRPr b="0" i="0" sz="1300" u="none" cap="none" strike="noStrike">
              <a:solidFill>
                <a:schemeClr val="dk1"/>
              </a:solidFill>
              <a:latin typeface="Calibri"/>
              <a:ea typeface="Calibri"/>
              <a:cs typeface="Calibri"/>
              <a:sym typeface="Calibri"/>
            </a:endParaRPr>
          </a:p>
        </p:txBody>
      </p:sp>
      <p:sp>
        <p:nvSpPr>
          <p:cNvPr id="202" name="Google Shape;202;p12"/>
          <p:cNvSpPr/>
          <p:nvPr/>
        </p:nvSpPr>
        <p:spPr>
          <a:xfrm>
            <a:off x="594360" y="3383280"/>
            <a:ext cx="3566160" cy="8503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1000"/>
              <a:buFont typeface="Inter"/>
              <a:buNone/>
            </a:pPr>
            <a:r>
              <a:rPr b="0" i="0" lang="en-US" sz="1000" u="none" cap="none" strike="noStrike">
                <a:solidFill>
                  <a:srgbClr val="8A8F9A"/>
                </a:solidFill>
                <a:latin typeface="Inter"/>
                <a:ea typeface="Inter"/>
                <a:cs typeface="Inter"/>
                <a:sym typeface="Inter"/>
              </a:rPr>
              <a:t>30-day Support Essential package</a:t>
            </a:r>
            <a:r>
              <a:rPr lang="en-US" sz="1000">
                <a:solidFill>
                  <a:srgbClr val="8A8F9A"/>
                </a:solidFill>
                <a:latin typeface="Inter"/>
                <a:ea typeface="Inter"/>
                <a:cs typeface="Inter"/>
                <a:sym typeface="Inter"/>
              </a:rPr>
              <a:t> </a:t>
            </a:r>
            <a:r>
              <a:rPr b="0" i="0" lang="en-US" sz="1000" u="none" cap="none" strike="noStrike">
                <a:solidFill>
                  <a:srgbClr val="8A8F9A"/>
                </a:solidFill>
                <a:latin typeface="Inter"/>
                <a:ea typeface="Inter"/>
                <a:cs typeface="Inter"/>
                <a:sym typeface="Inter"/>
              </a:rPr>
              <a:t>included at an extra cost of R9,000. 6 hrs accessible by phone and email. Response within 1 business day during the support window.</a:t>
            </a:r>
            <a:endParaRPr b="0" i="0" sz="1000" u="none" cap="none" strike="noStrike">
              <a:solidFill>
                <a:schemeClr val="dk1"/>
              </a:solidFill>
              <a:latin typeface="Calibri"/>
              <a:ea typeface="Calibri"/>
              <a:cs typeface="Calibri"/>
              <a:sym typeface="Calibri"/>
            </a:endParaRPr>
          </a:p>
        </p:txBody>
      </p:sp>
      <p:sp>
        <p:nvSpPr>
          <p:cNvPr id="203" name="Google Shape;203;p12"/>
          <p:cNvSpPr/>
          <p:nvPr/>
        </p:nvSpPr>
        <p:spPr>
          <a:xfrm>
            <a:off x="4663440" y="2880360"/>
            <a:ext cx="4023360" cy="146304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2"/>
          <p:cNvSpPr/>
          <p:nvPr/>
        </p:nvSpPr>
        <p:spPr>
          <a:xfrm>
            <a:off x="4892040" y="3017520"/>
            <a:ext cx="3566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300"/>
              <a:buFont typeface="Inter"/>
              <a:buNone/>
            </a:pPr>
            <a:r>
              <a:rPr b="1" i="0" lang="en-US" sz="1300" u="none" cap="none" strike="noStrike">
                <a:solidFill>
                  <a:srgbClr val="EDEEF0"/>
                </a:solidFill>
                <a:latin typeface="Inter"/>
                <a:ea typeface="Inter"/>
                <a:cs typeface="Inter"/>
                <a:sym typeface="Inter"/>
              </a:rPr>
              <a:t>Out of Scope</a:t>
            </a:r>
            <a:endParaRPr b="0" i="0" sz="1300" u="none" cap="none" strike="noStrike">
              <a:solidFill>
                <a:schemeClr val="dk1"/>
              </a:solidFill>
              <a:latin typeface="Calibri"/>
              <a:ea typeface="Calibri"/>
              <a:cs typeface="Calibri"/>
              <a:sym typeface="Calibri"/>
            </a:endParaRPr>
          </a:p>
        </p:txBody>
      </p:sp>
      <p:sp>
        <p:nvSpPr>
          <p:cNvPr id="205" name="Google Shape;205;p12"/>
          <p:cNvSpPr/>
          <p:nvPr/>
        </p:nvSpPr>
        <p:spPr>
          <a:xfrm>
            <a:off x="4892040" y="3383280"/>
            <a:ext cx="3566160" cy="8503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1000"/>
              <a:buFont typeface="Inter"/>
              <a:buNone/>
            </a:pPr>
            <a:r>
              <a:rPr lang="en-US" sz="1000">
                <a:solidFill>
                  <a:srgbClr val="8A8F9A"/>
                </a:solidFill>
                <a:latin typeface="Inter"/>
                <a:ea typeface="Inter"/>
                <a:cs typeface="Inter"/>
                <a:sym typeface="Inter"/>
              </a:rPr>
              <a:t>Brand/logo design, social media management, paid advertising (Google/Meta Ads), copywriting beyond SEO blog posts, custom Shopify app development, photography or product shoots</a:t>
            </a:r>
            <a:endParaRPr b="0" i="0" sz="1000" u="none" cap="none" strike="noStrike">
              <a:solidFill>
                <a:schemeClr val="dk1"/>
              </a:solidFill>
              <a:latin typeface="Calibri"/>
              <a:ea typeface="Calibri"/>
              <a:cs typeface="Calibri"/>
              <a:sym typeface="Calibri"/>
            </a:endParaRPr>
          </a:p>
        </p:txBody>
      </p:sp>
      <p:sp>
        <p:nvSpPr>
          <p:cNvPr id="206" name="Google Shape;206;p12"/>
          <p:cNvSpPr/>
          <p:nvPr/>
        </p:nvSpPr>
        <p:spPr>
          <a:xfrm>
            <a:off x="8412480" y="4828032"/>
            <a:ext cx="45720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F9A"/>
              </a:buClr>
              <a:buSzPts val="800"/>
              <a:buFont typeface="Inter"/>
              <a:buNone/>
            </a:pPr>
            <a:r>
              <a:rPr b="0" i="0" lang="en-US" sz="800" u="none" cap="none" strike="noStrike">
                <a:solidFill>
                  <a:srgbClr val="8A8F9A"/>
                </a:solidFill>
                <a:latin typeface="Inter"/>
                <a:ea typeface="Inter"/>
                <a:cs typeface="Inter"/>
                <a:sym typeface="Inter"/>
              </a:rPr>
              <a:t>12</a:t>
            </a:r>
            <a:endParaRPr b="0" i="0" sz="800" u="none" cap="none" strike="noStrike">
              <a:solidFill>
                <a:schemeClr val="dk1"/>
              </a:solidFill>
              <a:latin typeface="Calibri"/>
              <a:ea typeface="Calibri"/>
              <a:cs typeface="Calibri"/>
              <a:sym typeface="Calibri"/>
            </a:endParaRPr>
          </a:p>
        </p:txBody>
      </p:sp>
      <p:pic>
        <p:nvPicPr>
          <p:cNvPr id="207" name="Google Shape;207;p12"/>
          <p:cNvPicPr preferRelativeResize="0"/>
          <p:nvPr/>
        </p:nvPicPr>
        <p:blipFill rotWithShape="1">
          <a:blip r:embed="rId3">
            <a:alphaModFix/>
          </a:blip>
          <a:srcRect b="0" l="0" r="69966" t="0"/>
          <a:stretch/>
        </p:blipFill>
        <p:spPr>
          <a:xfrm>
            <a:off x="8091325" y="292600"/>
            <a:ext cx="641212" cy="53908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5"/>
        </a:solidFill>
      </p:bgPr>
    </p:bg>
    <p:spTree>
      <p:nvGrpSpPr>
        <p:cNvPr id="212" name="Shape 212"/>
        <p:cNvGrpSpPr/>
        <p:nvPr/>
      </p:nvGrpSpPr>
      <p:grpSpPr>
        <a:xfrm>
          <a:off x="0" y="0"/>
          <a:ext cx="0" cy="0"/>
          <a:chOff x="0" y="0"/>
          <a:chExt cx="0" cy="0"/>
        </a:xfrm>
      </p:grpSpPr>
      <p:sp>
        <p:nvSpPr>
          <p:cNvPr id="213" name="Google Shape;213;p13"/>
          <p:cNvSpPr/>
          <p:nvPr/>
        </p:nvSpPr>
        <p:spPr>
          <a:xfrm>
            <a:off x="548640" y="292608"/>
            <a:ext cx="45720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CHAPTER 06</a:t>
            </a:r>
            <a:endParaRPr b="0" i="0" sz="900" u="none" cap="none" strike="noStrike">
              <a:solidFill>
                <a:schemeClr val="dk1"/>
              </a:solidFill>
              <a:latin typeface="Calibri"/>
              <a:ea typeface="Calibri"/>
              <a:cs typeface="Calibri"/>
              <a:sym typeface="Calibri"/>
            </a:endParaRPr>
          </a:p>
        </p:txBody>
      </p:sp>
      <p:sp>
        <p:nvSpPr>
          <p:cNvPr id="214" name="Google Shape;214;p13"/>
          <p:cNvSpPr/>
          <p:nvPr/>
        </p:nvSpPr>
        <p:spPr>
          <a:xfrm>
            <a:off x="548640" y="502920"/>
            <a:ext cx="73152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EF0"/>
              </a:buClr>
              <a:buSzPts val="2400"/>
              <a:buFont typeface="Inter"/>
              <a:buNone/>
            </a:pPr>
            <a:r>
              <a:rPr b="1" i="0" lang="en-US" sz="2400" u="none" cap="none" strike="noStrike">
                <a:solidFill>
                  <a:srgbClr val="EDEEF0"/>
                </a:solidFill>
                <a:latin typeface="Inter"/>
                <a:ea typeface="Inter"/>
                <a:cs typeface="Inter"/>
                <a:sym typeface="Inter"/>
              </a:rPr>
              <a:t>To Get Started</a:t>
            </a:r>
            <a:endParaRPr b="0" i="0" sz="2400" u="none" cap="none" strike="noStrike">
              <a:solidFill>
                <a:schemeClr val="dk1"/>
              </a:solidFill>
              <a:latin typeface="Calibri"/>
              <a:ea typeface="Calibri"/>
              <a:cs typeface="Calibri"/>
              <a:sym typeface="Calibri"/>
            </a:endParaRPr>
          </a:p>
        </p:txBody>
      </p:sp>
      <p:sp>
        <p:nvSpPr>
          <p:cNvPr id="215" name="Google Shape;215;p13"/>
          <p:cNvSpPr/>
          <p:nvPr/>
        </p:nvSpPr>
        <p:spPr>
          <a:xfrm>
            <a:off x="548640" y="1005840"/>
            <a:ext cx="7315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F9A"/>
              </a:buClr>
              <a:buSzPts val="1100"/>
              <a:buFont typeface="Inter"/>
              <a:buNone/>
            </a:pPr>
            <a:r>
              <a:rPr b="0" i="0" lang="en-US" sz="1100" u="none" cap="none" strike="noStrike">
                <a:solidFill>
                  <a:srgbClr val="8A8F9A"/>
                </a:solidFill>
                <a:latin typeface="Inter"/>
                <a:ea typeface="Inter"/>
                <a:cs typeface="Inter"/>
                <a:sym typeface="Inter"/>
              </a:rPr>
              <a:t>What Honey Whale needs from you on Day 1.</a:t>
            </a:r>
            <a:endParaRPr b="0" i="0" sz="1100" u="none" cap="none" strike="noStrike">
              <a:solidFill>
                <a:schemeClr val="dk1"/>
              </a:solidFill>
              <a:latin typeface="Calibri"/>
              <a:ea typeface="Calibri"/>
              <a:cs typeface="Calibri"/>
              <a:sym typeface="Calibri"/>
            </a:endParaRPr>
          </a:p>
        </p:txBody>
      </p:sp>
      <p:sp>
        <p:nvSpPr>
          <p:cNvPr id="216" name="Google Shape;216;p13"/>
          <p:cNvSpPr/>
          <p:nvPr/>
        </p:nvSpPr>
        <p:spPr>
          <a:xfrm>
            <a:off x="365760" y="1389888"/>
            <a:ext cx="4069080" cy="96012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3"/>
          <p:cNvSpPr/>
          <p:nvPr/>
        </p:nvSpPr>
        <p:spPr>
          <a:xfrm>
            <a:off x="548640" y="1499616"/>
            <a:ext cx="365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01</a:t>
            </a:r>
            <a:endParaRPr b="0" i="0" sz="900" u="none" cap="none" strike="noStrike">
              <a:solidFill>
                <a:schemeClr val="dk1"/>
              </a:solidFill>
              <a:latin typeface="Calibri"/>
              <a:ea typeface="Calibri"/>
              <a:cs typeface="Calibri"/>
              <a:sym typeface="Calibri"/>
            </a:endParaRPr>
          </a:p>
        </p:txBody>
      </p:sp>
      <p:sp>
        <p:nvSpPr>
          <p:cNvPr id="218" name="Google Shape;218;p13"/>
          <p:cNvSpPr/>
          <p:nvPr/>
        </p:nvSpPr>
        <p:spPr>
          <a:xfrm>
            <a:off x="960120" y="1481328"/>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200"/>
              <a:buFont typeface="Inter"/>
              <a:buNone/>
            </a:pPr>
            <a:r>
              <a:rPr b="1" lang="en-US" sz="1200">
                <a:solidFill>
                  <a:srgbClr val="EDEEF0"/>
                </a:solidFill>
                <a:latin typeface="Inter"/>
                <a:ea typeface="Inter"/>
                <a:cs typeface="Inter"/>
                <a:sym typeface="Inter"/>
              </a:rPr>
              <a:t>WooCommerce Access</a:t>
            </a:r>
            <a:endParaRPr b="0" i="0" sz="1200" u="none" cap="none" strike="noStrike">
              <a:solidFill>
                <a:schemeClr val="dk1"/>
              </a:solidFill>
              <a:latin typeface="Calibri"/>
              <a:ea typeface="Calibri"/>
              <a:cs typeface="Calibri"/>
              <a:sym typeface="Calibri"/>
            </a:endParaRPr>
          </a:p>
        </p:txBody>
      </p:sp>
      <p:sp>
        <p:nvSpPr>
          <p:cNvPr id="219" name="Google Shape;219;p13"/>
          <p:cNvSpPr/>
          <p:nvPr/>
        </p:nvSpPr>
        <p:spPr>
          <a:xfrm>
            <a:off x="960120" y="1819656"/>
            <a:ext cx="32918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50"/>
              <a:buFont typeface="Inter"/>
              <a:buNone/>
            </a:pPr>
            <a:r>
              <a:rPr lang="en-US" sz="950">
                <a:solidFill>
                  <a:srgbClr val="8A8F9A"/>
                </a:solidFill>
                <a:latin typeface="Inter"/>
                <a:ea typeface="Inter"/>
                <a:cs typeface="Inter"/>
                <a:sym typeface="Inter"/>
              </a:rPr>
              <a:t>Admin access to the current WooCommerce store so we can run the full migration audit — products, customers, orders, plugins, and URL structure.</a:t>
            </a:r>
            <a:endParaRPr b="0" i="0" sz="950" u="none" cap="none" strike="noStrike">
              <a:solidFill>
                <a:schemeClr val="dk1"/>
              </a:solidFill>
              <a:latin typeface="Calibri"/>
              <a:ea typeface="Calibri"/>
              <a:cs typeface="Calibri"/>
              <a:sym typeface="Calibri"/>
            </a:endParaRPr>
          </a:p>
        </p:txBody>
      </p:sp>
      <p:sp>
        <p:nvSpPr>
          <p:cNvPr id="220" name="Google Shape;220;p13"/>
          <p:cNvSpPr/>
          <p:nvPr/>
        </p:nvSpPr>
        <p:spPr>
          <a:xfrm>
            <a:off x="365760" y="2505456"/>
            <a:ext cx="4069080" cy="96012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3"/>
          <p:cNvSpPr/>
          <p:nvPr/>
        </p:nvSpPr>
        <p:spPr>
          <a:xfrm>
            <a:off x="548640" y="2615184"/>
            <a:ext cx="365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02</a:t>
            </a:r>
            <a:endParaRPr b="0" i="0" sz="900" u="none" cap="none" strike="noStrike">
              <a:solidFill>
                <a:schemeClr val="dk1"/>
              </a:solidFill>
              <a:latin typeface="Calibri"/>
              <a:ea typeface="Calibri"/>
              <a:cs typeface="Calibri"/>
              <a:sym typeface="Calibri"/>
            </a:endParaRPr>
          </a:p>
        </p:txBody>
      </p:sp>
      <p:sp>
        <p:nvSpPr>
          <p:cNvPr id="222" name="Google Shape;222;p13"/>
          <p:cNvSpPr/>
          <p:nvPr/>
        </p:nvSpPr>
        <p:spPr>
          <a:xfrm>
            <a:off x="960120" y="2596896"/>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200"/>
              <a:buFont typeface="Inter"/>
              <a:buNone/>
            </a:pPr>
            <a:r>
              <a:rPr b="1" lang="en-US" sz="1200">
                <a:solidFill>
                  <a:srgbClr val="EDEEF0"/>
                </a:solidFill>
                <a:latin typeface="Inter"/>
                <a:ea typeface="Inter"/>
                <a:cs typeface="Inter"/>
                <a:sym typeface="Inter"/>
              </a:rPr>
              <a:t>Brand Assets</a:t>
            </a:r>
            <a:endParaRPr b="0" i="0" sz="1200" u="none" cap="none" strike="noStrike">
              <a:solidFill>
                <a:schemeClr val="dk1"/>
              </a:solidFill>
              <a:latin typeface="Calibri"/>
              <a:ea typeface="Calibri"/>
              <a:cs typeface="Calibri"/>
              <a:sym typeface="Calibri"/>
            </a:endParaRPr>
          </a:p>
        </p:txBody>
      </p:sp>
      <p:sp>
        <p:nvSpPr>
          <p:cNvPr id="223" name="Google Shape;223;p13"/>
          <p:cNvSpPr/>
          <p:nvPr/>
        </p:nvSpPr>
        <p:spPr>
          <a:xfrm>
            <a:off x="960120" y="2935224"/>
            <a:ext cx="32918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50"/>
              <a:buFont typeface="Inter"/>
              <a:buNone/>
            </a:pPr>
            <a:r>
              <a:rPr lang="en-US" sz="950">
                <a:solidFill>
                  <a:srgbClr val="8A8F9A"/>
                </a:solidFill>
                <a:latin typeface="Inter"/>
                <a:ea typeface="Inter"/>
                <a:cs typeface="Inter"/>
                <a:sym typeface="Inter"/>
              </a:rPr>
              <a:t>Logo files (SVG/PNG), brand colour codes, typography preferences, and any high-resolution product photography you have available.</a:t>
            </a:r>
            <a:endParaRPr b="0" i="0" sz="950" u="none" cap="none" strike="noStrike">
              <a:solidFill>
                <a:schemeClr val="dk1"/>
              </a:solidFill>
              <a:latin typeface="Calibri"/>
              <a:ea typeface="Calibri"/>
              <a:cs typeface="Calibri"/>
              <a:sym typeface="Calibri"/>
            </a:endParaRPr>
          </a:p>
        </p:txBody>
      </p:sp>
      <p:sp>
        <p:nvSpPr>
          <p:cNvPr id="224" name="Google Shape;224;p13"/>
          <p:cNvSpPr/>
          <p:nvPr/>
        </p:nvSpPr>
        <p:spPr>
          <a:xfrm>
            <a:off x="365760" y="3621024"/>
            <a:ext cx="4069080" cy="96012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3"/>
          <p:cNvSpPr/>
          <p:nvPr/>
        </p:nvSpPr>
        <p:spPr>
          <a:xfrm>
            <a:off x="548640" y="3730752"/>
            <a:ext cx="365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03</a:t>
            </a:r>
            <a:endParaRPr b="0" i="0" sz="900" u="none" cap="none" strike="noStrike">
              <a:solidFill>
                <a:schemeClr val="dk1"/>
              </a:solidFill>
              <a:latin typeface="Calibri"/>
              <a:ea typeface="Calibri"/>
              <a:cs typeface="Calibri"/>
              <a:sym typeface="Calibri"/>
            </a:endParaRPr>
          </a:p>
        </p:txBody>
      </p:sp>
      <p:sp>
        <p:nvSpPr>
          <p:cNvPr id="226" name="Google Shape;226;p13"/>
          <p:cNvSpPr/>
          <p:nvPr/>
        </p:nvSpPr>
        <p:spPr>
          <a:xfrm>
            <a:off x="960120" y="3712464"/>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200"/>
              <a:buFont typeface="Inter"/>
              <a:buNone/>
            </a:pPr>
            <a:r>
              <a:rPr b="1" lang="en-US" sz="1200">
                <a:solidFill>
                  <a:srgbClr val="EDEEF0"/>
                </a:solidFill>
                <a:latin typeface="Inter"/>
                <a:ea typeface="Inter"/>
                <a:cs typeface="Inter"/>
                <a:sym typeface="Inter"/>
              </a:rPr>
              <a:t>Product &amp; Content Review</a:t>
            </a:r>
            <a:endParaRPr b="0" i="0" sz="1200" u="none" cap="none" strike="noStrike">
              <a:solidFill>
                <a:schemeClr val="dk1"/>
              </a:solidFill>
              <a:latin typeface="Calibri"/>
              <a:ea typeface="Calibri"/>
              <a:cs typeface="Calibri"/>
              <a:sym typeface="Calibri"/>
            </a:endParaRPr>
          </a:p>
        </p:txBody>
      </p:sp>
      <p:sp>
        <p:nvSpPr>
          <p:cNvPr id="227" name="Google Shape;227;p13"/>
          <p:cNvSpPr/>
          <p:nvPr/>
        </p:nvSpPr>
        <p:spPr>
          <a:xfrm>
            <a:off x="960120" y="4050792"/>
            <a:ext cx="32918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50"/>
              <a:buFont typeface="Inter"/>
              <a:buNone/>
            </a:pPr>
            <a:r>
              <a:rPr lang="en-US" sz="950">
                <a:solidFill>
                  <a:srgbClr val="8A8F9A"/>
                </a:solidFill>
                <a:latin typeface="Inter"/>
                <a:ea typeface="Inter"/>
                <a:cs typeface="Inter"/>
                <a:sym typeface="Inter"/>
              </a:rPr>
              <a:t>Confirmation of which products, collections, and pages should migrate. Flag anything that's outdated or should be retired — this is a clean-slate opportunity.</a:t>
            </a:r>
            <a:endParaRPr b="0" i="0" sz="950" u="none" cap="none" strike="noStrike">
              <a:solidFill>
                <a:schemeClr val="dk1"/>
              </a:solidFill>
              <a:latin typeface="Calibri"/>
              <a:ea typeface="Calibri"/>
              <a:cs typeface="Calibri"/>
              <a:sym typeface="Calibri"/>
            </a:endParaRPr>
          </a:p>
        </p:txBody>
      </p:sp>
      <p:sp>
        <p:nvSpPr>
          <p:cNvPr id="228" name="Google Shape;228;p13"/>
          <p:cNvSpPr/>
          <p:nvPr/>
        </p:nvSpPr>
        <p:spPr>
          <a:xfrm>
            <a:off x="4663440" y="1389888"/>
            <a:ext cx="4069080" cy="96012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3"/>
          <p:cNvSpPr/>
          <p:nvPr/>
        </p:nvSpPr>
        <p:spPr>
          <a:xfrm>
            <a:off x="4846320" y="1499616"/>
            <a:ext cx="365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04</a:t>
            </a:r>
            <a:endParaRPr b="0" i="0" sz="900" u="none" cap="none" strike="noStrike">
              <a:solidFill>
                <a:schemeClr val="dk1"/>
              </a:solidFill>
              <a:latin typeface="Calibri"/>
              <a:ea typeface="Calibri"/>
              <a:cs typeface="Calibri"/>
              <a:sym typeface="Calibri"/>
            </a:endParaRPr>
          </a:p>
        </p:txBody>
      </p:sp>
      <p:sp>
        <p:nvSpPr>
          <p:cNvPr id="230" name="Google Shape;230;p13"/>
          <p:cNvSpPr/>
          <p:nvPr/>
        </p:nvSpPr>
        <p:spPr>
          <a:xfrm>
            <a:off x="5257800" y="1481328"/>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200"/>
              <a:buFont typeface="Inter"/>
              <a:buNone/>
            </a:pPr>
            <a:r>
              <a:rPr b="1" lang="en-US" sz="1200">
                <a:solidFill>
                  <a:srgbClr val="EDEEF0"/>
                </a:solidFill>
                <a:latin typeface="Inter"/>
                <a:ea typeface="Inter"/>
                <a:cs typeface="Inter"/>
                <a:sym typeface="Inter"/>
              </a:rPr>
              <a:t>Payment &amp; Shipping Details</a:t>
            </a:r>
            <a:endParaRPr b="0" i="0" sz="1200" u="none" cap="none" strike="noStrike">
              <a:solidFill>
                <a:schemeClr val="dk1"/>
              </a:solidFill>
              <a:latin typeface="Calibri"/>
              <a:ea typeface="Calibri"/>
              <a:cs typeface="Calibri"/>
              <a:sym typeface="Calibri"/>
            </a:endParaRPr>
          </a:p>
        </p:txBody>
      </p:sp>
      <p:sp>
        <p:nvSpPr>
          <p:cNvPr id="231" name="Google Shape;231;p13"/>
          <p:cNvSpPr/>
          <p:nvPr/>
        </p:nvSpPr>
        <p:spPr>
          <a:xfrm>
            <a:off x="5257800" y="1819656"/>
            <a:ext cx="32918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50"/>
              <a:buFont typeface="Inter"/>
              <a:buNone/>
            </a:pPr>
            <a:r>
              <a:rPr lang="en-US" sz="950">
                <a:solidFill>
                  <a:srgbClr val="8A8F9A"/>
                </a:solidFill>
                <a:latin typeface="Inter"/>
                <a:ea typeface="Inter"/>
                <a:cs typeface="Inter"/>
                <a:sym typeface="Inter"/>
              </a:rPr>
              <a:t>Preferred payment gateway (PayFast, Yoco, or Peach Payments) and shipping setup — flat rates, courier integration (Bob Go, Pargo), or manual configuration.</a:t>
            </a:r>
            <a:endParaRPr b="0" i="0" sz="950" u="none" cap="none" strike="noStrike">
              <a:solidFill>
                <a:schemeClr val="dk1"/>
              </a:solidFill>
              <a:latin typeface="Calibri"/>
              <a:ea typeface="Calibri"/>
              <a:cs typeface="Calibri"/>
              <a:sym typeface="Calibri"/>
            </a:endParaRPr>
          </a:p>
        </p:txBody>
      </p:sp>
      <p:sp>
        <p:nvSpPr>
          <p:cNvPr id="232" name="Google Shape;232;p13"/>
          <p:cNvSpPr/>
          <p:nvPr/>
        </p:nvSpPr>
        <p:spPr>
          <a:xfrm>
            <a:off x="4663440" y="2505456"/>
            <a:ext cx="4069080" cy="96012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3"/>
          <p:cNvSpPr/>
          <p:nvPr/>
        </p:nvSpPr>
        <p:spPr>
          <a:xfrm>
            <a:off x="4846320" y="2615184"/>
            <a:ext cx="365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05</a:t>
            </a:r>
            <a:endParaRPr b="0" i="0" sz="900" u="none" cap="none" strike="noStrike">
              <a:solidFill>
                <a:schemeClr val="dk1"/>
              </a:solidFill>
              <a:latin typeface="Calibri"/>
              <a:ea typeface="Calibri"/>
              <a:cs typeface="Calibri"/>
              <a:sym typeface="Calibri"/>
            </a:endParaRPr>
          </a:p>
        </p:txBody>
      </p:sp>
      <p:sp>
        <p:nvSpPr>
          <p:cNvPr id="234" name="Google Shape;234;p13"/>
          <p:cNvSpPr/>
          <p:nvPr/>
        </p:nvSpPr>
        <p:spPr>
          <a:xfrm>
            <a:off x="5257800" y="2596896"/>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200"/>
              <a:buFont typeface="Inter"/>
              <a:buNone/>
            </a:pPr>
            <a:r>
              <a:rPr b="1" lang="en-US" sz="1200">
                <a:solidFill>
                  <a:srgbClr val="EDEEF0"/>
                </a:solidFill>
                <a:latin typeface="Inter"/>
                <a:ea typeface="Inter"/>
                <a:cs typeface="Inter"/>
                <a:sym typeface="Inter"/>
              </a:rPr>
              <a:t>SEO Inputs</a:t>
            </a:r>
            <a:endParaRPr b="0" i="0" sz="1200" u="none" cap="none" strike="noStrike">
              <a:solidFill>
                <a:schemeClr val="dk1"/>
              </a:solidFill>
              <a:latin typeface="Calibri"/>
              <a:ea typeface="Calibri"/>
              <a:cs typeface="Calibri"/>
              <a:sym typeface="Calibri"/>
            </a:endParaRPr>
          </a:p>
        </p:txBody>
      </p:sp>
      <p:sp>
        <p:nvSpPr>
          <p:cNvPr id="235" name="Google Shape;235;p13"/>
          <p:cNvSpPr/>
          <p:nvPr/>
        </p:nvSpPr>
        <p:spPr>
          <a:xfrm>
            <a:off x="5257800" y="2935224"/>
            <a:ext cx="32918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50"/>
              <a:buFont typeface="Inter"/>
              <a:buNone/>
            </a:pPr>
            <a:r>
              <a:rPr lang="en-US" sz="950">
                <a:solidFill>
                  <a:srgbClr val="8A8F9A"/>
                </a:solidFill>
                <a:latin typeface="Inter"/>
                <a:ea typeface="Inter"/>
                <a:cs typeface="Inter"/>
                <a:sym typeface="Inter"/>
              </a:rPr>
              <a:t>Any existing keyword research, Google Analytics/Search Console access, and a list of your top competitors so we can hit the ground running on SEO strategy.</a:t>
            </a:r>
            <a:endParaRPr b="0" i="0" sz="950" u="none" cap="none" strike="noStrike">
              <a:solidFill>
                <a:schemeClr val="dk1"/>
              </a:solidFill>
              <a:latin typeface="Calibri"/>
              <a:ea typeface="Calibri"/>
              <a:cs typeface="Calibri"/>
              <a:sym typeface="Calibri"/>
            </a:endParaRPr>
          </a:p>
        </p:txBody>
      </p:sp>
      <p:sp>
        <p:nvSpPr>
          <p:cNvPr id="236" name="Google Shape;236;p13"/>
          <p:cNvSpPr/>
          <p:nvPr/>
        </p:nvSpPr>
        <p:spPr>
          <a:xfrm>
            <a:off x="4663440" y="3621024"/>
            <a:ext cx="4069080" cy="96012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3"/>
          <p:cNvSpPr/>
          <p:nvPr/>
        </p:nvSpPr>
        <p:spPr>
          <a:xfrm>
            <a:off x="4846320" y="3730752"/>
            <a:ext cx="365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06</a:t>
            </a:r>
            <a:endParaRPr b="0" i="0" sz="900" u="none" cap="none" strike="noStrike">
              <a:solidFill>
                <a:schemeClr val="dk1"/>
              </a:solidFill>
              <a:latin typeface="Calibri"/>
              <a:ea typeface="Calibri"/>
              <a:cs typeface="Calibri"/>
              <a:sym typeface="Calibri"/>
            </a:endParaRPr>
          </a:p>
        </p:txBody>
      </p:sp>
      <p:sp>
        <p:nvSpPr>
          <p:cNvPr id="238" name="Google Shape;238;p13"/>
          <p:cNvSpPr/>
          <p:nvPr/>
        </p:nvSpPr>
        <p:spPr>
          <a:xfrm>
            <a:off x="5257800" y="3712464"/>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200"/>
              <a:buFont typeface="Inter"/>
              <a:buNone/>
            </a:pPr>
            <a:r>
              <a:rPr b="1" lang="en-US" sz="1200">
                <a:solidFill>
                  <a:srgbClr val="EDEEF0"/>
                </a:solidFill>
                <a:latin typeface="Inter"/>
                <a:ea typeface="Inter"/>
                <a:cs typeface="Inter"/>
                <a:sym typeface="Inter"/>
              </a:rPr>
              <a:t>Sign-Off &amp; Deposit</a:t>
            </a:r>
            <a:endParaRPr b="0" i="0" sz="1200" u="none" cap="none" strike="noStrike">
              <a:solidFill>
                <a:schemeClr val="dk1"/>
              </a:solidFill>
              <a:latin typeface="Calibri"/>
              <a:ea typeface="Calibri"/>
              <a:cs typeface="Calibri"/>
              <a:sym typeface="Calibri"/>
            </a:endParaRPr>
          </a:p>
        </p:txBody>
      </p:sp>
      <p:sp>
        <p:nvSpPr>
          <p:cNvPr id="239" name="Google Shape;239;p13"/>
          <p:cNvSpPr/>
          <p:nvPr/>
        </p:nvSpPr>
        <p:spPr>
          <a:xfrm>
            <a:off x="5257800" y="4050792"/>
            <a:ext cx="32918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50"/>
              <a:buFont typeface="Inter"/>
              <a:buNone/>
            </a:pPr>
            <a:r>
              <a:rPr lang="en-US" sz="950">
                <a:solidFill>
                  <a:srgbClr val="8A8F9A"/>
                </a:solidFill>
                <a:latin typeface="Inter"/>
                <a:ea typeface="Inter"/>
                <a:cs typeface="Inter"/>
                <a:sym typeface="Inter"/>
              </a:rPr>
              <a:t>Signed proposal and 50% deposit on the migration build (R29,000) to lock in the timeline. SEO retainer kicks in from the month of launch.</a:t>
            </a:r>
            <a:endParaRPr b="0" i="0" sz="950" u="none" cap="none" strike="noStrike">
              <a:solidFill>
                <a:schemeClr val="dk1"/>
              </a:solidFill>
              <a:latin typeface="Calibri"/>
              <a:ea typeface="Calibri"/>
              <a:cs typeface="Calibri"/>
              <a:sym typeface="Calibri"/>
            </a:endParaRPr>
          </a:p>
        </p:txBody>
      </p:sp>
      <p:sp>
        <p:nvSpPr>
          <p:cNvPr id="240" name="Google Shape;240;p13"/>
          <p:cNvSpPr/>
          <p:nvPr/>
        </p:nvSpPr>
        <p:spPr>
          <a:xfrm>
            <a:off x="8412480" y="4828032"/>
            <a:ext cx="45720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F9A"/>
              </a:buClr>
              <a:buSzPts val="800"/>
              <a:buFont typeface="Inter"/>
              <a:buNone/>
            </a:pPr>
            <a:r>
              <a:rPr b="0" i="0" lang="en-US" sz="800" u="none" cap="none" strike="noStrike">
                <a:solidFill>
                  <a:srgbClr val="8A8F9A"/>
                </a:solidFill>
                <a:latin typeface="Inter"/>
                <a:ea typeface="Inter"/>
                <a:cs typeface="Inter"/>
                <a:sym typeface="Inter"/>
              </a:rPr>
              <a:t>13</a:t>
            </a:r>
            <a:endParaRPr b="0" i="0" sz="800" u="none" cap="none" strike="noStrike">
              <a:solidFill>
                <a:schemeClr val="dk1"/>
              </a:solidFill>
              <a:latin typeface="Calibri"/>
              <a:ea typeface="Calibri"/>
              <a:cs typeface="Calibri"/>
              <a:sym typeface="Calibri"/>
            </a:endParaRPr>
          </a:p>
        </p:txBody>
      </p:sp>
      <p:pic>
        <p:nvPicPr>
          <p:cNvPr id="241" name="Google Shape;241;p13"/>
          <p:cNvPicPr preferRelativeResize="0"/>
          <p:nvPr/>
        </p:nvPicPr>
        <p:blipFill rotWithShape="1">
          <a:blip r:embed="rId3">
            <a:alphaModFix/>
          </a:blip>
          <a:srcRect b="0" l="0" r="69966" t="0"/>
          <a:stretch/>
        </p:blipFill>
        <p:spPr>
          <a:xfrm>
            <a:off x="8091325" y="292600"/>
            <a:ext cx="641212" cy="53908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5"/>
        </a:solidFill>
      </p:bgPr>
    </p:bg>
    <p:spTree>
      <p:nvGrpSpPr>
        <p:cNvPr id="246" name="Shape 246"/>
        <p:cNvGrpSpPr/>
        <p:nvPr/>
      </p:nvGrpSpPr>
      <p:grpSpPr>
        <a:xfrm>
          <a:off x="0" y="0"/>
          <a:ext cx="0" cy="0"/>
          <a:chOff x="0" y="0"/>
          <a:chExt cx="0" cy="0"/>
        </a:xfrm>
      </p:grpSpPr>
      <p:sp>
        <p:nvSpPr>
          <p:cNvPr id="247" name="Google Shape;247;p14"/>
          <p:cNvSpPr/>
          <p:nvPr/>
        </p:nvSpPr>
        <p:spPr>
          <a:xfrm>
            <a:off x="548640" y="292608"/>
            <a:ext cx="45720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CHAPTER 07</a:t>
            </a:r>
            <a:endParaRPr b="0" i="0" sz="900" u="none" cap="none" strike="noStrike">
              <a:solidFill>
                <a:schemeClr val="dk1"/>
              </a:solidFill>
              <a:latin typeface="Calibri"/>
              <a:ea typeface="Calibri"/>
              <a:cs typeface="Calibri"/>
              <a:sym typeface="Calibri"/>
            </a:endParaRPr>
          </a:p>
        </p:txBody>
      </p:sp>
      <p:sp>
        <p:nvSpPr>
          <p:cNvPr id="248" name="Google Shape;248;p14"/>
          <p:cNvSpPr/>
          <p:nvPr/>
        </p:nvSpPr>
        <p:spPr>
          <a:xfrm>
            <a:off x="548640" y="502920"/>
            <a:ext cx="73152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EF0"/>
              </a:buClr>
              <a:buSzPts val="2400"/>
              <a:buFont typeface="Inter"/>
              <a:buNone/>
            </a:pPr>
            <a:r>
              <a:rPr b="1" i="0" lang="en-US" sz="2400" u="none" cap="none" strike="noStrike">
                <a:solidFill>
                  <a:srgbClr val="EDEEF0"/>
                </a:solidFill>
                <a:latin typeface="Inter"/>
                <a:ea typeface="Inter"/>
                <a:cs typeface="Inter"/>
                <a:sym typeface="Inter"/>
              </a:rPr>
              <a:t>About Honey Whale</a:t>
            </a:r>
            <a:endParaRPr b="0" i="0" sz="2400" u="none" cap="none" strike="noStrike">
              <a:solidFill>
                <a:schemeClr val="dk1"/>
              </a:solidFill>
              <a:latin typeface="Calibri"/>
              <a:ea typeface="Calibri"/>
              <a:cs typeface="Calibri"/>
              <a:sym typeface="Calibri"/>
            </a:endParaRPr>
          </a:p>
        </p:txBody>
      </p:sp>
      <p:sp>
        <p:nvSpPr>
          <p:cNvPr id="249" name="Google Shape;249;p14"/>
          <p:cNvSpPr/>
          <p:nvPr/>
        </p:nvSpPr>
        <p:spPr>
          <a:xfrm>
            <a:off x="548640" y="1005840"/>
            <a:ext cx="7315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F9A"/>
              </a:buClr>
              <a:buSzPts val="1200"/>
              <a:buFont typeface="Inter"/>
              <a:buNone/>
            </a:pPr>
            <a:r>
              <a:rPr b="0" i="0" lang="en-US" sz="1200" u="none" cap="none" strike="noStrike">
                <a:solidFill>
                  <a:srgbClr val="8A8F9A"/>
                </a:solidFill>
                <a:latin typeface="Inter"/>
                <a:ea typeface="Inter"/>
                <a:cs typeface="Inter"/>
                <a:sym typeface="Inter"/>
              </a:rPr>
              <a:t>Shopify-only.  Senior.  South African.</a:t>
            </a:r>
            <a:endParaRPr b="0" i="0" sz="1200" u="none" cap="none" strike="noStrike">
              <a:solidFill>
                <a:schemeClr val="dk1"/>
              </a:solidFill>
              <a:latin typeface="Calibri"/>
              <a:ea typeface="Calibri"/>
              <a:cs typeface="Calibri"/>
              <a:sym typeface="Calibri"/>
            </a:endParaRPr>
          </a:p>
        </p:txBody>
      </p:sp>
      <p:sp>
        <p:nvSpPr>
          <p:cNvPr id="250" name="Google Shape;250;p14"/>
          <p:cNvSpPr/>
          <p:nvPr/>
        </p:nvSpPr>
        <p:spPr>
          <a:xfrm>
            <a:off x="365760" y="1417320"/>
            <a:ext cx="4846320" cy="342900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4"/>
          <p:cNvSpPr/>
          <p:nvPr/>
        </p:nvSpPr>
        <p:spPr>
          <a:xfrm>
            <a:off x="594360" y="1600200"/>
            <a:ext cx="4389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300"/>
              <a:buFont typeface="Inter"/>
              <a:buNone/>
            </a:pPr>
            <a:r>
              <a:rPr b="1" i="0" lang="en-US" sz="1300" u="none" cap="none" strike="noStrike">
                <a:solidFill>
                  <a:srgbClr val="EDEEF0"/>
                </a:solidFill>
                <a:latin typeface="Inter"/>
                <a:ea typeface="Inter"/>
                <a:cs typeface="Inter"/>
                <a:sym typeface="Inter"/>
              </a:rPr>
              <a:t>We are a Shopify-focused growth agency built in South Africa.</a:t>
            </a:r>
            <a:endParaRPr b="0" i="0" sz="1300" u="none" cap="none" strike="noStrike">
              <a:solidFill>
                <a:schemeClr val="dk1"/>
              </a:solidFill>
              <a:latin typeface="Calibri"/>
              <a:ea typeface="Calibri"/>
              <a:cs typeface="Calibri"/>
              <a:sym typeface="Calibri"/>
            </a:endParaRPr>
          </a:p>
        </p:txBody>
      </p:sp>
      <p:sp>
        <p:nvSpPr>
          <p:cNvPr id="252" name="Google Shape;252;p14"/>
          <p:cNvSpPr/>
          <p:nvPr/>
        </p:nvSpPr>
        <p:spPr>
          <a:xfrm>
            <a:off x="594360" y="2176272"/>
            <a:ext cx="43891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lang="en-US" sz="1000">
                <a:solidFill>
                  <a:srgbClr val="F7D046"/>
                </a:solidFill>
                <a:latin typeface="Inter"/>
                <a:ea typeface="Inter"/>
                <a:cs typeface="Inter"/>
                <a:sym typeface="Inter"/>
              </a:rPr>
              <a:t>-</a:t>
            </a:r>
            <a:r>
              <a:rPr b="0" i="0" lang="en-US" sz="1000" u="none" cap="none" strike="noStrike">
                <a:solidFill>
                  <a:srgbClr val="F7D046"/>
                </a:solidFill>
                <a:latin typeface="Inter"/>
                <a:ea typeface="Inter"/>
                <a:cs typeface="Inter"/>
                <a:sym typeface="Inter"/>
              </a:rPr>
              <a:t>  </a:t>
            </a:r>
            <a:r>
              <a:rPr b="0" i="0" lang="en-US" sz="1000" u="none" cap="none" strike="noStrike">
                <a:solidFill>
                  <a:srgbClr val="8A8F9A"/>
                </a:solidFill>
                <a:latin typeface="Inter"/>
                <a:ea typeface="Inter"/>
                <a:cs typeface="Inter"/>
                <a:sym typeface="Inter"/>
              </a:rPr>
              <a:t>Shopify-only. We don't split focus across platforms </a:t>
            </a:r>
            <a:r>
              <a:rPr lang="en-US" sz="1000">
                <a:solidFill>
                  <a:srgbClr val="8A8F9A"/>
                </a:solidFill>
                <a:latin typeface="Inter"/>
                <a:ea typeface="Inter"/>
                <a:cs typeface="Inter"/>
                <a:sym typeface="Inter"/>
              </a:rPr>
              <a:t>-</a:t>
            </a:r>
            <a:r>
              <a:rPr b="0" i="0" lang="en-US" sz="1000" u="none" cap="none" strike="noStrike">
                <a:solidFill>
                  <a:srgbClr val="8A8F9A"/>
                </a:solidFill>
                <a:latin typeface="Inter"/>
                <a:ea typeface="Inter"/>
                <a:cs typeface="Inter"/>
                <a:sym typeface="Inter"/>
              </a:rPr>
              <a:t> every project benefits from deep, focused experience.</a:t>
            </a:r>
            <a:endParaRPr b="0" i="0" sz="1000" u="none" cap="none" strike="noStrike">
              <a:solidFill>
                <a:schemeClr val="dk1"/>
              </a:solidFill>
              <a:latin typeface="Calibri"/>
              <a:ea typeface="Calibri"/>
              <a:cs typeface="Calibri"/>
              <a:sym typeface="Calibri"/>
            </a:endParaRPr>
          </a:p>
        </p:txBody>
      </p:sp>
      <p:sp>
        <p:nvSpPr>
          <p:cNvPr id="253" name="Google Shape;253;p14"/>
          <p:cNvSpPr/>
          <p:nvPr/>
        </p:nvSpPr>
        <p:spPr>
          <a:xfrm>
            <a:off x="594360" y="2816352"/>
            <a:ext cx="43891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lang="en-US" sz="1000">
                <a:solidFill>
                  <a:srgbClr val="F7D046"/>
                </a:solidFill>
                <a:latin typeface="Inter"/>
                <a:ea typeface="Inter"/>
                <a:cs typeface="Inter"/>
                <a:sym typeface="Inter"/>
              </a:rPr>
              <a:t>-</a:t>
            </a:r>
            <a:r>
              <a:rPr b="0" i="0" lang="en-US" sz="1000" u="none" cap="none" strike="noStrike">
                <a:solidFill>
                  <a:srgbClr val="F7D046"/>
                </a:solidFill>
                <a:latin typeface="Inter"/>
                <a:ea typeface="Inter"/>
                <a:cs typeface="Inter"/>
                <a:sym typeface="Inter"/>
              </a:rPr>
              <a:t>  </a:t>
            </a:r>
            <a:r>
              <a:rPr b="0" i="0" lang="en-US" sz="1000" u="none" cap="none" strike="noStrike">
                <a:solidFill>
                  <a:srgbClr val="8A8F9A"/>
                </a:solidFill>
                <a:latin typeface="Inter"/>
                <a:ea typeface="Inter"/>
                <a:cs typeface="Inter"/>
                <a:sym typeface="Inter"/>
              </a:rPr>
              <a:t>Senior and small by design. Every project has an experienced lead on it. No juniors handed the work after scoping.</a:t>
            </a:r>
            <a:endParaRPr b="0" i="0" sz="1000" u="none" cap="none" strike="noStrike">
              <a:solidFill>
                <a:schemeClr val="dk1"/>
              </a:solidFill>
              <a:latin typeface="Calibri"/>
              <a:ea typeface="Calibri"/>
              <a:cs typeface="Calibri"/>
              <a:sym typeface="Calibri"/>
            </a:endParaRPr>
          </a:p>
        </p:txBody>
      </p:sp>
      <p:sp>
        <p:nvSpPr>
          <p:cNvPr id="254" name="Google Shape;254;p14"/>
          <p:cNvSpPr/>
          <p:nvPr/>
        </p:nvSpPr>
        <p:spPr>
          <a:xfrm>
            <a:off x="594360" y="3456432"/>
            <a:ext cx="43891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lang="en-US" sz="1000">
                <a:solidFill>
                  <a:srgbClr val="F7D046"/>
                </a:solidFill>
                <a:latin typeface="Inter"/>
                <a:ea typeface="Inter"/>
                <a:cs typeface="Inter"/>
                <a:sym typeface="Inter"/>
              </a:rPr>
              <a:t>-</a:t>
            </a:r>
            <a:r>
              <a:rPr b="0" i="0" lang="en-US" sz="1000" u="none" cap="none" strike="noStrike">
                <a:solidFill>
                  <a:srgbClr val="F7D046"/>
                </a:solidFill>
                <a:latin typeface="Inter"/>
                <a:ea typeface="Inter"/>
                <a:cs typeface="Inter"/>
                <a:sym typeface="Inter"/>
              </a:rPr>
              <a:t>  </a:t>
            </a:r>
            <a:r>
              <a:rPr b="0" i="0" lang="en-US" sz="1000" u="none" cap="none" strike="noStrike">
                <a:solidFill>
                  <a:srgbClr val="8A8F9A"/>
                </a:solidFill>
                <a:latin typeface="Inter"/>
                <a:ea typeface="Inter"/>
                <a:cs typeface="Inter"/>
                <a:sym typeface="Inter"/>
              </a:rPr>
              <a:t>We build for results: clean code, fast stores, and handovers that genuinely empower your team.</a:t>
            </a:r>
            <a:endParaRPr b="0" i="0" sz="1000" u="none" cap="none" strike="noStrike">
              <a:solidFill>
                <a:schemeClr val="dk1"/>
              </a:solidFill>
              <a:latin typeface="Calibri"/>
              <a:ea typeface="Calibri"/>
              <a:cs typeface="Calibri"/>
              <a:sym typeface="Calibri"/>
            </a:endParaRPr>
          </a:p>
        </p:txBody>
      </p:sp>
      <p:sp>
        <p:nvSpPr>
          <p:cNvPr id="255" name="Google Shape;255;p14"/>
          <p:cNvSpPr/>
          <p:nvPr/>
        </p:nvSpPr>
        <p:spPr>
          <a:xfrm>
            <a:off x="594360" y="4096512"/>
            <a:ext cx="43891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1000"/>
              <a:buFont typeface="Inter"/>
              <a:buNone/>
            </a:pPr>
            <a:r>
              <a:rPr lang="en-US" sz="1000">
                <a:solidFill>
                  <a:srgbClr val="F7D046"/>
                </a:solidFill>
                <a:latin typeface="Inter"/>
                <a:ea typeface="Inter"/>
                <a:cs typeface="Inter"/>
                <a:sym typeface="Inter"/>
              </a:rPr>
              <a:t>-</a:t>
            </a:r>
            <a:r>
              <a:rPr b="0" i="0" lang="en-US" sz="1000" u="none" cap="none" strike="noStrike">
                <a:solidFill>
                  <a:srgbClr val="F7D046"/>
                </a:solidFill>
                <a:latin typeface="Inter"/>
                <a:ea typeface="Inter"/>
                <a:cs typeface="Inter"/>
                <a:sym typeface="Inter"/>
              </a:rPr>
              <a:t>  </a:t>
            </a:r>
            <a:r>
              <a:rPr b="0" i="0" lang="en-US" sz="1000" u="none" cap="none" strike="noStrike">
                <a:solidFill>
                  <a:srgbClr val="8A8F9A"/>
                </a:solidFill>
                <a:latin typeface="Inter"/>
                <a:ea typeface="Inter"/>
                <a:cs typeface="Inter"/>
                <a:sym typeface="Inter"/>
              </a:rPr>
              <a:t>Our clients include established SA and international brands who need a partner that understands both e-commerce and growth.</a:t>
            </a:r>
            <a:endParaRPr b="0" i="0" sz="1000" u="none" cap="none" strike="noStrike">
              <a:solidFill>
                <a:schemeClr val="dk1"/>
              </a:solidFill>
              <a:latin typeface="Calibri"/>
              <a:ea typeface="Calibri"/>
              <a:cs typeface="Calibri"/>
              <a:sym typeface="Calibri"/>
            </a:endParaRPr>
          </a:p>
        </p:txBody>
      </p:sp>
      <p:sp>
        <p:nvSpPr>
          <p:cNvPr id="256" name="Google Shape;256;p14"/>
          <p:cNvSpPr/>
          <p:nvPr/>
        </p:nvSpPr>
        <p:spPr>
          <a:xfrm>
            <a:off x="5394960" y="1417320"/>
            <a:ext cx="3383280" cy="342900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4"/>
          <p:cNvSpPr/>
          <p:nvPr/>
        </p:nvSpPr>
        <p:spPr>
          <a:xfrm>
            <a:off x="5577840" y="1600200"/>
            <a:ext cx="30175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000"/>
              <a:buFont typeface="Inter"/>
              <a:buNone/>
            </a:pPr>
            <a:r>
              <a:rPr b="1" i="0" lang="en-US" sz="1000" u="none" cap="none" strike="noStrike">
                <a:solidFill>
                  <a:srgbClr val="EDEEF0"/>
                </a:solidFill>
                <a:latin typeface="Inter"/>
                <a:ea typeface="Inter"/>
                <a:cs typeface="Inter"/>
                <a:sym typeface="Inter"/>
              </a:rPr>
              <a:t>Brands we've worked with</a:t>
            </a:r>
            <a:endParaRPr b="0" i="0" sz="1000" u="none" cap="none" strike="noStrike">
              <a:solidFill>
                <a:schemeClr val="dk1"/>
              </a:solidFill>
              <a:latin typeface="Calibri"/>
              <a:ea typeface="Calibri"/>
              <a:cs typeface="Calibri"/>
              <a:sym typeface="Calibri"/>
            </a:endParaRPr>
          </a:p>
        </p:txBody>
      </p:sp>
      <p:sp>
        <p:nvSpPr>
          <p:cNvPr id="258" name="Google Shape;258;p14"/>
          <p:cNvSpPr/>
          <p:nvPr/>
        </p:nvSpPr>
        <p:spPr>
          <a:xfrm>
            <a:off x="5577840" y="2057400"/>
            <a:ext cx="1554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850"/>
              <a:buFont typeface="Inter"/>
              <a:buNone/>
            </a:pPr>
            <a:r>
              <a:rPr b="0" i="0" lang="en-US" sz="850" u="none" cap="none" strike="noStrike">
                <a:solidFill>
                  <a:srgbClr val="8A8F9A"/>
                </a:solidFill>
                <a:latin typeface="Inter"/>
                <a:ea typeface="Inter"/>
                <a:cs typeface="Inter"/>
                <a:sym typeface="Inter"/>
              </a:rPr>
              <a:t>The Bed Store</a:t>
            </a:r>
            <a:endParaRPr b="0" i="0" sz="850" u="none" cap="none" strike="noStrike">
              <a:solidFill>
                <a:schemeClr val="dk1"/>
              </a:solidFill>
              <a:latin typeface="Calibri"/>
              <a:ea typeface="Calibri"/>
              <a:cs typeface="Calibri"/>
              <a:sym typeface="Calibri"/>
            </a:endParaRPr>
          </a:p>
        </p:txBody>
      </p:sp>
      <p:sp>
        <p:nvSpPr>
          <p:cNvPr id="259" name="Google Shape;259;p14"/>
          <p:cNvSpPr/>
          <p:nvPr/>
        </p:nvSpPr>
        <p:spPr>
          <a:xfrm>
            <a:off x="7223760" y="2057400"/>
            <a:ext cx="1554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850"/>
              <a:buFont typeface="Inter"/>
              <a:buNone/>
            </a:pPr>
            <a:r>
              <a:rPr b="0" i="0" lang="en-US" sz="850" u="none" cap="none" strike="noStrike">
                <a:solidFill>
                  <a:srgbClr val="8A8F9A"/>
                </a:solidFill>
                <a:latin typeface="Inter"/>
                <a:ea typeface="Inter"/>
                <a:cs typeface="Inter"/>
                <a:sym typeface="Inter"/>
              </a:rPr>
              <a:t>Bootlegger Coffee</a:t>
            </a:r>
            <a:endParaRPr b="0" i="0" sz="850" u="none" cap="none" strike="noStrike">
              <a:solidFill>
                <a:schemeClr val="dk1"/>
              </a:solidFill>
              <a:latin typeface="Calibri"/>
              <a:ea typeface="Calibri"/>
              <a:cs typeface="Calibri"/>
              <a:sym typeface="Calibri"/>
            </a:endParaRPr>
          </a:p>
        </p:txBody>
      </p:sp>
      <p:sp>
        <p:nvSpPr>
          <p:cNvPr id="260" name="Google Shape;260;p14"/>
          <p:cNvSpPr/>
          <p:nvPr/>
        </p:nvSpPr>
        <p:spPr>
          <a:xfrm>
            <a:off x="5577840" y="2624328"/>
            <a:ext cx="1554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850"/>
              <a:buFont typeface="Inter"/>
              <a:buNone/>
            </a:pPr>
            <a:r>
              <a:rPr b="0" i="0" lang="en-US" sz="850" u="none" cap="none" strike="noStrike">
                <a:solidFill>
                  <a:srgbClr val="8A8F9A"/>
                </a:solidFill>
                <a:latin typeface="Inter"/>
                <a:ea typeface="Inter"/>
                <a:cs typeface="Inter"/>
                <a:sym typeface="Inter"/>
              </a:rPr>
              <a:t>Skin Functional</a:t>
            </a:r>
            <a:endParaRPr b="0" i="0" sz="850" u="none" cap="none" strike="noStrike">
              <a:solidFill>
                <a:schemeClr val="dk1"/>
              </a:solidFill>
              <a:latin typeface="Calibri"/>
              <a:ea typeface="Calibri"/>
              <a:cs typeface="Calibri"/>
              <a:sym typeface="Calibri"/>
            </a:endParaRPr>
          </a:p>
        </p:txBody>
      </p:sp>
      <p:sp>
        <p:nvSpPr>
          <p:cNvPr id="261" name="Google Shape;261;p14"/>
          <p:cNvSpPr/>
          <p:nvPr/>
        </p:nvSpPr>
        <p:spPr>
          <a:xfrm>
            <a:off x="7223760" y="2624328"/>
            <a:ext cx="1554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850"/>
              <a:buFont typeface="Inter"/>
              <a:buNone/>
            </a:pPr>
            <a:r>
              <a:rPr b="0" i="0" lang="en-US" sz="850" u="none" cap="none" strike="noStrike">
                <a:solidFill>
                  <a:srgbClr val="8A8F9A"/>
                </a:solidFill>
                <a:latin typeface="Inter"/>
                <a:ea typeface="Inter"/>
                <a:cs typeface="Inter"/>
                <a:sym typeface="Inter"/>
              </a:rPr>
              <a:t>Palladium Boots</a:t>
            </a:r>
            <a:endParaRPr b="0" i="0" sz="850" u="none" cap="none" strike="noStrike">
              <a:solidFill>
                <a:schemeClr val="dk1"/>
              </a:solidFill>
              <a:latin typeface="Calibri"/>
              <a:ea typeface="Calibri"/>
              <a:cs typeface="Calibri"/>
              <a:sym typeface="Calibri"/>
            </a:endParaRPr>
          </a:p>
        </p:txBody>
      </p:sp>
      <p:sp>
        <p:nvSpPr>
          <p:cNvPr id="262" name="Google Shape;262;p14"/>
          <p:cNvSpPr/>
          <p:nvPr/>
        </p:nvSpPr>
        <p:spPr>
          <a:xfrm>
            <a:off x="5577840" y="3191256"/>
            <a:ext cx="1554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850"/>
              <a:buFont typeface="Inter"/>
              <a:buNone/>
            </a:pPr>
            <a:r>
              <a:rPr b="0" i="0" lang="en-US" sz="850" u="none" cap="none" strike="noStrike">
                <a:solidFill>
                  <a:srgbClr val="8A8F9A"/>
                </a:solidFill>
                <a:latin typeface="Inter"/>
                <a:ea typeface="Inter"/>
                <a:cs typeface="Inter"/>
                <a:sym typeface="Inter"/>
              </a:rPr>
              <a:t>Ben Sherman</a:t>
            </a:r>
            <a:endParaRPr b="0" i="0" sz="850" u="none" cap="none" strike="noStrike">
              <a:solidFill>
                <a:schemeClr val="dk1"/>
              </a:solidFill>
              <a:latin typeface="Calibri"/>
              <a:ea typeface="Calibri"/>
              <a:cs typeface="Calibri"/>
              <a:sym typeface="Calibri"/>
            </a:endParaRPr>
          </a:p>
        </p:txBody>
      </p:sp>
      <p:sp>
        <p:nvSpPr>
          <p:cNvPr id="263" name="Google Shape;263;p14"/>
          <p:cNvSpPr/>
          <p:nvPr/>
        </p:nvSpPr>
        <p:spPr>
          <a:xfrm>
            <a:off x="7223760" y="3191256"/>
            <a:ext cx="1554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850"/>
              <a:buFont typeface="Inter"/>
              <a:buNone/>
            </a:pPr>
            <a:r>
              <a:rPr b="0" i="0" lang="en-US" sz="850" u="none" cap="none" strike="noStrike">
                <a:solidFill>
                  <a:srgbClr val="8A8F9A"/>
                </a:solidFill>
                <a:latin typeface="Inter"/>
                <a:ea typeface="Inter"/>
                <a:cs typeface="Inter"/>
                <a:sym typeface="Inter"/>
              </a:rPr>
              <a:t>Vow Jewellery London</a:t>
            </a:r>
            <a:endParaRPr b="0" i="0" sz="850" u="none" cap="none" strike="noStrike">
              <a:solidFill>
                <a:schemeClr val="dk1"/>
              </a:solidFill>
              <a:latin typeface="Calibri"/>
              <a:ea typeface="Calibri"/>
              <a:cs typeface="Calibri"/>
              <a:sym typeface="Calibri"/>
            </a:endParaRPr>
          </a:p>
        </p:txBody>
      </p:sp>
      <p:sp>
        <p:nvSpPr>
          <p:cNvPr id="264" name="Google Shape;264;p14"/>
          <p:cNvSpPr/>
          <p:nvPr/>
        </p:nvSpPr>
        <p:spPr>
          <a:xfrm>
            <a:off x="5577840" y="3758184"/>
            <a:ext cx="1554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850"/>
              <a:buFont typeface="Inter"/>
              <a:buNone/>
            </a:pPr>
            <a:r>
              <a:rPr b="0" i="0" lang="en-US" sz="850" u="none" cap="none" strike="noStrike">
                <a:solidFill>
                  <a:srgbClr val="8A8F9A"/>
                </a:solidFill>
                <a:latin typeface="Inter"/>
                <a:ea typeface="Inter"/>
                <a:cs typeface="Inter"/>
                <a:sym typeface="Inter"/>
              </a:rPr>
              <a:t>Mountain Falls</a:t>
            </a:r>
            <a:endParaRPr b="0" i="0" sz="850" u="none" cap="none" strike="noStrike">
              <a:solidFill>
                <a:schemeClr val="dk1"/>
              </a:solidFill>
              <a:latin typeface="Calibri"/>
              <a:ea typeface="Calibri"/>
              <a:cs typeface="Calibri"/>
              <a:sym typeface="Calibri"/>
            </a:endParaRPr>
          </a:p>
        </p:txBody>
      </p:sp>
      <p:sp>
        <p:nvSpPr>
          <p:cNvPr id="265" name="Google Shape;265;p14"/>
          <p:cNvSpPr/>
          <p:nvPr/>
        </p:nvSpPr>
        <p:spPr>
          <a:xfrm>
            <a:off x="7223760" y="3758184"/>
            <a:ext cx="1554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850"/>
              <a:buFont typeface="Inter"/>
              <a:buNone/>
            </a:pPr>
            <a:r>
              <a:rPr b="0" i="0" lang="en-US" sz="850" u="none" cap="none" strike="noStrike">
                <a:solidFill>
                  <a:srgbClr val="8A8F9A"/>
                </a:solidFill>
                <a:latin typeface="Inter"/>
                <a:ea typeface="Inter"/>
                <a:cs typeface="Inter"/>
                <a:sym typeface="Inter"/>
              </a:rPr>
              <a:t>Bioteen</a:t>
            </a:r>
            <a:endParaRPr b="0" i="0" sz="850" u="none" cap="none" strike="noStrike">
              <a:solidFill>
                <a:schemeClr val="dk1"/>
              </a:solidFill>
              <a:latin typeface="Calibri"/>
              <a:ea typeface="Calibri"/>
              <a:cs typeface="Calibri"/>
              <a:sym typeface="Calibri"/>
            </a:endParaRPr>
          </a:p>
        </p:txBody>
      </p:sp>
      <p:sp>
        <p:nvSpPr>
          <p:cNvPr id="266" name="Google Shape;266;p14"/>
          <p:cNvSpPr/>
          <p:nvPr/>
        </p:nvSpPr>
        <p:spPr>
          <a:xfrm>
            <a:off x="5577840" y="4325112"/>
            <a:ext cx="1554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850"/>
              <a:buFont typeface="Inter"/>
              <a:buNone/>
            </a:pPr>
            <a:r>
              <a:rPr b="0" i="0" lang="en-US" sz="850" u="none" cap="none" strike="noStrike">
                <a:solidFill>
                  <a:srgbClr val="8A8F9A"/>
                </a:solidFill>
                <a:latin typeface="Inter"/>
                <a:ea typeface="Inter"/>
                <a:cs typeface="Inter"/>
                <a:sym typeface="Inter"/>
              </a:rPr>
              <a:t>Sofa Company</a:t>
            </a:r>
            <a:endParaRPr b="0" i="0" sz="850" u="none" cap="none" strike="noStrike">
              <a:solidFill>
                <a:schemeClr val="dk1"/>
              </a:solidFill>
              <a:latin typeface="Calibri"/>
              <a:ea typeface="Calibri"/>
              <a:cs typeface="Calibri"/>
              <a:sym typeface="Calibri"/>
            </a:endParaRPr>
          </a:p>
        </p:txBody>
      </p:sp>
      <p:sp>
        <p:nvSpPr>
          <p:cNvPr id="267" name="Google Shape;267;p14"/>
          <p:cNvSpPr/>
          <p:nvPr/>
        </p:nvSpPr>
        <p:spPr>
          <a:xfrm>
            <a:off x="7223760" y="4325112"/>
            <a:ext cx="1554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850"/>
              <a:buFont typeface="Inter"/>
              <a:buNone/>
            </a:pPr>
            <a:r>
              <a:rPr b="0" i="0" lang="en-US" sz="850" u="none" cap="none" strike="noStrike">
                <a:solidFill>
                  <a:srgbClr val="8A8F9A"/>
                </a:solidFill>
                <a:latin typeface="Inter"/>
                <a:ea typeface="Inter"/>
                <a:cs typeface="Inter"/>
                <a:sym typeface="Inter"/>
              </a:rPr>
              <a:t>Lash Box</a:t>
            </a:r>
            <a:endParaRPr b="0" i="0" sz="850" u="none" cap="none" strike="noStrike">
              <a:solidFill>
                <a:schemeClr val="dk1"/>
              </a:solidFill>
              <a:latin typeface="Calibri"/>
              <a:ea typeface="Calibri"/>
              <a:cs typeface="Calibri"/>
              <a:sym typeface="Calibri"/>
            </a:endParaRPr>
          </a:p>
        </p:txBody>
      </p:sp>
      <p:sp>
        <p:nvSpPr>
          <p:cNvPr id="268" name="Google Shape;268;p14"/>
          <p:cNvSpPr/>
          <p:nvPr/>
        </p:nvSpPr>
        <p:spPr>
          <a:xfrm>
            <a:off x="8412480" y="4828032"/>
            <a:ext cx="45720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F9A"/>
              </a:buClr>
              <a:buSzPts val="800"/>
              <a:buFont typeface="Inter"/>
              <a:buNone/>
            </a:pPr>
            <a:r>
              <a:rPr b="0" i="0" lang="en-US" sz="800" u="none" cap="none" strike="noStrike">
                <a:solidFill>
                  <a:srgbClr val="8A8F9A"/>
                </a:solidFill>
                <a:latin typeface="Inter"/>
                <a:ea typeface="Inter"/>
                <a:cs typeface="Inter"/>
                <a:sym typeface="Inter"/>
              </a:rPr>
              <a:t>14</a:t>
            </a:r>
            <a:endParaRPr b="0" i="0" sz="800" u="none" cap="none" strike="noStrike">
              <a:solidFill>
                <a:schemeClr val="dk1"/>
              </a:solidFill>
              <a:latin typeface="Calibri"/>
              <a:ea typeface="Calibri"/>
              <a:cs typeface="Calibri"/>
              <a:sym typeface="Calibri"/>
            </a:endParaRPr>
          </a:p>
        </p:txBody>
      </p:sp>
      <p:pic>
        <p:nvPicPr>
          <p:cNvPr id="269" name="Google Shape;269;p14"/>
          <p:cNvPicPr preferRelativeResize="0"/>
          <p:nvPr/>
        </p:nvPicPr>
        <p:blipFill rotWithShape="1">
          <a:blip r:embed="rId3">
            <a:alphaModFix/>
          </a:blip>
          <a:srcRect b="0" l="0" r="69966" t="0"/>
          <a:stretch/>
        </p:blipFill>
        <p:spPr>
          <a:xfrm>
            <a:off x="8091325" y="292600"/>
            <a:ext cx="641212" cy="53908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5"/>
        </a:solidFill>
      </p:bgPr>
    </p:bg>
    <p:spTree>
      <p:nvGrpSpPr>
        <p:cNvPr id="274" name="Shape 274"/>
        <p:cNvGrpSpPr/>
        <p:nvPr/>
      </p:nvGrpSpPr>
      <p:grpSpPr>
        <a:xfrm>
          <a:off x="0" y="0"/>
          <a:ext cx="0" cy="0"/>
          <a:chOff x="0" y="0"/>
          <a:chExt cx="0" cy="0"/>
        </a:xfrm>
      </p:grpSpPr>
      <p:sp>
        <p:nvSpPr>
          <p:cNvPr id="275" name="Google Shape;275;p15"/>
          <p:cNvSpPr/>
          <p:nvPr/>
        </p:nvSpPr>
        <p:spPr>
          <a:xfrm>
            <a:off x="548640" y="292608"/>
            <a:ext cx="73152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7D046"/>
              </a:buClr>
              <a:buSzPts val="900"/>
              <a:buFont typeface="Inter"/>
              <a:buNone/>
            </a:pPr>
            <a:r>
              <a:rPr b="1" i="0" lang="en-US" sz="900" u="none" cap="none" strike="noStrike">
                <a:solidFill>
                  <a:srgbClr val="F7D046"/>
                </a:solidFill>
                <a:latin typeface="Inter"/>
                <a:ea typeface="Inter"/>
                <a:cs typeface="Inter"/>
                <a:sym typeface="Inter"/>
              </a:rPr>
              <a:t>ACCEPTANCE</a:t>
            </a:r>
            <a:endParaRPr b="0" i="0" sz="900" u="none" cap="none" strike="noStrike">
              <a:solidFill>
                <a:schemeClr val="dk1"/>
              </a:solidFill>
              <a:latin typeface="Calibri"/>
              <a:ea typeface="Calibri"/>
              <a:cs typeface="Calibri"/>
              <a:sym typeface="Calibri"/>
            </a:endParaRPr>
          </a:p>
        </p:txBody>
      </p:sp>
      <p:sp>
        <p:nvSpPr>
          <p:cNvPr id="276" name="Google Shape;276;p15"/>
          <p:cNvSpPr/>
          <p:nvPr/>
        </p:nvSpPr>
        <p:spPr>
          <a:xfrm>
            <a:off x="548640" y="658368"/>
            <a:ext cx="822960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EF0"/>
              </a:buClr>
              <a:buSzPts val="4000"/>
              <a:buFont typeface="Inter"/>
              <a:buNone/>
            </a:pPr>
            <a:r>
              <a:rPr b="1" i="0" lang="en-US" sz="4000" u="none" cap="none" strike="noStrike">
                <a:solidFill>
                  <a:srgbClr val="EDEEF0"/>
                </a:solidFill>
                <a:latin typeface="Inter"/>
                <a:ea typeface="Inter"/>
                <a:cs typeface="Inter"/>
                <a:sym typeface="Inter"/>
              </a:rPr>
              <a:t>Ready when you are.</a:t>
            </a:r>
            <a:endParaRPr b="0" i="0" sz="4000" u="none" cap="none" strike="noStrike">
              <a:solidFill>
                <a:schemeClr val="dk1"/>
              </a:solidFill>
              <a:latin typeface="Calibri"/>
              <a:ea typeface="Calibri"/>
              <a:cs typeface="Calibri"/>
              <a:sym typeface="Calibri"/>
            </a:endParaRPr>
          </a:p>
        </p:txBody>
      </p:sp>
      <p:sp>
        <p:nvSpPr>
          <p:cNvPr id="277" name="Google Shape;277;p15"/>
          <p:cNvSpPr/>
          <p:nvPr/>
        </p:nvSpPr>
        <p:spPr>
          <a:xfrm>
            <a:off x="548640" y="1645920"/>
            <a:ext cx="777240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F9A"/>
              </a:buClr>
              <a:buSzPts val="1050"/>
              <a:buFont typeface="Inter"/>
              <a:buNone/>
            </a:pPr>
            <a:r>
              <a:rPr b="0" i="0" lang="en-US" sz="1050" u="none" cap="none" strike="noStrike">
                <a:solidFill>
                  <a:srgbClr val="8A8F9A"/>
                </a:solidFill>
                <a:latin typeface="Inter"/>
                <a:ea typeface="Inter"/>
                <a:cs typeface="Inter"/>
                <a:sym typeface="Inter"/>
              </a:rPr>
              <a:t>Signing below confirms your acceptance of the proposal terms and authorises Honey Whale to begin project planning.</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A8F9A"/>
              </a:buClr>
              <a:buSzPts val="1050"/>
              <a:buFont typeface="Inter"/>
              <a:buNone/>
            </a:pPr>
            <a:r>
              <a:rPr b="0" i="0" lang="en-US" sz="1050" u="none" cap="none" strike="noStrike">
                <a:solidFill>
                  <a:srgbClr val="8A8F9A"/>
                </a:solidFill>
                <a:latin typeface="Inter"/>
                <a:ea typeface="Inter"/>
                <a:cs typeface="Inter"/>
                <a:sym typeface="Inter"/>
              </a:rPr>
              <a:t>Pricing is valid for 30 days from the date of this proposal.</a:t>
            </a:r>
            <a:endParaRPr b="0" i="0" sz="1050" u="none" cap="none" strike="noStrike">
              <a:solidFill>
                <a:schemeClr val="dk1"/>
              </a:solidFill>
              <a:latin typeface="Calibri"/>
              <a:ea typeface="Calibri"/>
              <a:cs typeface="Calibri"/>
              <a:sym typeface="Calibri"/>
            </a:endParaRPr>
          </a:p>
        </p:txBody>
      </p:sp>
      <p:sp>
        <p:nvSpPr>
          <p:cNvPr id="278" name="Google Shape;278;p15"/>
          <p:cNvSpPr/>
          <p:nvPr/>
        </p:nvSpPr>
        <p:spPr>
          <a:xfrm>
            <a:off x="548640" y="2423160"/>
            <a:ext cx="27432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750"/>
              <a:buFont typeface="Inter"/>
              <a:buNone/>
            </a:pPr>
            <a:r>
              <a:rPr b="1" i="0" lang="en-US" sz="750" u="none" cap="none" strike="noStrike">
                <a:solidFill>
                  <a:srgbClr val="F7D046"/>
                </a:solidFill>
                <a:latin typeface="Inter"/>
                <a:ea typeface="Inter"/>
                <a:cs typeface="Inter"/>
                <a:sym typeface="Inter"/>
              </a:rPr>
              <a:t>CLIENT SIGNATURE</a:t>
            </a:r>
            <a:endParaRPr b="0" i="0" sz="750" u="none" cap="none" strike="noStrike">
              <a:solidFill>
                <a:schemeClr val="dk1"/>
              </a:solidFill>
              <a:latin typeface="Calibri"/>
              <a:ea typeface="Calibri"/>
              <a:cs typeface="Calibri"/>
              <a:sym typeface="Calibri"/>
            </a:endParaRPr>
          </a:p>
        </p:txBody>
      </p:sp>
      <p:sp>
        <p:nvSpPr>
          <p:cNvPr id="279" name="Google Shape;279;p15"/>
          <p:cNvSpPr/>
          <p:nvPr/>
        </p:nvSpPr>
        <p:spPr>
          <a:xfrm>
            <a:off x="548640" y="2660904"/>
            <a:ext cx="3474720" cy="36576"/>
          </a:xfrm>
          <a:prstGeom prst="rect">
            <a:avLst/>
          </a:prstGeom>
          <a:solidFill>
            <a:srgbClr val="2A2F3A"/>
          </a:solidFill>
          <a:ln cap="flat" cmpd="sng" w="12700">
            <a:solidFill>
              <a:srgbClr val="2A2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5"/>
          <p:cNvSpPr/>
          <p:nvPr/>
        </p:nvSpPr>
        <p:spPr>
          <a:xfrm>
            <a:off x="548640" y="3246120"/>
            <a:ext cx="27432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750"/>
              <a:buFont typeface="Inter"/>
              <a:buNone/>
            </a:pPr>
            <a:r>
              <a:rPr b="1" i="0" lang="en-US" sz="750" u="none" cap="none" strike="noStrike">
                <a:solidFill>
                  <a:srgbClr val="F7D046"/>
                </a:solidFill>
                <a:latin typeface="Inter"/>
                <a:ea typeface="Inter"/>
                <a:cs typeface="Inter"/>
                <a:sym typeface="Inter"/>
              </a:rPr>
              <a:t>NAME &amp; TITLE</a:t>
            </a:r>
            <a:endParaRPr b="0" i="0" sz="750" u="none" cap="none" strike="noStrike">
              <a:solidFill>
                <a:schemeClr val="dk1"/>
              </a:solidFill>
              <a:latin typeface="Calibri"/>
              <a:ea typeface="Calibri"/>
              <a:cs typeface="Calibri"/>
              <a:sym typeface="Calibri"/>
            </a:endParaRPr>
          </a:p>
        </p:txBody>
      </p:sp>
      <p:sp>
        <p:nvSpPr>
          <p:cNvPr id="281" name="Google Shape;281;p15"/>
          <p:cNvSpPr/>
          <p:nvPr/>
        </p:nvSpPr>
        <p:spPr>
          <a:xfrm>
            <a:off x="548640" y="3483864"/>
            <a:ext cx="3474720" cy="36576"/>
          </a:xfrm>
          <a:prstGeom prst="rect">
            <a:avLst/>
          </a:prstGeom>
          <a:solidFill>
            <a:srgbClr val="2A2F3A"/>
          </a:solidFill>
          <a:ln cap="flat" cmpd="sng" w="12700">
            <a:solidFill>
              <a:srgbClr val="2A2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5"/>
          <p:cNvSpPr/>
          <p:nvPr/>
        </p:nvSpPr>
        <p:spPr>
          <a:xfrm>
            <a:off x="548640" y="3840480"/>
            <a:ext cx="27432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D046"/>
              </a:buClr>
              <a:buSzPts val="750"/>
              <a:buFont typeface="Inter"/>
              <a:buNone/>
            </a:pPr>
            <a:r>
              <a:rPr b="1" i="0" lang="en-US" sz="750" u="none" cap="none" strike="noStrike">
                <a:solidFill>
                  <a:srgbClr val="F7D046"/>
                </a:solidFill>
                <a:latin typeface="Inter"/>
                <a:ea typeface="Inter"/>
                <a:cs typeface="Inter"/>
                <a:sym typeface="Inter"/>
              </a:rPr>
              <a:t>DATE</a:t>
            </a:r>
            <a:endParaRPr b="0" i="0" sz="750" u="none" cap="none" strike="noStrike">
              <a:solidFill>
                <a:schemeClr val="dk1"/>
              </a:solidFill>
              <a:latin typeface="Calibri"/>
              <a:ea typeface="Calibri"/>
              <a:cs typeface="Calibri"/>
              <a:sym typeface="Calibri"/>
            </a:endParaRPr>
          </a:p>
        </p:txBody>
      </p:sp>
      <p:sp>
        <p:nvSpPr>
          <p:cNvPr id="283" name="Google Shape;283;p15"/>
          <p:cNvSpPr/>
          <p:nvPr/>
        </p:nvSpPr>
        <p:spPr>
          <a:xfrm>
            <a:off x="548640" y="4078224"/>
            <a:ext cx="3474720" cy="36576"/>
          </a:xfrm>
          <a:prstGeom prst="rect">
            <a:avLst/>
          </a:prstGeom>
          <a:solidFill>
            <a:srgbClr val="2A2F3A"/>
          </a:solidFill>
          <a:ln cap="flat" cmpd="sng" w="12700">
            <a:solidFill>
              <a:srgbClr val="2A2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5"/>
          <p:cNvSpPr/>
          <p:nvPr/>
        </p:nvSpPr>
        <p:spPr>
          <a:xfrm>
            <a:off x="5029200" y="2423160"/>
            <a:ext cx="3749040" cy="2103120"/>
          </a:xfrm>
          <a:prstGeom prst="rect">
            <a:avLst/>
          </a:prstGeom>
          <a:solidFill>
            <a:srgbClr val="1A1D23"/>
          </a:solidFill>
          <a:ln cap="flat" cmpd="sng" w="12700">
            <a:solidFill>
              <a:srgbClr val="1A1D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5"/>
          <p:cNvSpPr/>
          <p:nvPr/>
        </p:nvSpPr>
        <p:spPr>
          <a:xfrm>
            <a:off x="5257800" y="2606040"/>
            <a:ext cx="32918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400"/>
              <a:buFont typeface="Inter"/>
              <a:buNone/>
            </a:pPr>
            <a:r>
              <a:rPr b="1" i="0" lang="en-US" sz="1400" u="none" cap="none" strike="noStrike">
                <a:solidFill>
                  <a:srgbClr val="EDEEF0"/>
                </a:solidFill>
                <a:latin typeface="Inter"/>
                <a:ea typeface="Inter"/>
                <a:cs typeface="Inter"/>
                <a:sym typeface="Inter"/>
              </a:rPr>
              <a:t>Honey Whale (Pty) Ltd</a:t>
            </a:r>
            <a:endParaRPr b="0" i="0" sz="1400" u="none" cap="none" strike="noStrike">
              <a:solidFill>
                <a:schemeClr val="dk1"/>
              </a:solidFill>
              <a:latin typeface="Calibri"/>
              <a:ea typeface="Calibri"/>
              <a:cs typeface="Calibri"/>
              <a:sym typeface="Calibri"/>
            </a:endParaRPr>
          </a:p>
        </p:txBody>
      </p:sp>
      <p:sp>
        <p:nvSpPr>
          <p:cNvPr id="286" name="Google Shape;286;p15"/>
          <p:cNvSpPr/>
          <p:nvPr/>
        </p:nvSpPr>
        <p:spPr>
          <a:xfrm>
            <a:off x="5257800" y="3063240"/>
            <a:ext cx="329184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EF0"/>
              </a:buClr>
              <a:buSzPts val="1050"/>
              <a:buFont typeface="Inter"/>
              <a:buNone/>
            </a:pPr>
            <a:r>
              <a:rPr b="0" i="0" lang="en-US" sz="1050" u="none" cap="none" strike="noStrike">
                <a:solidFill>
                  <a:srgbClr val="EDEEF0"/>
                </a:solidFill>
                <a:latin typeface="Inter"/>
                <a:ea typeface="Inter"/>
                <a:cs typeface="Inter"/>
                <a:sym typeface="Inter"/>
              </a:rPr>
              <a:t>info@honeywhale.co.za</a:t>
            </a:r>
            <a:br>
              <a:rPr b="0" i="0" lang="en-US" sz="1050" u="none" cap="none" strike="noStrike">
                <a:solidFill>
                  <a:srgbClr val="EDEEF0"/>
                </a:solidFill>
                <a:latin typeface="Inter"/>
                <a:ea typeface="Inter"/>
                <a:cs typeface="Inter"/>
                <a:sym typeface="Inter"/>
              </a:rPr>
            </a:br>
            <a:r>
              <a:rPr b="0" i="0" lang="en-US" sz="1050" u="none" cap="none" strike="noStrike">
                <a:solidFill>
                  <a:srgbClr val="EDEEF0"/>
                </a:solidFill>
                <a:latin typeface="Inter"/>
                <a:ea typeface="Inter"/>
                <a:cs typeface="Inter"/>
                <a:sym typeface="Inter"/>
              </a:rPr>
              <a:t>honeywhale.co.za</a:t>
            </a:r>
            <a:br>
              <a:rPr b="0" i="0" lang="en-US" sz="1050" u="none" cap="none" strike="noStrike">
                <a:solidFill>
                  <a:srgbClr val="EDEEF0"/>
                </a:solidFill>
                <a:latin typeface="Inter"/>
                <a:ea typeface="Inter"/>
                <a:cs typeface="Inter"/>
                <a:sym typeface="Inter"/>
              </a:rPr>
            </a:br>
            <a:br>
              <a:rPr b="0" i="0" lang="en-US" sz="1050" u="none" cap="none" strike="noStrike">
                <a:solidFill>
                  <a:srgbClr val="EDEEF0"/>
                </a:solidFill>
                <a:latin typeface="Inter"/>
                <a:ea typeface="Inter"/>
                <a:cs typeface="Inter"/>
                <a:sym typeface="Inter"/>
              </a:rPr>
            </a:br>
            <a:r>
              <a:rPr b="0" i="0" lang="en-US" sz="1050" u="none" cap="none" strike="noStrike">
                <a:solidFill>
                  <a:srgbClr val="8A8F9A"/>
                </a:solidFill>
                <a:latin typeface="Inter"/>
                <a:ea typeface="Inter"/>
                <a:cs typeface="Inter"/>
                <a:sym typeface="Inter"/>
              </a:rPr>
              <a:t>VAT registered  ·  All prices exclude VAT (15%)</a:t>
            </a:r>
            <a:endParaRPr b="0" i="0" sz="1050" u="none" cap="none" strike="noStrike">
              <a:solidFill>
                <a:schemeClr val="dk1"/>
              </a:solidFill>
              <a:latin typeface="Calibri"/>
              <a:ea typeface="Calibri"/>
              <a:cs typeface="Calibri"/>
              <a:sym typeface="Calibri"/>
            </a:endParaRPr>
          </a:p>
        </p:txBody>
      </p:sp>
      <p:sp>
        <p:nvSpPr>
          <p:cNvPr id="287" name="Google Shape;287;p15"/>
          <p:cNvSpPr/>
          <p:nvPr/>
        </p:nvSpPr>
        <p:spPr>
          <a:xfrm>
            <a:off x="8412480" y="4828032"/>
            <a:ext cx="45720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F9A"/>
              </a:buClr>
              <a:buSzPts val="800"/>
              <a:buFont typeface="Inter"/>
              <a:buNone/>
            </a:pPr>
            <a:r>
              <a:rPr b="0" i="0" lang="en-US" sz="800" u="none" cap="none" strike="noStrike">
                <a:solidFill>
                  <a:srgbClr val="8A8F9A"/>
                </a:solidFill>
                <a:latin typeface="Inter"/>
                <a:ea typeface="Inter"/>
                <a:cs typeface="Inter"/>
                <a:sym typeface="Inter"/>
              </a:rPr>
              <a:t>15</a:t>
            </a:r>
            <a:endParaRPr b="0" i="0" sz="800" u="none" cap="none" strike="noStrike">
              <a:solidFill>
                <a:schemeClr val="dk1"/>
              </a:solidFill>
              <a:latin typeface="Calibri"/>
              <a:ea typeface="Calibri"/>
              <a:cs typeface="Calibri"/>
              <a:sym typeface="Calibri"/>
            </a:endParaRPr>
          </a:p>
        </p:txBody>
      </p:sp>
      <p:pic>
        <p:nvPicPr>
          <p:cNvPr id="288" name="Google Shape;288;p15"/>
          <p:cNvPicPr preferRelativeResize="0"/>
          <p:nvPr/>
        </p:nvPicPr>
        <p:blipFill rotWithShape="1">
          <a:blip r:embed="rId3">
            <a:alphaModFix/>
          </a:blip>
          <a:srcRect b="0" l="0" r="69966" t="0"/>
          <a:stretch/>
        </p:blipFill>
        <p:spPr>
          <a:xfrm>
            <a:off x="8091325" y="292600"/>
            <a:ext cx="641212" cy="53908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2026-05-20T11:14:48Z</dcterms:created>
  <dc:creator>Honey Whale</dc:creator>
</cp:coreProperties>
</file>